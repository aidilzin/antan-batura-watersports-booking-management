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entation.xml" ContentType="application/vnd.openxmlformats-officedocument.presentationml.presentation.main+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32"/>
  </p:notesMasterIdLst>
  <p:sldIdLst>
    <p:sldId id="266" r:id="rId2"/>
    <p:sldId id="317" r:id="rId3"/>
    <p:sldId id="329" r:id="rId4"/>
    <p:sldId id="347" r:id="rId5"/>
    <p:sldId id="257" r:id="rId6"/>
    <p:sldId id="313" r:id="rId7"/>
    <p:sldId id="314" r:id="rId8"/>
    <p:sldId id="359" r:id="rId9"/>
    <p:sldId id="374" r:id="rId10"/>
    <p:sldId id="332" r:id="rId11"/>
    <p:sldId id="333" r:id="rId12"/>
    <p:sldId id="279" r:id="rId13"/>
    <p:sldId id="335" r:id="rId14"/>
    <p:sldId id="336" r:id="rId15"/>
    <p:sldId id="337" r:id="rId16"/>
    <p:sldId id="338" r:id="rId17"/>
    <p:sldId id="350" r:id="rId18"/>
    <p:sldId id="339" r:id="rId19"/>
    <p:sldId id="340" r:id="rId20"/>
    <p:sldId id="370" r:id="rId21"/>
    <p:sldId id="373" r:id="rId22"/>
    <p:sldId id="348" r:id="rId23"/>
    <p:sldId id="349" r:id="rId24"/>
    <p:sldId id="352" r:id="rId25"/>
    <p:sldId id="353" r:id="rId26"/>
    <p:sldId id="344" r:id="rId27"/>
    <p:sldId id="346" r:id="rId28"/>
    <p:sldId id="342" r:id="rId29"/>
    <p:sldId id="343" r:id="rId30"/>
    <p:sldId id="32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1"/>
  </p:normalViewPr>
  <p:slideViewPr>
    <p:cSldViewPr>
      <p:cViewPr varScale="1">
        <p:scale>
          <a:sx n="105" d="100"/>
          <a:sy n="105" d="100"/>
        </p:scale>
        <p:origin x="1744"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58CB9-23EF-4A97-B439-E49686545DDD}" type="datetimeFigureOut">
              <a:rPr lang="en-MY" smtClean="0"/>
              <a:t>02/11/2025</a:t>
            </a:fld>
            <a:endParaRPr lang="en-MY"/>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DCB8A-B89C-4052-AD18-0554C52F7BDC}" type="slidenum">
              <a:rPr lang="en-MY" smtClean="0"/>
              <a:t>‹#›</a:t>
            </a:fld>
            <a:endParaRPr lang="en-MY"/>
          </a:p>
        </p:txBody>
      </p:sp>
    </p:spTree>
    <p:extLst>
      <p:ext uri="{BB962C8B-B14F-4D97-AF65-F5344CB8AC3E}">
        <p14:creationId xmlns:p14="http://schemas.microsoft.com/office/powerpoint/2010/main" val="2669609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65049CA1-0437-4833-8103-329551F9CD8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82986F5-9581-46CE-8856-A147A3CC9A97}"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GB"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7171" name="Rectangle 2">
            <a:extLst>
              <a:ext uri="{FF2B5EF4-FFF2-40B4-BE49-F238E27FC236}">
                <a16:creationId xmlns:a16="http://schemas.microsoft.com/office/drawing/2014/main" id="{C0445032-9FEA-4E91-965B-43A198FB2D1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2" name="Rectangle 3">
            <a:extLst>
              <a:ext uri="{FF2B5EF4-FFF2-40B4-BE49-F238E27FC236}">
                <a16:creationId xmlns:a16="http://schemas.microsoft.com/office/drawing/2014/main" id="{CB2DCD09-ADF7-44D6-AD68-A79C5005D66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1932C-17F7-E39C-F81F-E61346A7C7E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MY"/>
          </a:p>
        </p:txBody>
      </p:sp>
      <p:sp>
        <p:nvSpPr>
          <p:cNvPr id="3" name="Subtitle 2">
            <a:extLst>
              <a:ext uri="{FF2B5EF4-FFF2-40B4-BE49-F238E27FC236}">
                <a16:creationId xmlns:a16="http://schemas.microsoft.com/office/drawing/2014/main" id="{CF9F1E41-7396-C315-C2EB-16A0A8F5AD2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4A653820-680A-4689-FB13-B8ECB08FFC24}"/>
              </a:ext>
            </a:extLst>
          </p:cNvPr>
          <p:cNvSpPr>
            <a:spLocks noGrp="1"/>
          </p:cNvSpPr>
          <p:nvPr>
            <p:ph type="dt" sz="half" idx="10"/>
          </p:nvPr>
        </p:nvSpPr>
        <p:spPr/>
        <p:txBody>
          <a:bodyPr/>
          <a:lstStyle/>
          <a:p>
            <a:pPr>
              <a:defRPr/>
            </a:pPr>
            <a:fld id="{D911A407-8896-499F-ADFC-541C2E977F0A}" type="datetimeFigureOut">
              <a:rPr lang="ms-MY" smtClean="0"/>
              <a:pPr>
                <a:defRPr/>
              </a:pPr>
              <a:t>2/11/25</a:t>
            </a:fld>
            <a:endParaRPr lang="ms-MY"/>
          </a:p>
        </p:txBody>
      </p:sp>
      <p:sp>
        <p:nvSpPr>
          <p:cNvPr id="5" name="Footer Placeholder 4">
            <a:extLst>
              <a:ext uri="{FF2B5EF4-FFF2-40B4-BE49-F238E27FC236}">
                <a16:creationId xmlns:a16="http://schemas.microsoft.com/office/drawing/2014/main" id="{7D9F17DD-8C5D-4BDC-A0C2-1CBC4D4A9D8F}"/>
              </a:ext>
            </a:extLst>
          </p:cNvPr>
          <p:cNvSpPr>
            <a:spLocks noGrp="1"/>
          </p:cNvSpPr>
          <p:nvPr>
            <p:ph type="ftr" sz="quarter" idx="11"/>
          </p:nvPr>
        </p:nvSpPr>
        <p:spPr/>
        <p:txBody>
          <a:bodyPr/>
          <a:lstStyle/>
          <a:p>
            <a:pPr>
              <a:defRPr/>
            </a:pPr>
            <a:endParaRPr lang="ms-MY"/>
          </a:p>
        </p:txBody>
      </p:sp>
      <p:sp>
        <p:nvSpPr>
          <p:cNvPr id="6" name="Slide Number Placeholder 5">
            <a:extLst>
              <a:ext uri="{FF2B5EF4-FFF2-40B4-BE49-F238E27FC236}">
                <a16:creationId xmlns:a16="http://schemas.microsoft.com/office/drawing/2014/main" id="{5431CE0E-4372-03F8-D608-8B0B511C64B2}"/>
              </a:ext>
            </a:extLst>
          </p:cNvPr>
          <p:cNvSpPr>
            <a:spLocks noGrp="1"/>
          </p:cNvSpPr>
          <p:nvPr>
            <p:ph type="sldNum" sz="quarter" idx="12"/>
          </p:nvPr>
        </p:nvSpPr>
        <p:spPr/>
        <p:txBody>
          <a:bodyPr/>
          <a:lstStyle/>
          <a:p>
            <a:pPr>
              <a:defRPr/>
            </a:pPr>
            <a:fld id="{2E380F2E-FD39-4E27-AECD-34C59216D7BC}" type="slidenum">
              <a:rPr lang="ms-MY" smtClean="0"/>
              <a:pPr>
                <a:defRPr/>
              </a:pPr>
              <a:t>‹#›</a:t>
            </a:fld>
            <a:endParaRPr lang="ms-MY"/>
          </a:p>
        </p:txBody>
      </p:sp>
    </p:spTree>
    <p:extLst>
      <p:ext uri="{BB962C8B-B14F-4D97-AF65-F5344CB8AC3E}">
        <p14:creationId xmlns:p14="http://schemas.microsoft.com/office/powerpoint/2010/main" val="316895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D8CFB-F2CF-B489-31A6-9018C4BE89E8}"/>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68F6C719-11E5-716A-CD43-FA1E499E43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B7ABFA61-26EE-6E19-A983-AF77084D06F9}"/>
              </a:ext>
            </a:extLst>
          </p:cNvPr>
          <p:cNvSpPr>
            <a:spLocks noGrp="1"/>
          </p:cNvSpPr>
          <p:nvPr>
            <p:ph type="dt" sz="half" idx="10"/>
          </p:nvPr>
        </p:nvSpPr>
        <p:spPr/>
        <p:txBody>
          <a:bodyPr/>
          <a:lstStyle/>
          <a:p>
            <a:pPr>
              <a:defRPr/>
            </a:pPr>
            <a:fld id="{7990DDEE-BBB8-41F8-8089-EA97E1D59027}" type="datetimeFigureOut">
              <a:rPr lang="ms-MY" smtClean="0"/>
              <a:pPr>
                <a:defRPr/>
              </a:pPr>
              <a:t>2/11/25</a:t>
            </a:fld>
            <a:endParaRPr lang="ms-MY"/>
          </a:p>
        </p:txBody>
      </p:sp>
      <p:sp>
        <p:nvSpPr>
          <p:cNvPr id="5" name="Footer Placeholder 4">
            <a:extLst>
              <a:ext uri="{FF2B5EF4-FFF2-40B4-BE49-F238E27FC236}">
                <a16:creationId xmlns:a16="http://schemas.microsoft.com/office/drawing/2014/main" id="{56F4287C-9058-A8C7-17DB-516A9279E6CB}"/>
              </a:ext>
            </a:extLst>
          </p:cNvPr>
          <p:cNvSpPr>
            <a:spLocks noGrp="1"/>
          </p:cNvSpPr>
          <p:nvPr>
            <p:ph type="ftr" sz="quarter" idx="11"/>
          </p:nvPr>
        </p:nvSpPr>
        <p:spPr/>
        <p:txBody>
          <a:bodyPr/>
          <a:lstStyle/>
          <a:p>
            <a:pPr>
              <a:defRPr/>
            </a:pPr>
            <a:endParaRPr lang="ms-MY"/>
          </a:p>
        </p:txBody>
      </p:sp>
      <p:sp>
        <p:nvSpPr>
          <p:cNvPr id="6" name="Slide Number Placeholder 5">
            <a:extLst>
              <a:ext uri="{FF2B5EF4-FFF2-40B4-BE49-F238E27FC236}">
                <a16:creationId xmlns:a16="http://schemas.microsoft.com/office/drawing/2014/main" id="{D1ECF18F-0C12-E1C0-33E0-57883BF06A16}"/>
              </a:ext>
            </a:extLst>
          </p:cNvPr>
          <p:cNvSpPr>
            <a:spLocks noGrp="1"/>
          </p:cNvSpPr>
          <p:nvPr>
            <p:ph type="sldNum" sz="quarter" idx="12"/>
          </p:nvPr>
        </p:nvSpPr>
        <p:spPr/>
        <p:txBody>
          <a:bodyPr/>
          <a:lstStyle/>
          <a:p>
            <a:pPr>
              <a:defRPr/>
            </a:pPr>
            <a:fld id="{6F970CA5-0AC8-4482-97FF-CC2F214E9259}" type="slidenum">
              <a:rPr lang="ms-MY" smtClean="0"/>
              <a:pPr>
                <a:defRPr/>
              </a:pPr>
              <a:t>‹#›</a:t>
            </a:fld>
            <a:endParaRPr lang="ms-MY"/>
          </a:p>
        </p:txBody>
      </p:sp>
    </p:spTree>
    <p:extLst>
      <p:ext uri="{BB962C8B-B14F-4D97-AF65-F5344CB8AC3E}">
        <p14:creationId xmlns:p14="http://schemas.microsoft.com/office/powerpoint/2010/main" val="3463992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7BD8-E207-BA6E-B19C-C4FC647548AB}"/>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BC678909-B0A3-5711-1B2F-FEE588F1DEB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C67320-C6C0-66F1-A1A7-BB659322D765}"/>
              </a:ext>
            </a:extLst>
          </p:cNvPr>
          <p:cNvSpPr>
            <a:spLocks noGrp="1"/>
          </p:cNvSpPr>
          <p:nvPr>
            <p:ph type="dt" sz="half" idx="10"/>
          </p:nvPr>
        </p:nvSpPr>
        <p:spPr/>
        <p:txBody>
          <a:bodyPr/>
          <a:lstStyle/>
          <a:p>
            <a:pPr>
              <a:defRPr/>
            </a:pPr>
            <a:fld id="{F8612B45-B3F3-4ACB-8436-09DCA7A6192A}" type="datetimeFigureOut">
              <a:rPr lang="ms-MY" smtClean="0"/>
              <a:pPr>
                <a:defRPr/>
              </a:pPr>
              <a:t>2/11/25</a:t>
            </a:fld>
            <a:endParaRPr lang="ms-MY"/>
          </a:p>
        </p:txBody>
      </p:sp>
      <p:sp>
        <p:nvSpPr>
          <p:cNvPr id="5" name="Footer Placeholder 4">
            <a:extLst>
              <a:ext uri="{FF2B5EF4-FFF2-40B4-BE49-F238E27FC236}">
                <a16:creationId xmlns:a16="http://schemas.microsoft.com/office/drawing/2014/main" id="{77F85A32-E5AD-D44D-FB97-506362DA7967}"/>
              </a:ext>
            </a:extLst>
          </p:cNvPr>
          <p:cNvSpPr>
            <a:spLocks noGrp="1"/>
          </p:cNvSpPr>
          <p:nvPr>
            <p:ph type="ftr" sz="quarter" idx="11"/>
          </p:nvPr>
        </p:nvSpPr>
        <p:spPr/>
        <p:txBody>
          <a:bodyPr/>
          <a:lstStyle/>
          <a:p>
            <a:pPr>
              <a:defRPr/>
            </a:pPr>
            <a:endParaRPr lang="ms-MY"/>
          </a:p>
        </p:txBody>
      </p:sp>
      <p:sp>
        <p:nvSpPr>
          <p:cNvPr id="6" name="Slide Number Placeholder 5">
            <a:extLst>
              <a:ext uri="{FF2B5EF4-FFF2-40B4-BE49-F238E27FC236}">
                <a16:creationId xmlns:a16="http://schemas.microsoft.com/office/drawing/2014/main" id="{117A136A-4784-7FF0-6D9E-FF45F8224895}"/>
              </a:ext>
            </a:extLst>
          </p:cNvPr>
          <p:cNvSpPr>
            <a:spLocks noGrp="1"/>
          </p:cNvSpPr>
          <p:nvPr>
            <p:ph type="sldNum" sz="quarter" idx="12"/>
          </p:nvPr>
        </p:nvSpPr>
        <p:spPr/>
        <p:txBody>
          <a:bodyPr/>
          <a:lstStyle/>
          <a:p>
            <a:pPr>
              <a:defRPr/>
            </a:pPr>
            <a:fld id="{EA92279D-F7A4-4EFA-A19D-9E7FD839825B}" type="slidenum">
              <a:rPr lang="ms-MY" smtClean="0"/>
              <a:pPr>
                <a:defRPr/>
              </a:pPr>
              <a:t>‹#›</a:t>
            </a:fld>
            <a:endParaRPr lang="ms-MY"/>
          </a:p>
        </p:txBody>
      </p:sp>
    </p:spTree>
    <p:extLst>
      <p:ext uri="{BB962C8B-B14F-4D97-AF65-F5344CB8AC3E}">
        <p14:creationId xmlns:p14="http://schemas.microsoft.com/office/powerpoint/2010/main" val="4134317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92094-C1E6-E1E9-5302-F425A07AACD6}"/>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BDE2008B-D7D2-D498-BA0B-CAB3F8B72D7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E7843969-F364-467C-F8A9-BD868E2B729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A526CD78-189D-868B-3E1B-2C57D4FCA6E4}"/>
              </a:ext>
            </a:extLst>
          </p:cNvPr>
          <p:cNvSpPr>
            <a:spLocks noGrp="1"/>
          </p:cNvSpPr>
          <p:nvPr>
            <p:ph type="dt" sz="half" idx="10"/>
          </p:nvPr>
        </p:nvSpPr>
        <p:spPr/>
        <p:txBody>
          <a:bodyPr/>
          <a:lstStyle/>
          <a:p>
            <a:pPr>
              <a:defRPr/>
            </a:pPr>
            <a:fld id="{03400FD7-D07E-4495-B028-83BCDAA6591F}" type="datetimeFigureOut">
              <a:rPr lang="ms-MY" smtClean="0"/>
              <a:pPr>
                <a:defRPr/>
              </a:pPr>
              <a:t>2/11/25</a:t>
            </a:fld>
            <a:endParaRPr lang="ms-MY"/>
          </a:p>
        </p:txBody>
      </p:sp>
      <p:sp>
        <p:nvSpPr>
          <p:cNvPr id="6" name="Footer Placeholder 5">
            <a:extLst>
              <a:ext uri="{FF2B5EF4-FFF2-40B4-BE49-F238E27FC236}">
                <a16:creationId xmlns:a16="http://schemas.microsoft.com/office/drawing/2014/main" id="{99133D90-0F9F-D6DC-AE13-AB33BE17E640}"/>
              </a:ext>
            </a:extLst>
          </p:cNvPr>
          <p:cNvSpPr>
            <a:spLocks noGrp="1"/>
          </p:cNvSpPr>
          <p:nvPr>
            <p:ph type="ftr" sz="quarter" idx="11"/>
          </p:nvPr>
        </p:nvSpPr>
        <p:spPr/>
        <p:txBody>
          <a:bodyPr/>
          <a:lstStyle/>
          <a:p>
            <a:pPr>
              <a:defRPr/>
            </a:pPr>
            <a:endParaRPr lang="ms-MY"/>
          </a:p>
        </p:txBody>
      </p:sp>
      <p:sp>
        <p:nvSpPr>
          <p:cNvPr id="7" name="Slide Number Placeholder 6">
            <a:extLst>
              <a:ext uri="{FF2B5EF4-FFF2-40B4-BE49-F238E27FC236}">
                <a16:creationId xmlns:a16="http://schemas.microsoft.com/office/drawing/2014/main" id="{9E4766BD-ADB2-6295-15DF-8C10B2CD1E85}"/>
              </a:ext>
            </a:extLst>
          </p:cNvPr>
          <p:cNvSpPr>
            <a:spLocks noGrp="1"/>
          </p:cNvSpPr>
          <p:nvPr>
            <p:ph type="sldNum" sz="quarter" idx="12"/>
          </p:nvPr>
        </p:nvSpPr>
        <p:spPr/>
        <p:txBody>
          <a:bodyPr/>
          <a:lstStyle/>
          <a:p>
            <a:pPr>
              <a:defRPr/>
            </a:pPr>
            <a:fld id="{8331ECEB-8B4F-46A0-8C2A-8B05D828CF92}" type="slidenum">
              <a:rPr lang="ms-MY" smtClean="0"/>
              <a:pPr>
                <a:defRPr/>
              </a:pPr>
              <a:t>‹#›</a:t>
            </a:fld>
            <a:endParaRPr lang="ms-MY"/>
          </a:p>
        </p:txBody>
      </p:sp>
    </p:spTree>
    <p:extLst>
      <p:ext uri="{BB962C8B-B14F-4D97-AF65-F5344CB8AC3E}">
        <p14:creationId xmlns:p14="http://schemas.microsoft.com/office/powerpoint/2010/main" val="4114962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73D4B-F193-9326-0C75-F9ADF37ABDC6}"/>
              </a:ext>
            </a:extLst>
          </p:cNvPr>
          <p:cNvSpPr>
            <a:spLocks noGrp="1"/>
          </p:cNvSpPr>
          <p:nvPr>
            <p:ph type="title"/>
          </p:nvPr>
        </p:nvSpPr>
        <p:spPr>
          <a:xfrm>
            <a:off x="629841" y="365126"/>
            <a:ext cx="78867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90E242C1-7D30-D68C-CD81-3F446F97A7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F7C28DC-D7A1-980B-4F25-86D83E323EBE}"/>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020E9048-49A7-D4EF-9288-24083AA90F8F}"/>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493C863-A5BB-5045-E132-B5FDE9D148ED}"/>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73B4EDFB-D3DB-D5E5-65C6-29E8E57BA3B2}"/>
              </a:ext>
            </a:extLst>
          </p:cNvPr>
          <p:cNvSpPr>
            <a:spLocks noGrp="1"/>
          </p:cNvSpPr>
          <p:nvPr>
            <p:ph type="dt" sz="half" idx="10"/>
          </p:nvPr>
        </p:nvSpPr>
        <p:spPr/>
        <p:txBody>
          <a:bodyPr/>
          <a:lstStyle/>
          <a:p>
            <a:pPr>
              <a:defRPr/>
            </a:pPr>
            <a:fld id="{24BB74E3-F9AC-474F-A2B0-C5721CA9AE68}" type="datetimeFigureOut">
              <a:rPr lang="ms-MY" smtClean="0"/>
              <a:pPr>
                <a:defRPr/>
              </a:pPr>
              <a:t>2/11/25</a:t>
            </a:fld>
            <a:endParaRPr lang="ms-MY"/>
          </a:p>
        </p:txBody>
      </p:sp>
      <p:sp>
        <p:nvSpPr>
          <p:cNvPr id="8" name="Footer Placeholder 7">
            <a:extLst>
              <a:ext uri="{FF2B5EF4-FFF2-40B4-BE49-F238E27FC236}">
                <a16:creationId xmlns:a16="http://schemas.microsoft.com/office/drawing/2014/main" id="{12ACC7F9-700C-7ECE-CB0A-191B3D8C4B22}"/>
              </a:ext>
            </a:extLst>
          </p:cNvPr>
          <p:cNvSpPr>
            <a:spLocks noGrp="1"/>
          </p:cNvSpPr>
          <p:nvPr>
            <p:ph type="ftr" sz="quarter" idx="11"/>
          </p:nvPr>
        </p:nvSpPr>
        <p:spPr/>
        <p:txBody>
          <a:bodyPr/>
          <a:lstStyle/>
          <a:p>
            <a:pPr>
              <a:defRPr/>
            </a:pPr>
            <a:endParaRPr lang="ms-MY"/>
          </a:p>
        </p:txBody>
      </p:sp>
      <p:sp>
        <p:nvSpPr>
          <p:cNvPr id="9" name="Slide Number Placeholder 8">
            <a:extLst>
              <a:ext uri="{FF2B5EF4-FFF2-40B4-BE49-F238E27FC236}">
                <a16:creationId xmlns:a16="http://schemas.microsoft.com/office/drawing/2014/main" id="{23524977-B901-09D6-D072-F41E1A805191}"/>
              </a:ext>
            </a:extLst>
          </p:cNvPr>
          <p:cNvSpPr>
            <a:spLocks noGrp="1"/>
          </p:cNvSpPr>
          <p:nvPr>
            <p:ph type="sldNum" sz="quarter" idx="12"/>
          </p:nvPr>
        </p:nvSpPr>
        <p:spPr/>
        <p:txBody>
          <a:bodyPr/>
          <a:lstStyle/>
          <a:p>
            <a:pPr>
              <a:defRPr/>
            </a:pPr>
            <a:fld id="{3D685480-F183-45F9-A9AC-9D63DBEC9CB2}" type="slidenum">
              <a:rPr lang="ms-MY" smtClean="0"/>
              <a:pPr>
                <a:defRPr/>
              </a:pPr>
              <a:t>‹#›</a:t>
            </a:fld>
            <a:endParaRPr lang="ms-MY"/>
          </a:p>
        </p:txBody>
      </p:sp>
    </p:spTree>
    <p:extLst>
      <p:ext uri="{BB962C8B-B14F-4D97-AF65-F5344CB8AC3E}">
        <p14:creationId xmlns:p14="http://schemas.microsoft.com/office/powerpoint/2010/main" val="18469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5B8E-4CD9-0FEC-4C3B-11EABE35099A}"/>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7E6CCAAE-315D-7521-6457-E4A4532A5767}"/>
              </a:ext>
            </a:extLst>
          </p:cNvPr>
          <p:cNvSpPr>
            <a:spLocks noGrp="1"/>
          </p:cNvSpPr>
          <p:nvPr>
            <p:ph type="dt" sz="half" idx="10"/>
          </p:nvPr>
        </p:nvSpPr>
        <p:spPr/>
        <p:txBody>
          <a:bodyPr/>
          <a:lstStyle/>
          <a:p>
            <a:pPr>
              <a:defRPr/>
            </a:pPr>
            <a:fld id="{7C9D59EF-22AE-4D8C-9855-3ADDD9EFC9B0}" type="datetimeFigureOut">
              <a:rPr lang="ms-MY" smtClean="0"/>
              <a:pPr>
                <a:defRPr/>
              </a:pPr>
              <a:t>2/11/25</a:t>
            </a:fld>
            <a:endParaRPr lang="ms-MY"/>
          </a:p>
        </p:txBody>
      </p:sp>
      <p:sp>
        <p:nvSpPr>
          <p:cNvPr id="4" name="Footer Placeholder 3">
            <a:extLst>
              <a:ext uri="{FF2B5EF4-FFF2-40B4-BE49-F238E27FC236}">
                <a16:creationId xmlns:a16="http://schemas.microsoft.com/office/drawing/2014/main" id="{8E17BCC2-CDB7-4CF0-6DC3-02295FF866A6}"/>
              </a:ext>
            </a:extLst>
          </p:cNvPr>
          <p:cNvSpPr>
            <a:spLocks noGrp="1"/>
          </p:cNvSpPr>
          <p:nvPr>
            <p:ph type="ftr" sz="quarter" idx="11"/>
          </p:nvPr>
        </p:nvSpPr>
        <p:spPr/>
        <p:txBody>
          <a:bodyPr/>
          <a:lstStyle/>
          <a:p>
            <a:pPr>
              <a:defRPr/>
            </a:pPr>
            <a:endParaRPr lang="ms-MY"/>
          </a:p>
        </p:txBody>
      </p:sp>
      <p:sp>
        <p:nvSpPr>
          <p:cNvPr id="5" name="Slide Number Placeholder 4">
            <a:extLst>
              <a:ext uri="{FF2B5EF4-FFF2-40B4-BE49-F238E27FC236}">
                <a16:creationId xmlns:a16="http://schemas.microsoft.com/office/drawing/2014/main" id="{E38F3DFB-488D-3013-3F61-FC6BFC4BCDEE}"/>
              </a:ext>
            </a:extLst>
          </p:cNvPr>
          <p:cNvSpPr>
            <a:spLocks noGrp="1"/>
          </p:cNvSpPr>
          <p:nvPr>
            <p:ph type="sldNum" sz="quarter" idx="12"/>
          </p:nvPr>
        </p:nvSpPr>
        <p:spPr/>
        <p:txBody>
          <a:bodyPr/>
          <a:lstStyle/>
          <a:p>
            <a:pPr>
              <a:defRPr/>
            </a:pPr>
            <a:fld id="{C0DB751B-E3D9-4B1C-AB27-2279DD9EA52D}" type="slidenum">
              <a:rPr lang="ms-MY" smtClean="0"/>
              <a:pPr>
                <a:defRPr/>
              </a:pPr>
              <a:t>‹#›</a:t>
            </a:fld>
            <a:endParaRPr lang="ms-MY"/>
          </a:p>
        </p:txBody>
      </p:sp>
    </p:spTree>
    <p:extLst>
      <p:ext uri="{BB962C8B-B14F-4D97-AF65-F5344CB8AC3E}">
        <p14:creationId xmlns:p14="http://schemas.microsoft.com/office/powerpoint/2010/main" val="402346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1E9854-9732-7905-4409-9D3BA9192033}"/>
              </a:ext>
            </a:extLst>
          </p:cNvPr>
          <p:cNvSpPr>
            <a:spLocks noGrp="1"/>
          </p:cNvSpPr>
          <p:nvPr>
            <p:ph type="dt" sz="half" idx="10"/>
          </p:nvPr>
        </p:nvSpPr>
        <p:spPr/>
        <p:txBody>
          <a:bodyPr/>
          <a:lstStyle/>
          <a:p>
            <a:pPr>
              <a:defRPr/>
            </a:pPr>
            <a:fld id="{0F692F74-8D71-49E8-9F35-1914AC3697AB}" type="datetimeFigureOut">
              <a:rPr lang="ms-MY" smtClean="0"/>
              <a:pPr>
                <a:defRPr/>
              </a:pPr>
              <a:t>2/11/25</a:t>
            </a:fld>
            <a:endParaRPr lang="ms-MY"/>
          </a:p>
        </p:txBody>
      </p:sp>
      <p:sp>
        <p:nvSpPr>
          <p:cNvPr id="3" name="Footer Placeholder 2">
            <a:extLst>
              <a:ext uri="{FF2B5EF4-FFF2-40B4-BE49-F238E27FC236}">
                <a16:creationId xmlns:a16="http://schemas.microsoft.com/office/drawing/2014/main" id="{410BE499-A74F-F75E-F309-30BD13E70D69}"/>
              </a:ext>
            </a:extLst>
          </p:cNvPr>
          <p:cNvSpPr>
            <a:spLocks noGrp="1"/>
          </p:cNvSpPr>
          <p:nvPr>
            <p:ph type="ftr" sz="quarter" idx="11"/>
          </p:nvPr>
        </p:nvSpPr>
        <p:spPr/>
        <p:txBody>
          <a:bodyPr/>
          <a:lstStyle/>
          <a:p>
            <a:pPr>
              <a:defRPr/>
            </a:pPr>
            <a:endParaRPr lang="ms-MY"/>
          </a:p>
        </p:txBody>
      </p:sp>
      <p:sp>
        <p:nvSpPr>
          <p:cNvPr id="4" name="Slide Number Placeholder 3">
            <a:extLst>
              <a:ext uri="{FF2B5EF4-FFF2-40B4-BE49-F238E27FC236}">
                <a16:creationId xmlns:a16="http://schemas.microsoft.com/office/drawing/2014/main" id="{F3844170-005C-1435-2E70-10C6FC3989F3}"/>
              </a:ext>
            </a:extLst>
          </p:cNvPr>
          <p:cNvSpPr>
            <a:spLocks noGrp="1"/>
          </p:cNvSpPr>
          <p:nvPr>
            <p:ph type="sldNum" sz="quarter" idx="12"/>
          </p:nvPr>
        </p:nvSpPr>
        <p:spPr/>
        <p:txBody>
          <a:bodyPr/>
          <a:lstStyle/>
          <a:p>
            <a:pPr>
              <a:defRPr/>
            </a:pPr>
            <a:fld id="{FD546126-7D62-42F0-9B3F-C82A58E3B178}" type="slidenum">
              <a:rPr lang="ms-MY" smtClean="0"/>
              <a:pPr>
                <a:defRPr/>
              </a:pPr>
              <a:t>‹#›</a:t>
            </a:fld>
            <a:endParaRPr lang="ms-MY"/>
          </a:p>
        </p:txBody>
      </p:sp>
    </p:spTree>
    <p:extLst>
      <p:ext uri="{BB962C8B-B14F-4D97-AF65-F5344CB8AC3E}">
        <p14:creationId xmlns:p14="http://schemas.microsoft.com/office/powerpoint/2010/main" val="356614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94299-793E-5DBC-97CF-F4FAEED03FC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3CFC55C9-1DC2-0542-9F80-9816FC740BE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E4AD7D49-D387-30E6-58FE-B610208F83F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21808DB-E143-9D5C-7D96-11D4A6961CF3}"/>
              </a:ext>
            </a:extLst>
          </p:cNvPr>
          <p:cNvSpPr>
            <a:spLocks noGrp="1"/>
          </p:cNvSpPr>
          <p:nvPr>
            <p:ph type="dt" sz="half" idx="10"/>
          </p:nvPr>
        </p:nvSpPr>
        <p:spPr/>
        <p:txBody>
          <a:bodyPr/>
          <a:lstStyle/>
          <a:p>
            <a:pPr>
              <a:defRPr/>
            </a:pPr>
            <a:fld id="{00033B78-8A0B-4713-99F9-902B5C5F4B35}" type="datetimeFigureOut">
              <a:rPr lang="ms-MY" smtClean="0"/>
              <a:pPr>
                <a:defRPr/>
              </a:pPr>
              <a:t>2/11/25</a:t>
            </a:fld>
            <a:endParaRPr lang="ms-MY"/>
          </a:p>
        </p:txBody>
      </p:sp>
      <p:sp>
        <p:nvSpPr>
          <p:cNvPr id="6" name="Footer Placeholder 5">
            <a:extLst>
              <a:ext uri="{FF2B5EF4-FFF2-40B4-BE49-F238E27FC236}">
                <a16:creationId xmlns:a16="http://schemas.microsoft.com/office/drawing/2014/main" id="{6C438A27-344B-104E-5CA3-9CE128FCA980}"/>
              </a:ext>
            </a:extLst>
          </p:cNvPr>
          <p:cNvSpPr>
            <a:spLocks noGrp="1"/>
          </p:cNvSpPr>
          <p:nvPr>
            <p:ph type="ftr" sz="quarter" idx="11"/>
          </p:nvPr>
        </p:nvSpPr>
        <p:spPr/>
        <p:txBody>
          <a:bodyPr/>
          <a:lstStyle/>
          <a:p>
            <a:pPr>
              <a:defRPr/>
            </a:pPr>
            <a:endParaRPr lang="ms-MY"/>
          </a:p>
        </p:txBody>
      </p:sp>
      <p:sp>
        <p:nvSpPr>
          <p:cNvPr id="7" name="Slide Number Placeholder 6">
            <a:extLst>
              <a:ext uri="{FF2B5EF4-FFF2-40B4-BE49-F238E27FC236}">
                <a16:creationId xmlns:a16="http://schemas.microsoft.com/office/drawing/2014/main" id="{E7B85E7E-F137-2931-7097-D6C91A1E7CE9}"/>
              </a:ext>
            </a:extLst>
          </p:cNvPr>
          <p:cNvSpPr>
            <a:spLocks noGrp="1"/>
          </p:cNvSpPr>
          <p:nvPr>
            <p:ph type="sldNum" sz="quarter" idx="12"/>
          </p:nvPr>
        </p:nvSpPr>
        <p:spPr/>
        <p:txBody>
          <a:bodyPr/>
          <a:lstStyle/>
          <a:p>
            <a:pPr>
              <a:defRPr/>
            </a:pPr>
            <a:fld id="{A7915766-A0C4-4106-B697-2E4094E57908}" type="slidenum">
              <a:rPr lang="ms-MY" smtClean="0"/>
              <a:pPr>
                <a:defRPr/>
              </a:pPr>
              <a:t>‹#›</a:t>
            </a:fld>
            <a:endParaRPr lang="ms-MY"/>
          </a:p>
        </p:txBody>
      </p:sp>
    </p:spTree>
    <p:extLst>
      <p:ext uri="{BB962C8B-B14F-4D97-AF65-F5344CB8AC3E}">
        <p14:creationId xmlns:p14="http://schemas.microsoft.com/office/powerpoint/2010/main" val="1583065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2357-2CD4-D41D-153F-6F5A816D26F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EAFEC7F6-41EE-038D-275B-A43FC650A30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MY"/>
          </a:p>
        </p:txBody>
      </p:sp>
      <p:sp>
        <p:nvSpPr>
          <p:cNvPr id="4" name="Text Placeholder 3">
            <a:extLst>
              <a:ext uri="{FF2B5EF4-FFF2-40B4-BE49-F238E27FC236}">
                <a16:creationId xmlns:a16="http://schemas.microsoft.com/office/drawing/2014/main" id="{112C5A81-3555-793C-3BD5-D3AFEED856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45A1796-41CE-5CC6-1CEB-891C33EBE0BC}"/>
              </a:ext>
            </a:extLst>
          </p:cNvPr>
          <p:cNvSpPr>
            <a:spLocks noGrp="1"/>
          </p:cNvSpPr>
          <p:nvPr>
            <p:ph type="dt" sz="half" idx="10"/>
          </p:nvPr>
        </p:nvSpPr>
        <p:spPr/>
        <p:txBody>
          <a:bodyPr/>
          <a:lstStyle/>
          <a:p>
            <a:pPr>
              <a:defRPr/>
            </a:pPr>
            <a:fld id="{85EDBF7A-D2CD-448E-95C9-27802E706C13}" type="datetimeFigureOut">
              <a:rPr lang="ms-MY" smtClean="0"/>
              <a:pPr>
                <a:defRPr/>
              </a:pPr>
              <a:t>2/11/25</a:t>
            </a:fld>
            <a:endParaRPr lang="ms-MY"/>
          </a:p>
        </p:txBody>
      </p:sp>
      <p:sp>
        <p:nvSpPr>
          <p:cNvPr id="6" name="Footer Placeholder 5">
            <a:extLst>
              <a:ext uri="{FF2B5EF4-FFF2-40B4-BE49-F238E27FC236}">
                <a16:creationId xmlns:a16="http://schemas.microsoft.com/office/drawing/2014/main" id="{D3D47124-DC07-53C7-8467-E7D0A1B8E947}"/>
              </a:ext>
            </a:extLst>
          </p:cNvPr>
          <p:cNvSpPr>
            <a:spLocks noGrp="1"/>
          </p:cNvSpPr>
          <p:nvPr>
            <p:ph type="ftr" sz="quarter" idx="11"/>
          </p:nvPr>
        </p:nvSpPr>
        <p:spPr/>
        <p:txBody>
          <a:bodyPr/>
          <a:lstStyle/>
          <a:p>
            <a:pPr>
              <a:defRPr/>
            </a:pPr>
            <a:endParaRPr lang="ms-MY"/>
          </a:p>
        </p:txBody>
      </p:sp>
      <p:sp>
        <p:nvSpPr>
          <p:cNvPr id="7" name="Slide Number Placeholder 6">
            <a:extLst>
              <a:ext uri="{FF2B5EF4-FFF2-40B4-BE49-F238E27FC236}">
                <a16:creationId xmlns:a16="http://schemas.microsoft.com/office/drawing/2014/main" id="{8F923D07-AE3D-311B-BCCE-A65585DAC348}"/>
              </a:ext>
            </a:extLst>
          </p:cNvPr>
          <p:cNvSpPr>
            <a:spLocks noGrp="1"/>
          </p:cNvSpPr>
          <p:nvPr>
            <p:ph type="sldNum" sz="quarter" idx="12"/>
          </p:nvPr>
        </p:nvSpPr>
        <p:spPr/>
        <p:txBody>
          <a:bodyPr/>
          <a:lstStyle/>
          <a:p>
            <a:pPr>
              <a:defRPr/>
            </a:pPr>
            <a:fld id="{B9716AB6-0395-4870-ABB5-0FD98DDDBBA8}" type="slidenum">
              <a:rPr lang="ms-MY" smtClean="0"/>
              <a:pPr>
                <a:defRPr/>
              </a:pPr>
              <a:t>‹#›</a:t>
            </a:fld>
            <a:endParaRPr lang="ms-MY"/>
          </a:p>
        </p:txBody>
      </p:sp>
    </p:spTree>
    <p:extLst>
      <p:ext uri="{BB962C8B-B14F-4D97-AF65-F5344CB8AC3E}">
        <p14:creationId xmlns:p14="http://schemas.microsoft.com/office/powerpoint/2010/main" val="68627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EE007-2F68-8BFD-167D-C21AC1B053D5}"/>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E50A2BE0-7F32-2608-CBF6-1237BD8DB0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2E1B484-32B1-205B-14B2-150C4CEE9406}"/>
              </a:ext>
            </a:extLst>
          </p:cNvPr>
          <p:cNvSpPr>
            <a:spLocks noGrp="1"/>
          </p:cNvSpPr>
          <p:nvPr>
            <p:ph type="dt" sz="half" idx="10"/>
          </p:nvPr>
        </p:nvSpPr>
        <p:spPr/>
        <p:txBody>
          <a:bodyPr/>
          <a:lstStyle/>
          <a:p>
            <a:pPr>
              <a:defRPr/>
            </a:pPr>
            <a:fld id="{D2762F9B-C9F9-46AC-9697-74B3D83EC4DB}" type="datetimeFigureOut">
              <a:rPr lang="ms-MY" smtClean="0"/>
              <a:pPr>
                <a:defRPr/>
              </a:pPr>
              <a:t>2/11/25</a:t>
            </a:fld>
            <a:endParaRPr lang="ms-MY"/>
          </a:p>
        </p:txBody>
      </p:sp>
      <p:sp>
        <p:nvSpPr>
          <p:cNvPr id="5" name="Footer Placeholder 4">
            <a:extLst>
              <a:ext uri="{FF2B5EF4-FFF2-40B4-BE49-F238E27FC236}">
                <a16:creationId xmlns:a16="http://schemas.microsoft.com/office/drawing/2014/main" id="{300A44E6-F91A-6A92-2403-E247D9D7CA7A}"/>
              </a:ext>
            </a:extLst>
          </p:cNvPr>
          <p:cNvSpPr>
            <a:spLocks noGrp="1"/>
          </p:cNvSpPr>
          <p:nvPr>
            <p:ph type="ftr" sz="quarter" idx="11"/>
          </p:nvPr>
        </p:nvSpPr>
        <p:spPr/>
        <p:txBody>
          <a:bodyPr/>
          <a:lstStyle/>
          <a:p>
            <a:pPr>
              <a:defRPr/>
            </a:pPr>
            <a:endParaRPr lang="ms-MY"/>
          </a:p>
        </p:txBody>
      </p:sp>
      <p:sp>
        <p:nvSpPr>
          <p:cNvPr id="6" name="Slide Number Placeholder 5">
            <a:extLst>
              <a:ext uri="{FF2B5EF4-FFF2-40B4-BE49-F238E27FC236}">
                <a16:creationId xmlns:a16="http://schemas.microsoft.com/office/drawing/2014/main" id="{0E9C86D1-5DB9-4253-9690-697F20BD4D71}"/>
              </a:ext>
            </a:extLst>
          </p:cNvPr>
          <p:cNvSpPr>
            <a:spLocks noGrp="1"/>
          </p:cNvSpPr>
          <p:nvPr>
            <p:ph type="sldNum" sz="quarter" idx="12"/>
          </p:nvPr>
        </p:nvSpPr>
        <p:spPr/>
        <p:txBody>
          <a:bodyPr/>
          <a:lstStyle/>
          <a:p>
            <a:pPr>
              <a:defRPr/>
            </a:pPr>
            <a:fld id="{E0FE4B72-721C-4D53-958B-0A33415AB276}" type="slidenum">
              <a:rPr lang="ms-MY" smtClean="0"/>
              <a:pPr>
                <a:defRPr/>
              </a:pPr>
              <a:t>‹#›</a:t>
            </a:fld>
            <a:endParaRPr lang="ms-MY"/>
          </a:p>
        </p:txBody>
      </p:sp>
    </p:spTree>
    <p:extLst>
      <p:ext uri="{BB962C8B-B14F-4D97-AF65-F5344CB8AC3E}">
        <p14:creationId xmlns:p14="http://schemas.microsoft.com/office/powerpoint/2010/main" val="460645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0A0ECA-6C2A-C551-08D7-8D16C8C4712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3A62F5E4-270A-19AD-2D0B-61A2E406F53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7402715-F1D5-5867-2694-AA267B0F9037}"/>
              </a:ext>
            </a:extLst>
          </p:cNvPr>
          <p:cNvSpPr>
            <a:spLocks noGrp="1"/>
          </p:cNvSpPr>
          <p:nvPr>
            <p:ph type="dt" sz="half" idx="10"/>
          </p:nvPr>
        </p:nvSpPr>
        <p:spPr/>
        <p:txBody>
          <a:bodyPr/>
          <a:lstStyle/>
          <a:p>
            <a:pPr>
              <a:defRPr/>
            </a:pPr>
            <a:fld id="{6CAA920B-0606-43DF-97E4-4DF7B502A61F}" type="datetimeFigureOut">
              <a:rPr lang="ms-MY" smtClean="0"/>
              <a:pPr>
                <a:defRPr/>
              </a:pPr>
              <a:t>2/11/25</a:t>
            </a:fld>
            <a:endParaRPr lang="ms-MY"/>
          </a:p>
        </p:txBody>
      </p:sp>
      <p:sp>
        <p:nvSpPr>
          <p:cNvPr id="5" name="Footer Placeholder 4">
            <a:extLst>
              <a:ext uri="{FF2B5EF4-FFF2-40B4-BE49-F238E27FC236}">
                <a16:creationId xmlns:a16="http://schemas.microsoft.com/office/drawing/2014/main" id="{F9985527-1718-11EB-1DCF-72AE131261BE}"/>
              </a:ext>
            </a:extLst>
          </p:cNvPr>
          <p:cNvSpPr>
            <a:spLocks noGrp="1"/>
          </p:cNvSpPr>
          <p:nvPr>
            <p:ph type="ftr" sz="quarter" idx="11"/>
          </p:nvPr>
        </p:nvSpPr>
        <p:spPr/>
        <p:txBody>
          <a:bodyPr/>
          <a:lstStyle/>
          <a:p>
            <a:pPr>
              <a:defRPr/>
            </a:pPr>
            <a:endParaRPr lang="ms-MY"/>
          </a:p>
        </p:txBody>
      </p:sp>
      <p:sp>
        <p:nvSpPr>
          <p:cNvPr id="6" name="Slide Number Placeholder 5">
            <a:extLst>
              <a:ext uri="{FF2B5EF4-FFF2-40B4-BE49-F238E27FC236}">
                <a16:creationId xmlns:a16="http://schemas.microsoft.com/office/drawing/2014/main" id="{66AB265A-7515-0331-425D-777A67EE1C20}"/>
              </a:ext>
            </a:extLst>
          </p:cNvPr>
          <p:cNvSpPr>
            <a:spLocks noGrp="1"/>
          </p:cNvSpPr>
          <p:nvPr>
            <p:ph type="sldNum" sz="quarter" idx="12"/>
          </p:nvPr>
        </p:nvSpPr>
        <p:spPr/>
        <p:txBody>
          <a:bodyPr/>
          <a:lstStyle/>
          <a:p>
            <a:pPr>
              <a:defRPr/>
            </a:pPr>
            <a:fld id="{1AD4735D-8817-44E5-8D80-FE23FF182419}" type="slidenum">
              <a:rPr lang="ms-MY" smtClean="0"/>
              <a:pPr>
                <a:defRPr/>
              </a:pPr>
              <a:t>‹#›</a:t>
            </a:fld>
            <a:endParaRPr lang="ms-MY"/>
          </a:p>
        </p:txBody>
      </p:sp>
    </p:spTree>
    <p:extLst>
      <p:ext uri="{BB962C8B-B14F-4D97-AF65-F5344CB8AC3E}">
        <p14:creationId xmlns:p14="http://schemas.microsoft.com/office/powerpoint/2010/main" val="2305552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632200"/>
            <a:ext cx="8229600" cy="17938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363042311"/>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p:cNvSpPr>
            <a:spLocks noGrp="1" noChangeArrowheads="1"/>
          </p:cNvSpPr>
          <p:nvPr>
            <p:ph type="sldNum" sz="quarter" idx="12"/>
          </p:nvPr>
        </p:nvSpPr>
        <p:spPr>
          <a:ln/>
        </p:spPr>
        <p:txBody>
          <a:bodyPr/>
          <a:lstStyle>
            <a:lvl1pPr>
              <a:defRPr/>
            </a:lvl1pPr>
          </a:lstStyle>
          <a:p>
            <a:pPr>
              <a:defRPr/>
            </a:pPr>
            <a:fld id="{FB5AAC34-ABB4-4992-8199-40DDFBA89C00}" type="slidenum">
              <a:rPr lang="en-US" altLang="en-US"/>
              <a:pPr>
                <a:defRPr/>
              </a:pPr>
              <a:t>‹#›</a:t>
            </a:fld>
            <a:endParaRPr lang="en-US" altLang="en-US"/>
          </a:p>
        </p:txBody>
      </p:sp>
    </p:spTree>
    <p:extLst>
      <p:ext uri="{BB962C8B-B14F-4D97-AF65-F5344CB8AC3E}">
        <p14:creationId xmlns:p14="http://schemas.microsoft.com/office/powerpoint/2010/main" val="1961411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760292"/>
            <a:ext cx="82296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016772"/>
            <a:ext cx="82296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5155500"/>
            <a:ext cx="8232775"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245193829"/>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6"/>
            <a:ext cx="8229600" cy="44342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Tree>
    <p:extLst>
      <p:ext uri="{BB962C8B-B14F-4D97-AF65-F5344CB8AC3E}">
        <p14:creationId xmlns:p14="http://schemas.microsoft.com/office/powerpoint/2010/main" val="2330960556"/>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632200"/>
            <a:ext cx="8229600" cy="17938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346750475"/>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E4C339-C9E4-EB29-9FA5-2E00FA4A164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845178C-CF96-1BA8-C116-BB3C2016B6B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D32B791E-890C-470E-20ED-7F83F52D369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19E93023-99CC-4119-9AA0-9D5BA50B7151}" type="datetimeFigureOut">
              <a:rPr lang="ms-MY" smtClean="0"/>
              <a:pPr>
                <a:defRPr/>
              </a:pPr>
              <a:t>2/11/25</a:t>
            </a:fld>
            <a:endParaRPr lang="ms-MY"/>
          </a:p>
        </p:txBody>
      </p:sp>
      <p:sp>
        <p:nvSpPr>
          <p:cNvPr id="5" name="Footer Placeholder 4">
            <a:extLst>
              <a:ext uri="{FF2B5EF4-FFF2-40B4-BE49-F238E27FC236}">
                <a16:creationId xmlns:a16="http://schemas.microsoft.com/office/drawing/2014/main" id="{98C491D8-C9BB-4066-3A9E-5A3BFCB594A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ms-MY"/>
          </a:p>
        </p:txBody>
      </p:sp>
      <p:sp>
        <p:nvSpPr>
          <p:cNvPr id="6" name="Slide Number Placeholder 5">
            <a:extLst>
              <a:ext uri="{FF2B5EF4-FFF2-40B4-BE49-F238E27FC236}">
                <a16:creationId xmlns:a16="http://schemas.microsoft.com/office/drawing/2014/main" id="{1E8F0F2A-25EB-FFF0-9789-78853BF01E36}"/>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C59851B2-4C79-4513-A2C7-3B5D9DDF9EF7}" type="slidenum">
              <a:rPr lang="ms-MY" smtClean="0"/>
              <a:pPr>
                <a:defRPr/>
              </a:pPr>
              <a:t>‹#›</a:t>
            </a:fld>
            <a:endParaRPr lang="ms-MY"/>
          </a:p>
        </p:txBody>
      </p:sp>
    </p:spTree>
    <p:extLst>
      <p:ext uri="{BB962C8B-B14F-4D97-AF65-F5344CB8AC3E}">
        <p14:creationId xmlns:p14="http://schemas.microsoft.com/office/powerpoint/2010/main" val="259455573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19" r:id="rId14"/>
    <p:sldLayoutId id="2147483720" r:id="rId15"/>
    <p:sldLayoutId id="214748372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google.com.my/url?sa=i&amp;rct=j&amp;q=&amp;esrc=s&amp;source=images&amp;cd=&amp;cad=rja&amp;uact=8&amp;docid=Nz5kB2dxATg0cM&amp;tbnid=X4HqBd7DpinMbM:&amp;ved=0CAUQjRw&amp;url=http://www.cvr-it.com/PM_Jokes.htm&amp;ei=r6J1U8HXLoPVrQf8koDYAQ&amp;bvm=bv.66699033,d.bmk&amp;psig=AFQjCNGxP2ir-gprTQj8rdtNSyhPTEu3VQ&amp;ust=1400304672430935"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4760728" y="3957666"/>
            <a:ext cx="4290237" cy="534500"/>
          </a:xfrm>
        </p:spPr>
        <p:txBody>
          <a:bodyPr>
            <a:normAutofit/>
          </a:bodyPr>
          <a:lstStyle/>
          <a:p>
            <a:pPr algn="r"/>
            <a:r>
              <a:rPr lang="en-US" dirty="0">
                <a:latin typeface="Arial" panose="020B0604020202020204" pitchFamily="34" charset="0"/>
                <a:cs typeface="Arial" panose="020B0604020202020204" pitchFamily="34" charset="0"/>
              </a:rPr>
              <a:t>Topic 5: </a:t>
            </a:r>
            <a:r>
              <a:rPr kumimoji="0" lang="en-US" sz="1800" b="0" i="0" u="none" strike="noStrike" kern="1200" cap="none" spc="0" normalizeH="0" baseline="0" noProof="0" dirty="0">
                <a:ln>
                  <a:noFill/>
                </a:ln>
                <a:effectLst/>
                <a:uLnTx/>
                <a:uFillTx/>
                <a:latin typeface="Arial Rounded MT Bold" pitchFamily="34" charset="0"/>
                <a:ea typeface="+mn-ea"/>
                <a:cs typeface="Arial" panose="020B0604020202020204" pitchFamily="34" charset="0"/>
                <a:sym typeface="Arial"/>
              </a:rPr>
              <a:t>Requirements Elicitation</a:t>
            </a: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 y="857257"/>
            <a:ext cx="4572000" cy="5143493"/>
          </a:xfrm>
          <a:prstGeom prst="rect">
            <a:avLst/>
          </a:prstGeom>
        </p:spPr>
      </p:pic>
      <p:sp>
        <p:nvSpPr>
          <p:cNvPr id="4" name="Subtitle 2">
            <a:extLst>
              <a:ext uri="{FF2B5EF4-FFF2-40B4-BE49-F238E27FC236}">
                <a16:creationId xmlns:a16="http://schemas.microsoft.com/office/drawing/2014/main" id="{5442734F-1AD7-E7D8-5BDE-9461EC366C5F}"/>
              </a:ext>
            </a:extLst>
          </p:cNvPr>
          <p:cNvSpPr txBox="1">
            <a:spLocks/>
          </p:cNvSpPr>
          <p:nvPr/>
        </p:nvSpPr>
        <p:spPr>
          <a:xfrm>
            <a:off x="4760729" y="4733468"/>
            <a:ext cx="4170621" cy="940331"/>
          </a:xfrm>
          <a:prstGeom prst="rect">
            <a:avLst/>
          </a:prstGeom>
        </p:spPr>
        <p:txBody>
          <a:bodyPr vert="horz" lIns="68580" tIns="34290" rIns="68580" bIns="34290" rtlCol="0">
            <a:normAutofit/>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1"/>
                </a:solidFill>
                <a:latin typeface="+mn-lt"/>
                <a:ea typeface="+mn-ea"/>
                <a:cs typeface="+mn-cs"/>
              </a:defRPr>
            </a:lvl1pPr>
            <a:lvl2pPr marL="4572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r>
              <a:rPr lang="en-US" sz="1800" b="1" dirty="0"/>
              <a:t>OCTOBER 2025 – FEBRUARY 2026</a:t>
            </a: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3296265" y="1336573"/>
            <a:ext cx="5483570" cy="2621093"/>
          </a:xfrm>
          <a:solidFill>
            <a:schemeClr val="bg1"/>
          </a:solidFill>
        </p:spPr>
        <p:txBody>
          <a:bodyPr>
            <a:noAutofit/>
          </a:bodyPr>
          <a:lstStyle/>
          <a:p>
            <a:pPr algn="r"/>
            <a:r>
              <a:rPr lang="en-US" sz="3600" dirty="0">
                <a:latin typeface="+mj-lt"/>
              </a:rPr>
              <a:t>ISP550</a:t>
            </a:r>
            <a:br>
              <a:rPr lang="en-US" sz="3600" dirty="0">
                <a:latin typeface="+mj-lt"/>
              </a:rPr>
            </a:br>
            <a:r>
              <a:rPr lang="en-US" sz="3600" dirty="0">
                <a:latin typeface="+mj-lt"/>
              </a:rPr>
              <a:t>INFORMATION SYSTEMS ENGINEERING</a:t>
            </a:r>
          </a:p>
        </p:txBody>
      </p: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7F6D15-B155-9B18-0DC4-574087A707E2}"/>
              </a:ext>
            </a:extLst>
          </p:cNvPr>
          <p:cNvPicPr>
            <a:picLocks noChangeAspect="1"/>
          </p:cNvPicPr>
          <p:nvPr/>
        </p:nvPicPr>
        <p:blipFill>
          <a:blip r:embed="rId3"/>
          <a:stretch>
            <a:fillRect/>
          </a:stretch>
        </p:blipFill>
        <p:spPr>
          <a:xfrm>
            <a:off x="467544" y="980728"/>
            <a:ext cx="8414109" cy="46962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sz="3600" b="1" dirty="0">
                <a:solidFill>
                  <a:schemeClr val="accent1">
                    <a:lumMod val="60000"/>
                    <a:lumOff val="40000"/>
                  </a:schemeClr>
                </a:solidFill>
              </a:rPr>
              <a:t>Learning Objectives</a:t>
            </a:r>
          </a:p>
        </p:txBody>
      </p:sp>
      <p:sp>
        <p:nvSpPr>
          <p:cNvPr id="5" name="Content Placeholder 2">
            <a:extLst>
              <a:ext uri="{FF2B5EF4-FFF2-40B4-BE49-F238E27FC236}">
                <a16:creationId xmlns:a16="http://schemas.microsoft.com/office/drawing/2014/main" id="{B35BC638-1A6A-62D4-5DED-45A739538292}"/>
              </a:ext>
            </a:extLst>
          </p:cNvPr>
          <p:cNvSpPr>
            <a:spLocks noGrp="1"/>
          </p:cNvSpPr>
          <p:nvPr>
            <p:ph idx="1"/>
          </p:nvPr>
        </p:nvSpPr>
        <p:spPr>
          <a:xfrm>
            <a:off x="611727" y="1844824"/>
            <a:ext cx="7418785" cy="3880773"/>
          </a:xfrm>
        </p:spPr>
        <p:txBody>
          <a:bodyPr>
            <a:normAutofit/>
          </a:bodyPr>
          <a:lstStyle/>
          <a:p>
            <a:pPr>
              <a:buFont typeface="Wingdings" panose="05000000000000000000" pitchFamily="2" charset="2"/>
              <a:buChar char="§"/>
            </a:pPr>
            <a:r>
              <a:rPr lang="en-MY" sz="2600" dirty="0">
                <a:latin typeface="Calibri" panose="020F0502020204030204" pitchFamily="34" charset="0"/>
                <a:cs typeface="Calibri" panose="020F0502020204030204" pitchFamily="34" charset="0"/>
              </a:rPr>
              <a:t>Define </a:t>
            </a:r>
            <a:r>
              <a:rPr lang="en-MY" sz="2600" dirty="0">
                <a:solidFill>
                  <a:srgbClr val="FF0000"/>
                </a:solidFill>
                <a:latin typeface="Calibri" panose="020F0502020204030204" pitchFamily="34" charset="0"/>
                <a:cs typeface="Calibri" panose="020F0502020204030204" pitchFamily="34" charset="0"/>
              </a:rPr>
              <a:t>Requirements</a:t>
            </a:r>
            <a:r>
              <a:rPr lang="en-MY" sz="2600" dirty="0">
                <a:latin typeface="Calibri" panose="020F0502020204030204" pitchFamily="34" charset="0"/>
                <a:cs typeface="Calibri" panose="020F0502020204030204" pitchFamily="34" charset="0"/>
              </a:rPr>
              <a:t> and </a:t>
            </a:r>
            <a:r>
              <a:rPr lang="en-MY" sz="2600" dirty="0">
                <a:solidFill>
                  <a:srgbClr val="FF0000"/>
                </a:solidFill>
                <a:latin typeface="Calibri" panose="020F0502020204030204" pitchFamily="34" charset="0"/>
                <a:cs typeface="Calibri" panose="020F0502020204030204" pitchFamily="34" charset="0"/>
              </a:rPr>
              <a:t>Requirements Engineering</a:t>
            </a:r>
          </a:p>
          <a:p>
            <a:pPr>
              <a:buFont typeface="Wingdings" panose="05000000000000000000" pitchFamily="2" charset="2"/>
              <a:buChar char="§"/>
            </a:pPr>
            <a:r>
              <a:rPr lang="en-US" altLang="zh-CN" sz="2600" dirty="0">
                <a:latin typeface="Calibri" panose="020F0502020204030204" pitchFamily="34" charset="0"/>
                <a:ea typeface="宋体" panose="02010600030101010101" pitchFamily="2" charset="-122"/>
                <a:cs typeface="Calibri" panose="020F0502020204030204" pitchFamily="34" charset="0"/>
              </a:rPr>
              <a:t>Describe </a:t>
            </a:r>
            <a:r>
              <a:rPr lang="en-US" altLang="zh-CN" sz="2600" dirty="0">
                <a:solidFill>
                  <a:srgbClr val="FF0000"/>
                </a:solidFill>
                <a:latin typeface="Calibri" panose="020F0502020204030204" pitchFamily="34" charset="0"/>
                <a:ea typeface="宋体" panose="02010600030101010101" pitchFamily="2" charset="-122"/>
                <a:cs typeface="Calibri" panose="020F0502020204030204" pitchFamily="34" charset="0"/>
              </a:rPr>
              <a:t>Requirements Engineering Activities</a:t>
            </a:r>
          </a:p>
          <a:p>
            <a:pPr>
              <a:buFont typeface="Wingdings" panose="05000000000000000000" pitchFamily="2" charset="2"/>
              <a:buChar char="§"/>
            </a:pPr>
            <a:r>
              <a:rPr lang="en-US" altLang="zh-CN" sz="2600" dirty="0">
                <a:latin typeface="Calibri" panose="020F0502020204030204" pitchFamily="34" charset="0"/>
                <a:ea typeface="宋体" panose="02010600030101010101" pitchFamily="2" charset="-122"/>
                <a:cs typeface="Calibri" panose="020F0502020204030204" pitchFamily="34" charset="0"/>
              </a:rPr>
              <a:t>Describe traditional and contemporary </a:t>
            </a:r>
            <a:r>
              <a:rPr lang="en-US" altLang="zh-CN" sz="2600" dirty="0">
                <a:solidFill>
                  <a:srgbClr val="FF0000"/>
                </a:solidFill>
                <a:latin typeface="Calibri" panose="020F0502020204030204" pitchFamily="34" charset="0"/>
                <a:ea typeface="宋体" panose="02010600030101010101" pitchFamily="2" charset="-122"/>
                <a:cs typeface="Calibri" panose="020F0502020204030204" pitchFamily="34" charset="0"/>
              </a:rPr>
              <a:t>requirements elicitation techniques</a:t>
            </a:r>
          </a:p>
          <a:p>
            <a:pPr>
              <a:buFont typeface="Wingdings" panose="05000000000000000000" pitchFamily="2" charset="2"/>
              <a:buChar char="§"/>
            </a:pPr>
            <a:r>
              <a:rPr lang="en-US" altLang="zh-CN" sz="2600" dirty="0">
                <a:latin typeface="Calibri" panose="020F0502020204030204" pitchFamily="34" charset="0"/>
                <a:ea typeface="宋体" panose="02010600030101010101" pitchFamily="2" charset="-122"/>
                <a:cs typeface="Calibri" panose="020F0502020204030204" pitchFamily="34" charset="0"/>
              </a:rPr>
              <a:t>Document workflows with </a:t>
            </a:r>
            <a:r>
              <a:rPr lang="en-US" altLang="zh-CN" sz="2600" dirty="0">
                <a:solidFill>
                  <a:srgbClr val="FF0000"/>
                </a:solidFill>
                <a:latin typeface="Calibri" panose="020F0502020204030204" pitchFamily="34" charset="0"/>
                <a:ea typeface="宋体" panose="02010600030101010101" pitchFamily="2" charset="-122"/>
                <a:cs typeface="Calibri" panose="020F0502020204030204" pitchFamily="34" charset="0"/>
              </a:rPr>
              <a:t>activity diagram</a:t>
            </a:r>
          </a:p>
          <a:p>
            <a:pPr>
              <a:buFont typeface="Wingdings" panose="05000000000000000000" pitchFamily="2" charset="2"/>
              <a:buChar char="§"/>
            </a:pPr>
            <a:r>
              <a:rPr lang="en-US" altLang="zh-CN" sz="2600" dirty="0">
                <a:latin typeface="Calibri" panose="020F0502020204030204" pitchFamily="34" charset="0"/>
                <a:ea typeface="宋体" panose="02010600030101010101" pitchFamily="2" charset="-122"/>
                <a:cs typeface="Calibri" panose="020F0502020204030204" pitchFamily="34" charset="0"/>
              </a:rPr>
              <a:t>Describe the </a:t>
            </a:r>
            <a:r>
              <a:rPr lang="en-US" altLang="zh-CN" sz="2600" dirty="0">
                <a:solidFill>
                  <a:srgbClr val="FF0000"/>
                </a:solidFill>
                <a:latin typeface="Calibri" panose="020F0502020204030204" pitchFamily="34" charset="0"/>
                <a:ea typeface="宋体" panose="02010600030101010101" pitchFamily="2" charset="-122"/>
                <a:cs typeface="Calibri" panose="020F0502020204030204" pitchFamily="34" charset="0"/>
              </a:rPr>
              <a:t>types of requirements</a:t>
            </a:r>
          </a:p>
          <a:p>
            <a:pPr marL="0" indent="0">
              <a:buNone/>
            </a:pPr>
            <a:endParaRPr lang="en-US" dirty="0"/>
          </a:p>
        </p:txBody>
      </p:sp>
    </p:spTree>
    <p:extLst>
      <p:ext uri="{BB962C8B-B14F-4D97-AF65-F5344CB8AC3E}">
        <p14:creationId xmlns:p14="http://schemas.microsoft.com/office/powerpoint/2010/main" val="3251575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www.cvr-it.com/images/PM_Build_Swing.gif">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0"/>
            <a:ext cx="6455647" cy="484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E43F0934-7795-9D3A-76A3-2BCF1469FB52}"/>
              </a:ext>
            </a:extLst>
          </p:cNvPr>
          <p:cNvSpPr txBox="1"/>
          <p:nvPr/>
        </p:nvSpPr>
        <p:spPr>
          <a:xfrm>
            <a:off x="215516" y="4734341"/>
            <a:ext cx="8712968" cy="1200329"/>
          </a:xfrm>
          <a:prstGeom prst="rect">
            <a:avLst/>
          </a:prstGeom>
          <a:noFill/>
        </p:spPr>
        <p:txBody>
          <a:bodyPr wrap="square">
            <a:spAutoFit/>
          </a:bodyPr>
          <a:lstStyle/>
          <a:p>
            <a:r>
              <a:rPr lang="en-US" dirty="0"/>
              <a:t> Requirements are considered as an input to design, implementation and validation</a:t>
            </a:r>
          </a:p>
          <a:p>
            <a:r>
              <a:rPr lang="en-US" dirty="0"/>
              <a:t>phase of software product development. Thus, </a:t>
            </a:r>
            <a:r>
              <a:rPr lang="en-US" dirty="0">
                <a:solidFill>
                  <a:srgbClr val="FF0000"/>
                </a:solidFill>
              </a:rPr>
              <a:t>a software project is successful or a failure </a:t>
            </a:r>
            <a:r>
              <a:rPr lang="en-US" dirty="0"/>
              <a:t>during software development because of poor requirement elicitation as well as in requirements managing process (</a:t>
            </a:r>
            <a:r>
              <a:rPr lang="en-US" dirty="0" err="1"/>
              <a:t>Pfleeger</a:t>
            </a:r>
            <a:r>
              <a:rPr lang="en-US" dirty="0"/>
              <a:t> and Atlee, 2006).</a:t>
            </a:r>
            <a:endParaRPr lang="en-MY" dirty="0"/>
          </a:p>
        </p:txBody>
      </p:sp>
      <p:sp>
        <p:nvSpPr>
          <p:cNvPr id="6" name="TextBox 5">
            <a:extLst>
              <a:ext uri="{FF2B5EF4-FFF2-40B4-BE49-F238E27FC236}">
                <a16:creationId xmlns:a16="http://schemas.microsoft.com/office/drawing/2014/main" id="{5C425B83-10C8-3076-70DD-AFE83B1C798E}"/>
              </a:ext>
            </a:extLst>
          </p:cNvPr>
          <p:cNvSpPr txBox="1"/>
          <p:nvPr/>
        </p:nvSpPr>
        <p:spPr>
          <a:xfrm>
            <a:off x="251520" y="5934670"/>
            <a:ext cx="8640960" cy="923330"/>
          </a:xfrm>
          <a:prstGeom prst="rect">
            <a:avLst/>
          </a:prstGeom>
          <a:noFill/>
        </p:spPr>
        <p:txBody>
          <a:bodyPr wrap="square">
            <a:spAutoFit/>
          </a:bodyPr>
          <a:lstStyle/>
          <a:p>
            <a:r>
              <a:rPr lang="en-US" dirty="0"/>
              <a:t>In summary, there are many reasons for software project failures; however, poorly engineered requirements process contributes immensely to the reason why software projects fail (</a:t>
            </a:r>
            <a:r>
              <a:rPr lang="en-US" dirty="0" err="1"/>
              <a:t>Inam</a:t>
            </a:r>
            <a:r>
              <a:rPr lang="en-US" dirty="0"/>
              <a:t>, 2015). </a:t>
            </a:r>
            <a:endParaRPr lang="en-MY" dirty="0"/>
          </a:p>
        </p:txBody>
      </p:sp>
    </p:spTree>
    <p:extLst>
      <p:ext uri="{BB962C8B-B14F-4D97-AF65-F5344CB8AC3E}">
        <p14:creationId xmlns:p14="http://schemas.microsoft.com/office/powerpoint/2010/main" val="1162852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8748464" cy="1143000"/>
          </a:xfrm>
        </p:spPr>
        <p:txBody>
          <a:bodyPr rtlCol="0">
            <a:normAutofit/>
          </a:bodyPr>
          <a:lstStyle/>
          <a:p>
            <a:pPr eaLnBrk="1" fontAlgn="auto" hangingPunct="1">
              <a:spcAft>
                <a:spcPts val="0"/>
              </a:spcAft>
              <a:defRPr/>
            </a:pPr>
            <a:r>
              <a:rPr lang="en-US" b="1" dirty="0">
                <a:solidFill>
                  <a:schemeClr val="accent1"/>
                </a:solidFill>
              </a:rPr>
              <a:t>Definition of Requirements &amp; </a:t>
            </a:r>
            <a:br>
              <a:rPr lang="en-US" b="1" dirty="0">
                <a:solidFill>
                  <a:schemeClr val="accent1"/>
                </a:solidFill>
              </a:rPr>
            </a:br>
            <a:r>
              <a:rPr lang="en-US" b="1" dirty="0">
                <a:solidFill>
                  <a:schemeClr val="accent1"/>
                </a:solidFill>
              </a:rPr>
              <a:t>Requirements Engineering</a:t>
            </a:r>
            <a:endParaRPr lang="ms-MY" b="1" dirty="0">
              <a:solidFill>
                <a:schemeClr val="accent1"/>
              </a:solidFill>
            </a:endParaRPr>
          </a:p>
        </p:txBody>
      </p:sp>
      <p:sp>
        <p:nvSpPr>
          <p:cNvPr id="7" name="Rectangle 6"/>
          <p:cNvSpPr/>
          <p:nvPr/>
        </p:nvSpPr>
        <p:spPr>
          <a:xfrm>
            <a:off x="431540" y="1916832"/>
            <a:ext cx="8280920" cy="1384995"/>
          </a:xfrm>
          <a:prstGeom prst="rect">
            <a:avLst/>
          </a:prstGeom>
        </p:spPr>
        <p:txBody>
          <a:bodyPr wrap="square">
            <a:spAutoFit/>
          </a:bodyPr>
          <a:lstStyle/>
          <a:p>
            <a:r>
              <a:rPr lang="en-MY" sz="2800" dirty="0">
                <a:solidFill>
                  <a:srgbClr val="FF0000"/>
                </a:solidFill>
                <a:latin typeface="+mn-lt"/>
              </a:rPr>
              <a:t>Requirements</a:t>
            </a:r>
            <a:r>
              <a:rPr lang="en-MY" sz="2800" dirty="0">
                <a:latin typeface="+mn-lt"/>
              </a:rPr>
              <a:t>:</a:t>
            </a:r>
          </a:p>
          <a:p>
            <a:r>
              <a:rPr lang="en-MY" sz="2800" dirty="0">
                <a:latin typeface="+mn-lt"/>
              </a:rPr>
              <a:t>A condition or capability needed by a user to solve a problem or achieve an objective.</a:t>
            </a:r>
          </a:p>
        </p:txBody>
      </p:sp>
      <p:sp>
        <p:nvSpPr>
          <p:cNvPr id="8" name="Rectangle 7"/>
          <p:cNvSpPr/>
          <p:nvPr/>
        </p:nvSpPr>
        <p:spPr>
          <a:xfrm>
            <a:off x="376094" y="4437112"/>
            <a:ext cx="8280920" cy="1384995"/>
          </a:xfrm>
          <a:prstGeom prst="rect">
            <a:avLst/>
          </a:prstGeom>
        </p:spPr>
        <p:txBody>
          <a:bodyPr wrap="square">
            <a:spAutoFit/>
          </a:bodyPr>
          <a:lstStyle/>
          <a:p>
            <a:r>
              <a:rPr lang="en-MY" sz="2800" dirty="0">
                <a:solidFill>
                  <a:srgbClr val="FF0000"/>
                </a:solidFill>
                <a:latin typeface="+mn-lt"/>
              </a:rPr>
              <a:t>Requirements Engineering</a:t>
            </a:r>
            <a:r>
              <a:rPr lang="en-MY" sz="2800" dirty="0">
                <a:latin typeface="+mn-lt"/>
              </a:rPr>
              <a:t>:</a:t>
            </a:r>
          </a:p>
          <a:p>
            <a:r>
              <a:rPr lang="en-MY" sz="2800" dirty="0">
                <a:latin typeface="+mn-lt"/>
              </a:rPr>
              <a:t>A systematic and disciplined approach to the specification and management of requirements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8" y="476672"/>
            <a:ext cx="7922841" cy="947192"/>
          </a:xfrm>
        </p:spPr>
        <p:txBody>
          <a:bodyPr rtlCol="0">
            <a:normAutofit/>
          </a:bodyPr>
          <a:lstStyle/>
          <a:p>
            <a:pPr eaLnBrk="1" fontAlgn="auto" hangingPunct="1">
              <a:spcAft>
                <a:spcPts val="0"/>
              </a:spcAft>
              <a:defRPr/>
            </a:pPr>
            <a:r>
              <a:rPr lang="en-US" b="1" dirty="0">
                <a:solidFill>
                  <a:schemeClr val="accent1"/>
                </a:solidFill>
              </a:rPr>
              <a:t>Requirements Engineering Activities</a:t>
            </a:r>
            <a:endParaRPr lang="ms-MY" b="1" dirty="0">
              <a:solidFill>
                <a:schemeClr val="accent1"/>
              </a:solidFill>
            </a:endParaRPr>
          </a:p>
        </p:txBody>
      </p:sp>
      <p:sp>
        <p:nvSpPr>
          <p:cNvPr id="17411" name="Content Placeholder 2"/>
          <p:cNvSpPr>
            <a:spLocks noGrp="1"/>
          </p:cNvSpPr>
          <p:nvPr>
            <p:ph idx="1"/>
          </p:nvPr>
        </p:nvSpPr>
        <p:spPr>
          <a:xfrm>
            <a:off x="465582" y="1423864"/>
            <a:ext cx="8426898" cy="5029472"/>
          </a:xfrm>
        </p:spPr>
        <p:txBody>
          <a:bodyPr>
            <a:normAutofit/>
          </a:bodyPr>
          <a:lstStyle/>
          <a:p>
            <a:pPr eaLnBrk="1" hangingPunct="1">
              <a:lnSpc>
                <a:spcPct val="90000"/>
              </a:lnSpc>
            </a:pPr>
            <a:r>
              <a:rPr lang="en-GB" sz="2800" dirty="0">
                <a:solidFill>
                  <a:schemeClr val="tx1"/>
                </a:solidFill>
                <a:latin typeface="Calibri" panose="020F0502020204030204" pitchFamily="34" charset="0"/>
                <a:cs typeface="Calibri" panose="020F0502020204030204" pitchFamily="34" charset="0"/>
              </a:rPr>
              <a:t>The activities used for Requirements Engineering vary widely depending on the </a:t>
            </a:r>
            <a:r>
              <a:rPr lang="en-GB" sz="2800" dirty="0">
                <a:solidFill>
                  <a:srgbClr val="FF0000"/>
                </a:solidFill>
                <a:latin typeface="Calibri" panose="020F0502020204030204" pitchFamily="34" charset="0"/>
                <a:cs typeface="Calibri" panose="020F0502020204030204" pitchFamily="34" charset="0"/>
              </a:rPr>
              <a:t>application domain</a:t>
            </a:r>
            <a:r>
              <a:rPr lang="en-GB" sz="2800" dirty="0">
                <a:solidFill>
                  <a:schemeClr val="tx1"/>
                </a:solidFill>
                <a:latin typeface="Calibri" panose="020F0502020204030204" pitchFamily="34" charset="0"/>
                <a:cs typeface="Calibri" panose="020F0502020204030204" pitchFamily="34" charset="0"/>
              </a:rPr>
              <a:t>, the </a:t>
            </a:r>
            <a:r>
              <a:rPr lang="en-GB" sz="2800" dirty="0">
                <a:solidFill>
                  <a:srgbClr val="FF0000"/>
                </a:solidFill>
                <a:latin typeface="Calibri" panose="020F0502020204030204" pitchFamily="34" charset="0"/>
                <a:cs typeface="Calibri" panose="020F0502020204030204" pitchFamily="34" charset="0"/>
              </a:rPr>
              <a:t>people involved </a:t>
            </a:r>
            <a:r>
              <a:rPr lang="en-GB" sz="2800" dirty="0">
                <a:solidFill>
                  <a:schemeClr val="tx1"/>
                </a:solidFill>
                <a:latin typeface="Calibri" panose="020F0502020204030204" pitchFamily="34" charset="0"/>
                <a:cs typeface="Calibri" panose="020F0502020204030204" pitchFamily="34" charset="0"/>
              </a:rPr>
              <a:t>and </a:t>
            </a:r>
            <a:r>
              <a:rPr lang="en-GB" sz="2800" dirty="0">
                <a:solidFill>
                  <a:srgbClr val="FF0000"/>
                </a:solidFill>
                <a:latin typeface="Calibri" panose="020F0502020204030204" pitchFamily="34" charset="0"/>
                <a:cs typeface="Calibri" panose="020F0502020204030204" pitchFamily="34" charset="0"/>
              </a:rPr>
              <a:t>the organisation </a:t>
            </a:r>
            <a:r>
              <a:rPr lang="en-GB" sz="2800" dirty="0">
                <a:solidFill>
                  <a:schemeClr val="tx1"/>
                </a:solidFill>
                <a:latin typeface="Calibri" panose="020F0502020204030204" pitchFamily="34" charset="0"/>
                <a:cs typeface="Calibri" panose="020F0502020204030204" pitchFamily="34" charset="0"/>
              </a:rPr>
              <a:t>developing the requirements.</a:t>
            </a:r>
          </a:p>
          <a:p>
            <a:pPr eaLnBrk="1" hangingPunct="1">
              <a:lnSpc>
                <a:spcPct val="90000"/>
              </a:lnSpc>
            </a:pPr>
            <a:r>
              <a:rPr lang="en-GB" sz="2800" dirty="0">
                <a:solidFill>
                  <a:schemeClr val="tx1"/>
                </a:solidFill>
                <a:latin typeface="Calibri" panose="020F0502020204030204" pitchFamily="34" charset="0"/>
                <a:cs typeface="Calibri" panose="020F0502020204030204" pitchFamily="34" charset="0"/>
              </a:rPr>
              <a:t>However, there are a number of </a:t>
            </a:r>
            <a:r>
              <a:rPr lang="en-GB" sz="2800" dirty="0">
                <a:solidFill>
                  <a:srgbClr val="FF0000"/>
                </a:solidFill>
                <a:latin typeface="Calibri" panose="020F0502020204030204" pitchFamily="34" charset="0"/>
                <a:cs typeface="Calibri" panose="020F0502020204030204" pitchFamily="34" charset="0"/>
              </a:rPr>
              <a:t>generic activities </a:t>
            </a:r>
            <a:r>
              <a:rPr lang="en-GB" sz="2800" dirty="0">
                <a:solidFill>
                  <a:schemeClr val="tx1"/>
                </a:solidFill>
                <a:latin typeface="Calibri" panose="020F0502020204030204" pitchFamily="34" charset="0"/>
                <a:cs typeface="Calibri" panose="020F0502020204030204" pitchFamily="34" charset="0"/>
              </a:rPr>
              <a:t>common to all processes</a:t>
            </a:r>
          </a:p>
          <a:p>
            <a:pPr lvl="1" eaLnBrk="1" hangingPunct="1">
              <a:lnSpc>
                <a:spcPct val="90000"/>
              </a:lnSpc>
            </a:pPr>
            <a:r>
              <a:rPr lang="en-GB" sz="2800" i="1" dirty="0">
                <a:solidFill>
                  <a:srgbClr val="FF0000"/>
                </a:solidFill>
                <a:latin typeface="Calibri" panose="020F0502020204030204" pitchFamily="34" charset="0"/>
                <a:cs typeface="Calibri" panose="020F0502020204030204" pitchFamily="34" charset="0"/>
              </a:rPr>
              <a:t>Requirements elicitation;</a:t>
            </a:r>
          </a:p>
          <a:p>
            <a:pPr lvl="1" eaLnBrk="1" hangingPunct="1">
              <a:lnSpc>
                <a:spcPct val="90000"/>
              </a:lnSpc>
            </a:pPr>
            <a:r>
              <a:rPr lang="en-GB" sz="2800" i="1" dirty="0">
                <a:solidFill>
                  <a:srgbClr val="FF0000"/>
                </a:solidFill>
                <a:latin typeface="Calibri" panose="020F0502020204030204" pitchFamily="34" charset="0"/>
                <a:cs typeface="Calibri" panose="020F0502020204030204" pitchFamily="34" charset="0"/>
              </a:rPr>
              <a:t>Requirements analysis;</a:t>
            </a:r>
          </a:p>
          <a:p>
            <a:pPr lvl="1" eaLnBrk="1" hangingPunct="1">
              <a:lnSpc>
                <a:spcPct val="90000"/>
              </a:lnSpc>
            </a:pPr>
            <a:r>
              <a:rPr lang="en-GB" sz="2800" i="1" dirty="0">
                <a:solidFill>
                  <a:srgbClr val="FF0000"/>
                </a:solidFill>
                <a:latin typeface="Calibri" panose="020F0502020204030204" pitchFamily="34" charset="0"/>
                <a:cs typeface="Calibri" panose="020F0502020204030204" pitchFamily="34" charset="0"/>
              </a:rPr>
              <a:t>Requirements validation;</a:t>
            </a:r>
          </a:p>
          <a:p>
            <a:pPr lvl="1" eaLnBrk="1" hangingPunct="1">
              <a:lnSpc>
                <a:spcPct val="90000"/>
              </a:lnSpc>
            </a:pPr>
            <a:r>
              <a:rPr lang="en-GB" sz="2800" i="1" dirty="0">
                <a:solidFill>
                  <a:srgbClr val="FF0000"/>
                </a:solidFill>
                <a:latin typeface="Calibri" panose="020F0502020204030204" pitchFamily="34" charset="0"/>
                <a:cs typeface="Calibri" panose="020F0502020204030204" pitchFamily="34" charset="0"/>
              </a:rPr>
              <a:t>Requirements management</a:t>
            </a:r>
            <a:r>
              <a:rPr lang="en-GB" sz="2800" dirty="0">
                <a:solidFill>
                  <a:schemeClr val="tx1"/>
                </a:solidFill>
                <a:latin typeface="Calibri" panose="020F0502020204030204" pitchFamily="34" charset="0"/>
                <a:cs typeface="Calibri" panose="020F0502020204030204" pitchFamily="34" charset="0"/>
              </a:rPr>
              <a:t>.</a:t>
            </a:r>
          </a:p>
          <a:p>
            <a:pPr eaLnBrk="1" hangingPunct="1">
              <a:lnSpc>
                <a:spcPct val="90000"/>
              </a:lnSpc>
            </a:pPr>
            <a:r>
              <a:rPr lang="en-GB" sz="2800" dirty="0">
                <a:solidFill>
                  <a:schemeClr val="tx1"/>
                </a:solidFill>
                <a:latin typeface="Calibri" panose="020F0502020204030204" pitchFamily="34" charset="0"/>
                <a:cs typeface="Calibri" panose="020F0502020204030204" pitchFamily="34" charset="0"/>
              </a:rPr>
              <a:t>In practice, RE is an </a:t>
            </a:r>
            <a:r>
              <a:rPr lang="en-GB" sz="2800" dirty="0">
                <a:solidFill>
                  <a:srgbClr val="FF0000"/>
                </a:solidFill>
                <a:latin typeface="Calibri" panose="020F0502020204030204" pitchFamily="34" charset="0"/>
                <a:cs typeface="Calibri" panose="020F0502020204030204" pitchFamily="34" charset="0"/>
              </a:rPr>
              <a:t>iterative</a:t>
            </a:r>
            <a:r>
              <a:rPr lang="en-GB" sz="2800" dirty="0">
                <a:solidFill>
                  <a:schemeClr val="tx1"/>
                </a:solidFill>
                <a:latin typeface="Calibri" panose="020F0502020204030204" pitchFamily="34" charset="0"/>
                <a:cs typeface="Calibri" panose="020F0502020204030204" pitchFamily="34" charset="0"/>
              </a:rPr>
              <a:t> activity. </a:t>
            </a:r>
          </a:p>
          <a:p>
            <a:pPr eaLnBrk="1" hangingPunct="1"/>
            <a:endParaRPr lang="ms-MY"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611560" y="259569"/>
            <a:ext cx="8064896" cy="865175"/>
          </a:xfrm>
        </p:spPr>
        <p:txBody>
          <a:bodyPr/>
          <a:lstStyle/>
          <a:p>
            <a:pPr eaLnBrk="1" hangingPunct="1"/>
            <a:r>
              <a:rPr lang="en-US" b="1" dirty="0">
                <a:solidFill>
                  <a:schemeClr val="accent1"/>
                </a:solidFill>
              </a:rPr>
              <a:t>A Spiral View of the RE Process</a:t>
            </a:r>
            <a:endParaRPr lang="ms-MY" b="1" dirty="0">
              <a:solidFill>
                <a:schemeClr val="accent1"/>
              </a:solidFill>
            </a:endParaRPr>
          </a:p>
        </p:txBody>
      </p:sp>
      <p:pic>
        <p:nvPicPr>
          <p:cNvPr id="18435" name="Picture 3" descr="4.12 ReqEngSpiral.eps"/>
          <p:cNvPicPr>
            <a:picLocks noChangeAspect="1"/>
          </p:cNvPicPr>
          <p:nvPr/>
        </p:nvPicPr>
        <p:blipFill>
          <a:blip r:embed="rId2" cstate="print"/>
          <a:srcRect/>
          <a:stretch>
            <a:fillRect/>
          </a:stretch>
        </p:blipFill>
        <p:spPr bwMode="auto">
          <a:xfrm>
            <a:off x="1403350" y="1628775"/>
            <a:ext cx="6359525" cy="475297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457200" y="215371"/>
            <a:ext cx="8229600" cy="837365"/>
          </a:xfrm>
        </p:spPr>
        <p:txBody>
          <a:bodyPr/>
          <a:lstStyle/>
          <a:p>
            <a:r>
              <a:rPr lang="en-US" sz="3400" dirty="0">
                <a:solidFill>
                  <a:schemeClr val="accent1"/>
                </a:solidFill>
              </a:rPr>
              <a:t>Traditional Methods of Eliciting Requirements</a:t>
            </a:r>
            <a:endParaRPr lang="en-IN" sz="3400" dirty="0">
              <a:solidFill>
                <a:schemeClr val="accent1"/>
              </a:solidFill>
            </a:endParaRPr>
          </a:p>
        </p:txBody>
      </p:sp>
      <p:graphicFrame>
        <p:nvGraphicFramePr>
          <p:cNvPr id="8" name="Table 7">
            <a:extLst>
              <a:ext uri="{FF2B5EF4-FFF2-40B4-BE49-F238E27FC236}">
                <a16:creationId xmlns:a16="http://schemas.microsoft.com/office/drawing/2014/main" id="{C3765E47-EFB8-449B-BA65-C4A35B28419C}"/>
              </a:ext>
            </a:extLst>
          </p:cNvPr>
          <p:cNvGraphicFramePr>
            <a:graphicFrameLocks noGrp="1"/>
          </p:cNvGraphicFramePr>
          <p:nvPr>
            <p:extLst>
              <p:ext uri="{D42A27DB-BD31-4B8C-83A1-F6EECF244321}">
                <p14:modId xmlns:p14="http://schemas.microsoft.com/office/powerpoint/2010/main" val="3247290661"/>
              </p:ext>
            </p:extLst>
          </p:nvPr>
        </p:nvGraphicFramePr>
        <p:xfrm>
          <a:off x="493486" y="1921691"/>
          <a:ext cx="8171543" cy="3576320"/>
        </p:xfrm>
        <a:graphic>
          <a:graphicData uri="http://schemas.openxmlformats.org/drawingml/2006/table">
            <a:tbl>
              <a:tblPr firstRow="1" bandRow="1">
                <a:tableStyleId>{2D5ABB26-0587-4C30-8999-92F81FD0307C}</a:tableStyleId>
              </a:tblPr>
              <a:tblGrid>
                <a:gridCol w="8171543">
                  <a:extLst>
                    <a:ext uri="{9D8B030D-6E8A-4147-A177-3AD203B41FA5}">
                      <a16:colId xmlns:a16="http://schemas.microsoft.com/office/drawing/2014/main" val="3509419270"/>
                    </a:ext>
                  </a:extLst>
                </a:gridCol>
              </a:tblGrid>
              <a:tr h="370840">
                <a:tc>
                  <a:txBody>
                    <a:bodyPr/>
                    <a:lstStyle/>
                    <a:p>
                      <a:r>
                        <a:rPr lang="en-US" sz="1800" b="1" dirty="0"/>
                        <a:t>Traditional Methods of Eliciting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95110056"/>
                  </a:ext>
                </a:extLst>
              </a:tr>
              <a:tr h="370840">
                <a:tc>
                  <a:txBody>
                    <a:bodyPr/>
                    <a:lstStyle/>
                    <a:p>
                      <a:pPr marL="256032" indent="-256032">
                        <a:spcBef>
                          <a:spcPts val="1500"/>
                        </a:spcBef>
                        <a:buClr>
                          <a:srgbClr val="007FA3"/>
                        </a:buClr>
                        <a:buFont typeface="Arial" panose="020B0604020202020204" pitchFamily="34" charset="0"/>
                        <a:buChar char="•"/>
                      </a:pPr>
                      <a:r>
                        <a:rPr lang="en-US" sz="1800" b="1" dirty="0">
                          <a:solidFill>
                            <a:srgbClr val="FF0000"/>
                          </a:solidFill>
                        </a:rPr>
                        <a:t>Individually interview</a:t>
                      </a:r>
                      <a:r>
                        <a:rPr lang="en-US" sz="1800" dirty="0"/>
                        <a:t> people informed about the operation and issues of the current system and future systems needs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050467"/>
                  </a:ext>
                </a:extLst>
              </a:tr>
              <a:tr h="370840">
                <a:tc>
                  <a:txBody>
                    <a:bodyPr/>
                    <a:lstStyle/>
                    <a:p>
                      <a:pPr marL="256032" indent="-256032">
                        <a:spcBef>
                          <a:spcPts val="1500"/>
                        </a:spcBef>
                        <a:buClr>
                          <a:srgbClr val="007FA3"/>
                        </a:buClr>
                        <a:buFont typeface="Arial" panose="020B0604020202020204" pitchFamily="34" charset="0"/>
                        <a:buChar char="•"/>
                      </a:pPr>
                      <a:r>
                        <a:rPr lang="en-US" sz="1800" b="1" dirty="0">
                          <a:solidFill>
                            <a:srgbClr val="FF0000"/>
                          </a:solidFill>
                        </a:rPr>
                        <a:t>Interview groups </a:t>
                      </a:r>
                      <a:r>
                        <a:rPr lang="en-US" sz="1800" dirty="0"/>
                        <a:t>of people with diverse needs to find synergies and contrasts among system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3914880"/>
                  </a:ext>
                </a:extLst>
              </a:tr>
              <a:tr h="370840">
                <a:tc>
                  <a:txBody>
                    <a:bodyPr/>
                    <a:lstStyle/>
                    <a:p>
                      <a:pPr marL="256032" indent="-256032">
                        <a:spcBef>
                          <a:spcPts val="1500"/>
                        </a:spcBef>
                        <a:buClr>
                          <a:srgbClr val="007FA3"/>
                        </a:buClr>
                        <a:buFont typeface="Arial" panose="020B0604020202020204" pitchFamily="34" charset="0"/>
                        <a:buChar char="•"/>
                      </a:pPr>
                      <a:r>
                        <a:rPr lang="en-US" sz="1800" b="1" dirty="0">
                          <a:solidFill>
                            <a:srgbClr val="FF0000"/>
                          </a:solidFill>
                        </a:rPr>
                        <a:t>Observe</a:t>
                      </a:r>
                      <a:r>
                        <a:rPr lang="en-US" sz="1800" dirty="0"/>
                        <a:t> workers at selected times to see how data are handled and what information people need to do their jobs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3947590"/>
                  </a:ext>
                </a:extLst>
              </a:tr>
              <a:tr h="370840">
                <a:tc>
                  <a:txBody>
                    <a:bodyPr/>
                    <a:lstStyle/>
                    <a:p>
                      <a:pPr marL="256032" indent="-256032">
                        <a:spcBef>
                          <a:spcPts val="1500"/>
                        </a:spcBef>
                        <a:buClr>
                          <a:srgbClr val="007FA3"/>
                        </a:buClr>
                        <a:buFont typeface="Arial" panose="020B0604020202020204" pitchFamily="34" charset="0"/>
                        <a:buChar char="•"/>
                      </a:pPr>
                      <a:r>
                        <a:rPr lang="en-US" sz="1800" b="1" dirty="0">
                          <a:solidFill>
                            <a:srgbClr val="FF0000"/>
                          </a:solidFill>
                        </a:rPr>
                        <a:t>Study business documents </a:t>
                      </a:r>
                      <a:r>
                        <a:rPr lang="en-US" sz="1800" dirty="0"/>
                        <a:t>to discover reported issues, policies, rules, and directions as well as concrete examples of the use of data and information in the organization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9863649"/>
                  </a:ext>
                </a:extLst>
              </a:tr>
              <a:tr h="370840">
                <a:tc>
                  <a:txBody>
                    <a:bodyPr/>
                    <a:lstStyle/>
                    <a:p>
                      <a:pPr marL="256032" indent="-256032">
                        <a:spcBef>
                          <a:spcPts val="1500"/>
                        </a:spcBef>
                        <a:buClr>
                          <a:srgbClr val="007FA3"/>
                        </a:buClr>
                        <a:buFont typeface="Arial" panose="020B0604020202020204" pitchFamily="34" charset="0"/>
                        <a:buChar char="•"/>
                      </a:pPr>
                      <a:r>
                        <a:rPr lang="en-US" sz="1800" b="1" dirty="0">
                          <a:solidFill>
                            <a:srgbClr val="FF0000"/>
                          </a:solidFill>
                        </a:rPr>
                        <a:t>Distributing questionnaire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5966101"/>
                  </a:ext>
                </a:extLst>
              </a:tr>
            </a:tbl>
          </a:graphicData>
        </a:graphic>
      </p:graphicFrame>
    </p:spTree>
    <p:extLst>
      <p:ext uri="{BB962C8B-B14F-4D97-AF65-F5344CB8AC3E}">
        <p14:creationId xmlns:p14="http://schemas.microsoft.com/office/powerpoint/2010/main" val="3352439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429775" y="418429"/>
            <a:ext cx="8507288" cy="596147"/>
          </a:xfrm>
        </p:spPr>
        <p:txBody>
          <a:bodyPr/>
          <a:lstStyle/>
          <a:p>
            <a:r>
              <a:rPr lang="en-US" sz="3400" dirty="0">
                <a:solidFill>
                  <a:schemeClr val="accent1"/>
                </a:solidFill>
              </a:rPr>
              <a:t>Contemporary Methods of Eliciting Requirements</a:t>
            </a:r>
            <a:endParaRPr lang="en-IN" sz="3400" dirty="0">
              <a:solidFill>
                <a:schemeClr val="accent1"/>
              </a:solidFill>
            </a:endParaRPr>
          </a:p>
        </p:txBody>
      </p:sp>
      <p:graphicFrame>
        <p:nvGraphicFramePr>
          <p:cNvPr id="2" name="Table 1">
            <a:extLst>
              <a:ext uri="{FF2B5EF4-FFF2-40B4-BE49-F238E27FC236}">
                <a16:creationId xmlns:a16="http://schemas.microsoft.com/office/drawing/2014/main" id="{5FAE415E-28EB-4D31-A86E-B290EC5F5C05}"/>
              </a:ext>
            </a:extLst>
          </p:cNvPr>
          <p:cNvGraphicFramePr>
            <a:graphicFrameLocks noGrp="1"/>
          </p:cNvGraphicFramePr>
          <p:nvPr>
            <p:extLst>
              <p:ext uri="{D42A27DB-BD31-4B8C-83A1-F6EECF244321}">
                <p14:modId xmlns:p14="http://schemas.microsoft.com/office/powerpoint/2010/main" val="2751851808"/>
              </p:ext>
            </p:extLst>
          </p:nvPr>
        </p:nvGraphicFramePr>
        <p:xfrm>
          <a:off x="457200" y="1963057"/>
          <a:ext cx="8352971" cy="2103120"/>
        </p:xfrm>
        <a:graphic>
          <a:graphicData uri="http://schemas.openxmlformats.org/drawingml/2006/table">
            <a:tbl>
              <a:tblPr firstRow="1" bandRow="1">
                <a:tableStyleId>{2D5ABB26-0587-4C30-8999-92F81FD0307C}</a:tableStyleId>
              </a:tblPr>
              <a:tblGrid>
                <a:gridCol w="8352971">
                  <a:extLst>
                    <a:ext uri="{9D8B030D-6E8A-4147-A177-3AD203B41FA5}">
                      <a16:colId xmlns:a16="http://schemas.microsoft.com/office/drawing/2014/main" val="3782333282"/>
                    </a:ext>
                  </a:extLst>
                </a:gridCol>
              </a:tblGrid>
              <a:tr h="370840">
                <a:tc>
                  <a:txBody>
                    <a:bodyPr/>
                    <a:lstStyle/>
                    <a:p>
                      <a:r>
                        <a:rPr lang="en-US" sz="2000" b="1" i="0" dirty="0"/>
                        <a:t>Contemporary Methods of Eliciting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6717912"/>
                  </a:ext>
                </a:extLst>
              </a:tr>
              <a:tr h="370840">
                <a:tc>
                  <a:txBody>
                    <a:bodyPr/>
                    <a:lstStyle/>
                    <a:p>
                      <a:r>
                        <a:rPr lang="en-US" sz="2000" dirty="0"/>
                        <a:t>Bringing session users, sponsors, analysts, and others together in a </a:t>
                      </a:r>
                      <a:r>
                        <a:rPr lang="en-US" sz="2000" b="1" dirty="0">
                          <a:solidFill>
                            <a:srgbClr val="FF0000"/>
                          </a:solidFill>
                        </a:rPr>
                        <a:t>J</a:t>
                      </a:r>
                      <a:r>
                        <a:rPr lang="en-US" sz="200" b="1" dirty="0">
                          <a:solidFill>
                            <a:srgbClr val="FF0000"/>
                          </a:solidFill>
                        </a:rPr>
                        <a:t> </a:t>
                      </a:r>
                      <a:r>
                        <a:rPr lang="en-US" sz="2000" b="1" dirty="0">
                          <a:solidFill>
                            <a:srgbClr val="FF0000"/>
                          </a:solidFill>
                        </a:rPr>
                        <a:t>A</a:t>
                      </a:r>
                      <a:r>
                        <a:rPr lang="en-US" sz="200" b="1" dirty="0">
                          <a:solidFill>
                            <a:srgbClr val="FF0000"/>
                          </a:solidFill>
                        </a:rPr>
                        <a:t> </a:t>
                      </a:r>
                      <a:r>
                        <a:rPr lang="en-US" sz="2000" b="1" dirty="0">
                          <a:solidFill>
                            <a:srgbClr val="FF0000"/>
                          </a:solidFill>
                        </a:rPr>
                        <a:t>D session </a:t>
                      </a:r>
                      <a:r>
                        <a:rPr lang="en-US" sz="2000" dirty="0"/>
                        <a:t>to discuss and review system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2441898"/>
                  </a:ext>
                </a:extLst>
              </a:tr>
              <a:tr h="370840">
                <a:tc>
                  <a:txBody>
                    <a:bodyPr/>
                    <a:lstStyle/>
                    <a:p>
                      <a:r>
                        <a:rPr lang="en-US" sz="2000" dirty="0"/>
                        <a:t>Iteratively </a:t>
                      </a:r>
                      <a:r>
                        <a:rPr lang="en-US" sz="2000" b="1" dirty="0">
                          <a:solidFill>
                            <a:srgbClr val="FF0000"/>
                          </a:solidFill>
                        </a:rPr>
                        <a:t>developing system prototypes </a:t>
                      </a:r>
                      <a:r>
                        <a:rPr lang="en-US" sz="2000" dirty="0"/>
                        <a:t>that refine the understanding of system requirements in concrete terms by showing working versions of system features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2397246"/>
                  </a:ext>
                </a:extLst>
              </a:tr>
            </a:tbl>
          </a:graphicData>
        </a:graphic>
      </p:graphicFrame>
      <p:sp>
        <p:nvSpPr>
          <p:cNvPr id="5" name="TextBox 4">
            <a:extLst>
              <a:ext uri="{FF2B5EF4-FFF2-40B4-BE49-F238E27FC236}">
                <a16:creationId xmlns:a16="http://schemas.microsoft.com/office/drawing/2014/main" id="{AE6BBEAD-DB54-A91E-0E86-4E8B11D02228}"/>
              </a:ext>
            </a:extLst>
          </p:cNvPr>
          <p:cNvSpPr txBox="1"/>
          <p:nvPr/>
        </p:nvSpPr>
        <p:spPr>
          <a:xfrm>
            <a:off x="457199" y="4941168"/>
            <a:ext cx="8352971" cy="1200329"/>
          </a:xfrm>
          <a:prstGeom prst="rect">
            <a:avLst/>
          </a:prstGeom>
          <a:noFill/>
        </p:spPr>
        <p:txBody>
          <a:bodyPr wrap="square">
            <a:spAutoFit/>
          </a:bodyPr>
          <a:lstStyle/>
          <a:p>
            <a:r>
              <a:rPr lang="en-US" b="0" i="0" dirty="0">
                <a:solidFill>
                  <a:srgbClr val="202124"/>
                </a:solidFill>
                <a:effectLst/>
                <a:latin typeface="arial" panose="020B0604020202020204" pitchFamily="34" charset="0"/>
              </a:rPr>
              <a:t>A JAD is a </a:t>
            </a:r>
            <a:r>
              <a:rPr lang="en-US" b="1" i="0" dirty="0">
                <a:solidFill>
                  <a:srgbClr val="FF0000"/>
                </a:solidFill>
                <a:effectLst/>
                <a:latin typeface="arial" panose="020B0604020202020204" pitchFamily="34" charset="0"/>
              </a:rPr>
              <a:t>Joint Application Development (or Design) session</a:t>
            </a:r>
            <a:r>
              <a:rPr lang="en-US" b="0" i="0" dirty="0">
                <a:solidFill>
                  <a:srgbClr val="202124"/>
                </a:solidFill>
                <a:effectLst/>
                <a:latin typeface="arial" panose="020B0604020202020204" pitchFamily="34" charset="0"/>
              </a:rPr>
              <a:t>. It is an opportunity for stakeholders with different points of view to come together to understand business requirements and brainstorm what the best technical approach might be for meeting the customer's needs.</a:t>
            </a:r>
            <a:endParaRPr lang="en-MY" dirty="0"/>
          </a:p>
        </p:txBody>
      </p:sp>
    </p:spTree>
    <p:extLst>
      <p:ext uri="{BB962C8B-B14F-4D97-AF65-F5344CB8AC3E}">
        <p14:creationId xmlns:p14="http://schemas.microsoft.com/office/powerpoint/2010/main" val="252319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609599" y="365127"/>
            <a:ext cx="7905751" cy="903634"/>
          </a:xfrm>
        </p:spPr>
        <p:txBody>
          <a:bodyPr>
            <a:normAutofit/>
          </a:bodyPr>
          <a:lstStyle/>
          <a:p>
            <a:r>
              <a:rPr lang="en-US" sz="3600" b="1" dirty="0">
                <a:solidFill>
                  <a:schemeClr val="accent1"/>
                </a:solidFill>
              </a:rPr>
              <a:t>Requirements Elicitation</a:t>
            </a:r>
          </a:p>
        </p:txBody>
      </p:sp>
      <p:sp>
        <p:nvSpPr>
          <p:cNvPr id="10243" name="Rectangle 3"/>
          <p:cNvSpPr>
            <a:spLocks noGrp="1"/>
          </p:cNvSpPr>
          <p:nvPr>
            <p:ph idx="1"/>
          </p:nvPr>
        </p:nvSpPr>
        <p:spPr>
          <a:xfrm>
            <a:off x="609598" y="1772816"/>
            <a:ext cx="8426897" cy="4268547"/>
          </a:xfrm>
        </p:spPr>
        <p:txBody>
          <a:bodyPr>
            <a:normAutofit/>
          </a:bodyPr>
          <a:lstStyle/>
          <a:p>
            <a:r>
              <a:rPr lang="en-US" sz="2800" b="1" dirty="0">
                <a:latin typeface="Calibri" panose="020F0502020204030204" pitchFamily="34" charset="0"/>
                <a:cs typeface="Calibri" panose="020F0502020204030204" pitchFamily="34" charset="0"/>
              </a:rPr>
              <a:t>Problems discovered during Requirements Elicitation</a:t>
            </a:r>
          </a:p>
          <a:p>
            <a:pPr lvl="1"/>
            <a:r>
              <a:rPr lang="en-US" sz="2800" b="1" dirty="0">
                <a:solidFill>
                  <a:srgbClr val="FF0000"/>
                </a:solidFill>
                <a:latin typeface="Calibri" panose="020F0502020204030204" pitchFamily="34" charset="0"/>
                <a:cs typeface="Calibri" panose="020F0502020204030204" pitchFamily="34" charset="0"/>
              </a:rPr>
              <a:t>Problems of scope:</a:t>
            </a:r>
            <a:r>
              <a:rPr lang="en-US" sz="2800" dirty="0">
                <a:solidFill>
                  <a:srgbClr val="FF0000"/>
                </a:solidFill>
                <a:latin typeface="Calibri" panose="020F0502020204030204" pitchFamily="34" charset="0"/>
                <a:cs typeface="Calibri" panose="020F0502020204030204" pitchFamily="34" charset="0"/>
              </a:rPr>
              <a:t> </a:t>
            </a:r>
            <a:r>
              <a:rPr lang="en-US" sz="2800" dirty="0">
                <a:latin typeface="Calibri" panose="020F0502020204030204" pitchFamily="34" charset="0"/>
                <a:cs typeface="Calibri" panose="020F0502020204030204" pitchFamily="34" charset="0"/>
              </a:rPr>
              <a:t>The boundary of system is ill-defined. Or unnecessary details are provided.</a:t>
            </a:r>
          </a:p>
          <a:p>
            <a:pPr lvl="1"/>
            <a:r>
              <a:rPr lang="en-US" sz="2800" b="1" dirty="0">
                <a:solidFill>
                  <a:srgbClr val="FF0000"/>
                </a:solidFill>
                <a:latin typeface="Calibri" panose="020F0502020204030204" pitchFamily="34" charset="0"/>
                <a:cs typeface="Calibri" panose="020F0502020204030204" pitchFamily="34" charset="0"/>
              </a:rPr>
              <a:t>Problems of understanding:</a:t>
            </a:r>
            <a:r>
              <a:rPr lang="en-US" sz="2800" dirty="0">
                <a:solidFill>
                  <a:srgbClr val="FF0000"/>
                </a:solidFill>
                <a:latin typeface="Calibri" panose="020F0502020204030204" pitchFamily="34" charset="0"/>
                <a:cs typeface="Calibri" panose="020F0502020204030204" pitchFamily="34" charset="0"/>
              </a:rPr>
              <a:t> </a:t>
            </a:r>
            <a:r>
              <a:rPr lang="en-US" sz="2800" dirty="0">
                <a:latin typeface="Calibri" panose="020F0502020204030204" pitchFamily="34" charset="0"/>
                <a:cs typeface="Calibri" panose="020F0502020204030204" pitchFamily="34" charset="0"/>
              </a:rPr>
              <a:t>The users are not sure of what they need, and don’t have full understanding of the problem domain.</a:t>
            </a:r>
          </a:p>
          <a:p>
            <a:pPr lvl="1"/>
            <a:r>
              <a:rPr lang="en-US" sz="2800" b="1" dirty="0">
                <a:solidFill>
                  <a:srgbClr val="FF0000"/>
                </a:solidFill>
                <a:latin typeface="Calibri" panose="020F0502020204030204" pitchFamily="34" charset="0"/>
                <a:cs typeface="Calibri" panose="020F0502020204030204" pitchFamily="34" charset="0"/>
              </a:rPr>
              <a:t>Problems of volatility:</a:t>
            </a:r>
            <a:r>
              <a:rPr lang="en-US" sz="2800" dirty="0">
                <a:latin typeface="Calibri" panose="020F0502020204030204" pitchFamily="34" charset="0"/>
                <a:cs typeface="Calibri" panose="020F0502020204030204" pitchFamily="34" charset="0"/>
              </a:rPr>
              <a:t> the requirements change overtime.</a:t>
            </a:r>
          </a:p>
          <a:p>
            <a:pPr lvl="1">
              <a:buFont typeface="Wingdings 2" panose="05020102010507070707" pitchFamily="18" charset="2"/>
              <a:buNone/>
            </a:pPr>
            <a:endParaRPr lang="en-US" sz="2800" dirty="0">
              <a:latin typeface="Calibri" panose="020F0502020204030204" pitchFamily="34" charset="0"/>
              <a:cs typeface="Calibri" panose="020F0502020204030204" pitchFamily="34" charset="0"/>
            </a:endParaRPr>
          </a:p>
          <a:p>
            <a:pPr lvl="1">
              <a:buFont typeface="Wingdings 2" panose="05020102010507070707" pitchFamily="18" charset="2"/>
              <a:buNone/>
            </a:pPr>
            <a:endParaRPr lang="en-US" dirty="0"/>
          </a:p>
        </p:txBody>
      </p:sp>
    </p:spTree>
    <p:extLst>
      <p:ext uri="{BB962C8B-B14F-4D97-AF65-F5344CB8AC3E}">
        <p14:creationId xmlns:p14="http://schemas.microsoft.com/office/powerpoint/2010/main" val="2882917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628650" y="365127"/>
            <a:ext cx="7886700" cy="831626"/>
          </a:xfrm>
        </p:spPr>
        <p:txBody>
          <a:bodyPr>
            <a:normAutofit/>
          </a:bodyPr>
          <a:lstStyle/>
          <a:p>
            <a:r>
              <a:rPr lang="en-US" sz="3600" b="1" dirty="0">
                <a:solidFill>
                  <a:schemeClr val="accent1"/>
                </a:solidFill>
              </a:rPr>
              <a:t>Requirements Elicitation</a:t>
            </a:r>
          </a:p>
        </p:txBody>
      </p:sp>
      <p:sp>
        <p:nvSpPr>
          <p:cNvPr id="11267" name="Rectangle 3"/>
          <p:cNvSpPr>
            <a:spLocks noGrp="1"/>
          </p:cNvSpPr>
          <p:nvPr>
            <p:ph idx="1"/>
          </p:nvPr>
        </p:nvSpPr>
        <p:spPr>
          <a:xfrm>
            <a:off x="395536" y="1484784"/>
            <a:ext cx="8229600" cy="5256584"/>
          </a:xfrm>
        </p:spPr>
        <p:txBody>
          <a:bodyPr>
            <a:normAutofit fontScale="92500" lnSpcReduction="10000"/>
          </a:bodyPr>
          <a:lstStyle/>
          <a:p>
            <a:pPr>
              <a:lnSpc>
                <a:spcPct val="90000"/>
              </a:lnSpc>
            </a:pPr>
            <a:r>
              <a:rPr lang="en-US" sz="2800" b="1" dirty="0"/>
              <a:t>Guidelines of Requirements Elicitation</a:t>
            </a:r>
          </a:p>
          <a:p>
            <a:pPr lvl="1">
              <a:lnSpc>
                <a:spcPct val="90000"/>
              </a:lnSpc>
            </a:pPr>
            <a:r>
              <a:rPr lang="en-US" sz="2400" dirty="0"/>
              <a:t>Assess the </a:t>
            </a:r>
            <a:r>
              <a:rPr lang="en-US" sz="2400" dirty="0">
                <a:solidFill>
                  <a:srgbClr val="FF0000"/>
                </a:solidFill>
              </a:rPr>
              <a:t>business and technical feasibility </a:t>
            </a:r>
            <a:r>
              <a:rPr lang="en-US" sz="2400" dirty="0"/>
              <a:t>for the proposed system</a:t>
            </a:r>
          </a:p>
          <a:p>
            <a:pPr lvl="1">
              <a:lnSpc>
                <a:spcPct val="90000"/>
              </a:lnSpc>
            </a:pPr>
            <a:r>
              <a:rPr lang="en-US" sz="2400" dirty="0"/>
              <a:t>Identify the </a:t>
            </a:r>
            <a:r>
              <a:rPr lang="en-US" sz="2400" dirty="0">
                <a:solidFill>
                  <a:srgbClr val="FF0000"/>
                </a:solidFill>
              </a:rPr>
              <a:t>people </a:t>
            </a:r>
            <a:r>
              <a:rPr lang="en-US" sz="2400" dirty="0"/>
              <a:t>who will help specify requirements.</a:t>
            </a:r>
          </a:p>
          <a:p>
            <a:pPr lvl="1">
              <a:lnSpc>
                <a:spcPct val="90000"/>
              </a:lnSpc>
            </a:pPr>
            <a:r>
              <a:rPr lang="en-US" sz="2400" dirty="0"/>
              <a:t>Define the </a:t>
            </a:r>
            <a:r>
              <a:rPr lang="en-US" sz="2400" dirty="0">
                <a:solidFill>
                  <a:srgbClr val="FF0000"/>
                </a:solidFill>
              </a:rPr>
              <a:t>technical environment </a:t>
            </a:r>
            <a:r>
              <a:rPr lang="en-US" sz="2400" dirty="0"/>
              <a:t>(e.g. computing architecture, operating system, telecommunication needs) into which the system or product will be placed</a:t>
            </a:r>
          </a:p>
          <a:p>
            <a:pPr lvl="1">
              <a:lnSpc>
                <a:spcPct val="90000"/>
              </a:lnSpc>
            </a:pPr>
            <a:r>
              <a:rPr lang="en-US" sz="2400" dirty="0"/>
              <a:t>Identify “</a:t>
            </a:r>
            <a:r>
              <a:rPr lang="en-US" sz="2400" dirty="0">
                <a:solidFill>
                  <a:srgbClr val="FF0000"/>
                </a:solidFill>
              </a:rPr>
              <a:t>domain constraints</a:t>
            </a:r>
            <a:r>
              <a:rPr lang="en-US" sz="2400" dirty="0"/>
              <a:t>” (i.e. characteristics of the business environment specific to the application domain) that limit the functionality or performance of the system or product to build</a:t>
            </a:r>
          </a:p>
          <a:p>
            <a:pPr lvl="1">
              <a:lnSpc>
                <a:spcPct val="90000"/>
              </a:lnSpc>
            </a:pPr>
            <a:r>
              <a:rPr lang="en-US" sz="2400" dirty="0"/>
              <a:t>Define </a:t>
            </a:r>
            <a:r>
              <a:rPr lang="en-US" sz="2400" dirty="0">
                <a:solidFill>
                  <a:srgbClr val="FF0000"/>
                </a:solidFill>
              </a:rPr>
              <a:t>one or more requirements elicitation methods </a:t>
            </a:r>
            <a:r>
              <a:rPr lang="en-US" sz="2400" dirty="0"/>
              <a:t>(e.g. interviews, team meetings, ..</a:t>
            </a:r>
            <a:r>
              <a:rPr lang="en-US" sz="2400" dirty="0" err="1"/>
              <a:t>etc</a:t>
            </a:r>
            <a:r>
              <a:rPr lang="en-US" sz="2400" dirty="0"/>
              <a:t>)</a:t>
            </a:r>
          </a:p>
          <a:p>
            <a:pPr lvl="1">
              <a:lnSpc>
                <a:spcPct val="90000"/>
              </a:lnSpc>
            </a:pPr>
            <a:r>
              <a:rPr lang="en-US" sz="2400" dirty="0"/>
              <a:t>Solicit participation from many people so that requirements are defined from </a:t>
            </a:r>
            <a:r>
              <a:rPr lang="en-US" sz="2400" dirty="0">
                <a:solidFill>
                  <a:srgbClr val="FF0000"/>
                </a:solidFill>
              </a:rPr>
              <a:t>different point of views</a:t>
            </a:r>
            <a:r>
              <a:rPr lang="en-US" sz="2400" dirty="0"/>
              <a:t>. </a:t>
            </a:r>
          </a:p>
          <a:p>
            <a:pPr lvl="1">
              <a:lnSpc>
                <a:spcPct val="90000"/>
              </a:lnSpc>
            </a:pPr>
            <a:r>
              <a:rPr lang="en-US" sz="2400" dirty="0">
                <a:solidFill>
                  <a:srgbClr val="FF0000"/>
                </a:solidFill>
              </a:rPr>
              <a:t>Create usage scenarios </a:t>
            </a:r>
            <a:r>
              <a:rPr lang="en-US" sz="2400" dirty="0"/>
              <a:t>of use cases to help customers/ users better identify key requirements.</a:t>
            </a:r>
          </a:p>
        </p:txBody>
      </p:sp>
    </p:spTree>
    <p:extLst>
      <p:ext uri="{BB962C8B-B14F-4D97-AF65-F5344CB8AC3E}">
        <p14:creationId xmlns:p14="http://schemas.microsoft.com/office/powerpoint/2010/main" val="3758669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b="1" dirty="0">
                <a:solidFill>
                  <a:schemeClr val="accent1"/>
                </a:solidFill>
              </a:rPr>
              <a:t>Interviewing</a:t>
            </a:r>
            <a:endParaRPr lang="ms-MY" b="1" dirty="0">
              <a:solidFill>
                <a:schemeClr val="accent1"/>
              </a:solidFill>
            </a:endParaRPr>
          </a:p>
        </p:txBody>
      </p:sp>
      <p:sp>
        <p:nvSpPr>
          <p:cNvPr id="24579" name="Content Placeholder 2"/>
          <p:cNvSpPr>
            <a:spLocks noGrp="1"/>
          </p:cNvSpPr>
          <p:nvPr>
            <p:ph idx="1"/>
          </p:nvPr>
        </p:nvSpPr>
        <p:spPr>
          <a:xfrm>
            <a:off x="609598" y="1556792"/>
            <a:ext cx="8138866" cy="4936082"/>
          </a:xfrm>
        </p:spPr>
        <p:txBody>
          <a:bodyPr>
            <a:normAutofit/>
          </a:bodyPr>
          <a:lstStyle/>
          <a:p>
            <a:pPr eaLnBrk="1" hangingPunct="1"/>
            <a:r>
              <a:rPr lang="en-US" sz="2400" dirty="0"/>
              <a:t>Formal or informal interviews with stakeholders are part of most requirements elicitation processes.</a:t>
            </a:r>
          </a:p>
          <a:p>
            <a:pPr eaLnBrk="1" hangingPunct="1"/>
            <a:r>
              <a:rPr lang="en-US" sz="2400" dirty="0">
                <a:solidFill>
                  <a:srgbClr val="FF0000"/>
                </a:solidFill>
              </a:rPr>
              <a:t>Types of interview</a:t>
            </a:r>
          </a:p>
          <a:p>
            <a:pPr lvl="1" eaLnBrk="1" hangingPunct="1"/>
            <a:r>
              <a:rPr lang="en-US" sz="2400" dirty="0">
                <a:solidFill>
                  <a:schemeClr val="accent1"/>
                </a:solidFill>
              </a:rPr>
              <a:t>Closed interviews </a:t>
            </a:r>
            <a:r>
              <a:rPr lang="en-US" sz="2400" dirty="0"/>
              <a:t>based on pre-determined list of questions</a:t>
            </a:r>
          </a:p>
          <a:p>
            <a:pPr lvl="1" eaLnBrk="1" hangingPunct="1"/>
            <a:r>
              <a:rPr lang="en-US" sz="2400" dirty="0">
                <a:solidFill>
                  <a:schemeClr val="accent1"/>
                </a:solidFill>
              </a:rPr>
              <a:t>Open interviews </a:t>
            </a:r>
            <a:r>
              <a:rPr lang="en-US" sz="2400" dirty="0"/>
              <a:t>where various issues are explored with stakeholders.</a:t>
            </a:r>
          </a:p>
          <a:p>
            <a:pPr eaLnBrk="1" hangingPunct="1"/>
            <a:r>
              <a:rPr lang="en-US" sz="2400" dirty="0">
                <a:solidFill>
                  <a:srgbClr val="FF0000"/>
                </a:solidFill>
              </a:rPr>
              <a:t>Effective interviewing</a:t>
            </a:r>
          </a:p>
          <a:p>
            <a:pPr lvl="1" eaLnBrk="1" hangingPunct="1"/>
            <a:r>
              <a:rPr lang="en-US" sz="2400" dirty="0"/>
              <a:t>Be open-minded, avoid pre-conceived ideas about the requirements and are willing to listen to stakeholders. </a:t>
            </a:r>
            <a:endParaRPr lang="en-GB" sz="2400" dirty="0"/>
          </a:p>
          <a:p>
            <a:pPr lvl="1" eaLnBrk="1" hangingPunct="1"/>
            <a:r>
              <a:rPr lang="en-US" sz="2400" dirty="0"/>
              <a:t>Prompt the interviewee to get discussions going using a springboard question, a requirements proposal, or by working together on a prototype system. </a:t>
            </a:r>
          </a:p>
          <a:p>
            <a:pPr eaLnBrk="1" hangingPunct="1"/>
            <a:endParaRPr lang="ms-MY"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628650" y="365126"/>
            <a:ext cx="8407846" cy="1479698"/>
          </a:xfrm>
        </p:spPr>
        <p:txBody>
          <a:bodyPr/>
          <a:lstStyle/>
          <a:p>
            <a:pPr eaLnBrk="1" hangingPunct="1"/>
            <a:r>
              <a:rPr lang="en-US" sz="3600" b="1" dirty="0">
                <a:solidFill>
                  <a:schemeClr val="accent1"/>
                </a:solidFill>
              </a:rPr>
              <a:t>Interviewing Users and Other Stakeholders </a:t>
            </a:r>
          </a:p>
        </p:txBody>
      </p:sp>
      <p:sp>
        <p:nvSpPr>
          <p:cNvPr id="15364" name="Rectangle 3"/>
          <p:cNvSpPr>
            <a:spLocks noGrp="1" noChangeArrowheads="1"/>
          </p:cNvSpPr>
          <p:nvPr>
            <p:ph idx="1"/>
          </p:nvPr>
        </p:nvSpPr>
        <p:spPr>
          <a:xfrm>
            <a:off x="609599" y="2132856"/>
            <a:ext cx="7643192" cy="3240360"/>
          </a:xfrm>
        </p:spPr>
        <p:txBody>
          <a:bodyPr/>
          <a:lstStyle/>
          <a:p>
            <a:pPr eaLnBrk="1" hangingPunct="1"/>
            <a:r>
              <a:rPr lang="en-US" sz="2800" dirty="0">
                <a:latin typeface="Calibri" panose="020F0502020204030204" pitchFamily="34" charset="0"/>
                <a:cs typeface="Calibri" panose="020F0502020204030204" pitchFamily="34" charset="0"/>
              </a:rPr>
              <a:t>Prepare detailed questions</a:t>
            </a:r>
            <a:endParaRPr lang="en-US" altLang="zh-CN" sz="2800" dirty="0">
              <a:latin typeface="Calibri" panose="020F0502020204030204" pitchFamily="34" charset="0"/>
              <a:ea typeface="宋体" panose="02010600030101010101" pitchFamily="2" charset="-122"/>
              <a:cs typeface="Calibri" panose="020F0502020204030204" pitchFamily="34" charset="0"/>
            </a:endParaRPr>
          </a:p>
          <a:p>
            <a:pPr eaLnBrk="1" hangingPunct="1"/>
            <a:r>
              <a:rPr lang="en-US" altLang="zh-CN" sz="2800" dirty="0">
                <a:latin typeface="Calibri" panose="020F0502020204030204" pitchFamily="34" charset="0"/>
                <a:ea typeface="宋体" panose="02010600030101010101" pitchFamily="2" charset="-122"/>
                <a:cs typeface="Calibri" panose="020F0502020204030204" pitchFamily="34" charset="0"/>
              </a:rPr>
              <a:t>Meet with individuals or groups of users</a:t>
            </a:r>
          </a:p>
          <a:p>
            <a:pPr eaLnBrk="1" hangingPunct="1"/>
            <a:r>
              <a:rPr lang="en-US" altLang="zh-CN" sz="2800" dirty="0">
                <a:latin typeface="Calibri" panose="020F0502020204030204" pitchFamily="34" charset="0"/>
                <a:ea typeface="宋体" panose="02010600030101010101" pitchFamily="2" charset="-122"/>
                <a:cs typeface="Calibri" panose="020F0502020204030204" pitchFamily="34" charset="0"/>
              </a:rPr>
              <a:t>Obtain and discuss answers to the questions</a:t>
            </a:r>
          </a:p>
          <a:p>
            <a:pPr eaLnBrk="1" hangingPunct="1"/>
            <a:r>
              <a:rPr lang="en-US" altLang="zh-CN" sz="2800" dirty="0">
                <a:latin typeface="Calibri" panose="020F0502020204030204" pitchFamily="34" charset="0"/>
                <a:ea typeface="宋体" panose="02010600030101010101" pitchFamily="2" charset="-122"/>
                <a:cs typeface="Calibri" panose="020F0502020204030204" pitchFamily="34" charset="0"/>
              </a:rPr>
              <a:t>Document the answers</a:t>
            </a:r>
          </a:p>
          <a:p>
            <a:pPr eaLnBrk="1" hangingPunct="1"/>
            <a:r>
              <a:rPr lang="en-US" altLang="zh-CN" sz="2800" dirty="0">
                <a:solidFill>
                  <a:srgbClr val="FF0000"/>
                </a:solidFill>
                <a:latin typeface="Calibri" panose="020F0502020204030204" pitchFamily="34" charset="0"/>
                <a:ea typeface="宋体" panose="02010600030101010101" pitchFamily="2" charset="-122"/>
                <a:cs typeface="Calibri" panose="020F0502020204030204" pitchFamily="34" charset="0"/>
              </a:rPr>
              <a:t>Follow up </a:t>
            </a:r>
            <a:r>
              <a:rPr lang="en-US" altLang="zh-CN" sz="2800" dirty="0">
                <a:latin typeface="Calibri" panose="020F0502020204030204" pitchFamily="34" charset="0"/>
                <a:ea typeface="宋体" panose="02010600030101010101" pitchFamily="2" charset="-122"/>
                <a:cs typeface="Calibri" panose="020F0502020204030204" pitchFamily="34" charset="0"/>
              </a:rPr>
              <a:t>as needed in future meetings or interviews</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4394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457200" y="122238"/>
            <a:ext cx="7543800" cy="1477962"/>
          </a:xfrm>
        </p:spPr>
        <p:txBody>
          <a:bodyPr/>
          <a:lstStyle/>
          <a:p>
            <a:pPr eaLnBrk="1" hangingPunct="1"/>
            <a:r>
              <a:rPr lang="en-US" sz="3600"/>
              <a:t>Themes for Information Gathering Questions </a:t>
            </a:r>
          </a:p>
        </p:txBody>
      </p:sp>
      <p:pic>
        <p:nvPicPr>
          <p:cNvPr id="16388"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2133600"/>
            <a:ext cx="8839200" cy="2584450"/>
          </a:xfrm>
          <a:noFill/>
        </p:spPr>
      </p:pic>
    </p:spTree>
    <p:extLst>
      <p:ext uri="{BB962C8B-B14F-4D97-AF65-F5344CB8AC3E}">
        <p14:creationId xmlns:p14="http://schemas.microsoft.com/office/powerpoint/2010/main" val="879730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457200" y="122238"/>
            <a:ext cx="7086600" cy="715962"/>
          </a:xfrm>
        </p:spPr>
        <p:txBody>
          <a:bodyPr/>
          <a:lstStyle/>
          <a:p>
            <a:pPr eaLnBrk="1" hangingPunct="1"/>
            <a:r>
              <a:rPr lang="en-US" sz="3600" b="1" dirty="0">
                <a:solidFill>
                  <a:schemeClr val="accent1"/>
                </a:solidFill>
              </a:rPr>
              <a:t>Preparing for Interview</a:t>
            </a:r>
          </a:p>
        </p:txBody>
      </p:sp>
      <p:pic>
        <p:nvPicPr>
          <p:cNvPr id="17412"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11561" y="776826"/>
            <a:ext cx="8139394" cy="5958936"/>
          </a:xfrm>
          <a:noFill/>
        </p:spPr>
      </p:pic>
    </p:spTree>
    <p:extLst>
      <p:ext uri="{BB962C8B-B14F-4D97-AF65-F5344CB8AC3E}">
        <p14:creationId xmlns:p14="http://schemas.microsoft.com/office/powerpoint/2010/main" val="1593876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381000" y="533400"/>
            <a:ext cx="2133600" cy="1828800"/>
          </a:xfrm>
        </p:spPr>
        <p:txBody>
          <a:bodyPr/>
          <a:lstStyle/>
          <a:p>
            <a:pPr eaLnBrk="1" hangingPunct="1"/>
            <a:r>
              <a:rPr lang="en-US" sz="3200" b="1" dirty="0">
                <a:solidFill>
                  <a:schemeClr val="accent1"/>
                </a:solidFill>
              </a:rPr>
              <a:t>Interview Session Agenda</a:t>
            </a:r>
          </a:p>
        </p:txBody>
      </p:sp>
      <p:pic>
        <p:nvPicPr>
          <p:cNvPr id="18436"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32100" y="228600"/>
            <a:ext cx="5340300" cy="6463292"/>
          </a:xfrm>
          <a:noFill/>
        </p:spPr>
      </p:pic>
    </p:spTree>
    <p:extLst>
      <p:ext uri="{BB962C8B-B14F-4D97-AF65-F5344CB8AC3E}">
        <p14:creationId xmlns:p14="http://schemas.microsoft.com/office/powerpoint/2010/main" val="4277563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23528" y="188640"/>
            <a:ext cx="8191822" cy="1152129"/>
          </a:xfrm>
        </p:spPr>
        <p:txBody>
          <a:bodyPr/>
          <a:lstStyle/>
          <a:p>
            <a:pPr eaLnBrk="1" hangingPunct="1"/>
            <a:r>
              <a:rPr lang="en-US" b="1" dirty="0">
                <a:solidFill>
                  <a:schemeClr val="accent1"/>
                </a:solidFill>
              </a:rPr>
              <a:t>Interviews in Practice</a:t>
            </a:r>
            <a:endParaRPr lang="ms-MY" b="1" dirty="0">
              <a:solidFill>
                <a:schemeClr val="accent1"/>
              </a:solidFill>
            </a:endParaRPr>
          </a:p>
        </p:txBody>
      </p:sp>
      <p:sp>
        <p:nvSpPr>
          <p:cNvPr id="25603" name="Content Placeholder 2"/>
          <p:cNvSpPr>
            <a:spLocks noGrp="1"/>
          </p:cNvSpPr>
          <p:nvPr>
            <p:ph idx="1"/>
          </p:nvPr>
        </p:nvSpPr>
        <p:spPr>
          <a:xfrm>
            <a:off x="609598" y="1484784"/>
            <a:ext cx="7778826" cy="4608512"/>
          </a:xfrm>
        </p:spPr>
        <p:txBody>
          <a:bodyPr>
            <a:normAutofit/>
          </a:bodyPr>
          <a:lstStyle/>
          <a:p>
            <a:pPr eaLnBrk="1" hangingPunct="1">
              <a:lnSpc>
                <a:spcPct val="90000"/>
              </a:lnSpc>
            </a:pPr>
            <a:r>
              <a:rPr lang="en-US" sz="2400" dirty="0"/>
              <a:t>Normally a mix of closed and open-ended interviewing.</a:t>
            </a:r>
          </a:p>
          <a:p>
            <a:pPr eaLnBrk="1" hangingPunct="1">
              <a:lnSpc>
                <a:spcPct val="90000"/>
              </a:lnSpc>
            </a:pPr>
            <a:r>
              <a:rPr lang="en-US" sz="2400" dirty="0"/>
              <a:t>Interviews are good for getting an </a:t>
            </a:r>
            <a:r>
              <a:rPr lang="en-US" sz="2400" dirty="0">
                <a:solidFill>
                  <a:srgbClr val="FF0000"/>
                </a:solidFill>
              </a:rPr>
              <a:t>overall understanding of what stakeholders</a:t>
            </a:r>
            <a:r>
              <a:rPr lang="en-US" sz="2400" dirty="0"/>
              <a:t> do and how they might interact with the system.</a:t>
            </a:r>
          </a:p>
          <a:p>
            <a:pPr eaLnBrk="1" hangingPunct="1">
              <a:lnSpc>
                <a:spcPct val="90000"/>
              </a:lnSpc>
            </a:pPr>
            <a:r>
              <a:rPr lang="en-US" sz="2400" dirty="0"/>
              <a:t>Interviews are not good for understanding domain requirements</a:t>
            </a:r>
          </a:p>
          <a:p>
            <a:pPr lvl="1" eaLnBrk="1" hangingPunct="1">
              <a:lnSpc>
                <a:spcPct val="90000"/>
              </a:lnSpc>
            </a:pPr>
            <a:r>
              <a:rPr lang="en-US" sz="2000" dirty="0"/>
              <a:t>Requirements engineers cannot understand specific domain terminology;</a:t>
            </a:r>
          </a:p>
          <a:p>
            <a:pPr lvl="1" eaLnBrk="1" hangingPunct="1">
              <a:lnSpc>
                <a:spcPct val="90000"/>
              </a:lnSpc>
            </a:pPr>
            <a:r>
              <a:rPr lang="en-US" sz="2000" dirty="0"/>
              <a:t>Some domain knowledge is so familiar that people find it hard to articulate or think that it isn’t worth articulating.</a:t>
            </a:r>
          </a:p>
          <a:p>
            <a:pPr eaLnBrk="1" hangingPunct="1"/>
            <a:endParaRPr lang="ms-MY" dirty="0"/>
          </a:p>
        </p:txBody>
      </p:sp>
    </p:spTree>
    <p:extLst>
      <p:ext uri="{BB962C8B-B14F-4D97-AF65-F5344CB8AC3E}">
        <p14:creationId xmlns:p14="http://schemas.microsoft.com/office/powerpoint/2010/main" val="133198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52400" y="304800"/>
            <a:ext cx="2331368" cy="2895600"/>
          </a:xfrm>
        </p:spPr>
        <p:txBody>
          <a:bodyPr/>
          <a:lstStyle/>
          <a:p>
            <a:pPr eaLnBrk="1" hangingPunct="1"/>
            <a:r>
              <a:rPr lang="en-US" sz="2800" b="1" dirty="0">
                <a:solidFill>
                  <a:schemeClr val="accent1"/>
                </a:solidFill>
              </a:rPr>
              <a:t>Distribute and Collect Questionnaires</a:t>
            </a:r>
          </a:p>
        </p:txBody>
      </p:sp>
      <p:pic>
        <p:nvPicPr>
          <p:cNvPr id="1946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83768" y="152399"/>
            <a:ext cx="6244307" cy="6444859"/>
          </a:xfrm>
          <a:noFill/>
        </p:spPr>
      </p:pic>
    </p:spTree>
    <p:extLst>
      <p:ext uri="{BB962C8B-B14F-4D97-AF65-F5344CB8AC3E}">
        <p14:creationId xmlns:p14="http://schemas.microsoft.com/office/powerpoint/2010/main" val="286639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457200" y="122238"/>
            <a:ext cx="7086600" cy="1173162"/>
          </a:xfrm>
        </p:spPr>
        <p:txBody>
          <a:bodyPr/>
          <a:lstStyle/>
          <a:p>
            <a:pPr eaLnBrk="1" hangingPunct="1"/>
            <a:r>
              <a:rPr lang="en-US" sz="3200" b="1" dirty="0">
                <a:solidFill>
                  <a:schemeClr val="accent1"/>
                </a:solidFill>
              </a:rPr>
              <a:t>Review Inputs, Outputs, and Procedures</a:t>
            </a:r>
          </a:p>
        </p:txBody>
      </p:sp>
      <p:pic>
        <p:nvPicPr>
          <p:cNvPr id="20484"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71600" y="1543554"/>
            <a:ext cx="7263337" cy="4405726"/>
          </a:xfrm>
          <a:noFill/>
        </p:spPr>
      </p:pic>
    </p:spTree>
    <p:extLst>
      <p:ext uri="{BB962C8B-B14F-4D97-AF65-F5344CB8AC3E}">
        <p14:creationId xmlns:p14="http://schemas.microsoft.com/office/powerpoint/2010/main" val="1341400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195C2-3F68-4330-BF66-41D1C8EFC587}"/>
              </a:ext>
            </a:extLst>
          </p:cNvPr>
          <p:cNvSpPr>
            <a:spLocks noGrp="1"/>
          </p:cNvSpPr>
          <p:nvPr>
            <p:ph type="title"/>
          </p:nvPr>
        </p:nvSpPr>
        <p:spPr>
          <a:xfrm>
            <a:off x="457200" y="215371"/>
            <a:ext cx="8229600" cy="765357"/>
          </a:xfrm>
        </p:spPr>
        <p:txBody>
          <a:bodyPr/>
          <a:lstStyle/>
          <a:p>
            <a:r>
              <a:rPr lang="en-US" sz="3400" dirty="0">
                <a:solidFill>
                  <a:schemeClr val="accent1"/>
                </a:solidFill>
              </a:rPr>
              <a:t>An Invoice Form from Microsoft Excel</a:t>
            </a:r>
          </a:p>
        </p:txBody>
      </p:sp>
      <p:sp>
        <p:nvSpPr>
          <p:cNvPr id="3" name="Content Placeholder 2">
            <a:extLst>
              <a:ext uri="{FF2B5EF4-FFF2-40B4-BE49-F238E27FC236}">
                <a16:creationId xmlns:a16="http://schemas.microsoft.com/office/drawing/2014/main" id="{DBE9C263-097C-4E3E-B6F1-E1FF61F9E35A}"/>
              </a:ext>
            </a:extLst>
          </p:cNvPr>
          <p:cNvSpPr>
            <a:spLocks noGrp="1"/>
          </p:cNvSpPr>
          <p:nvPr>
            <p:ph sz="quarter" idx="13"/>
          </p:nvPr>
        </p:nvSpPr>
        <p:spPr>
          <a:xfrm>
            <a:off x="457200" y="6125029"/>
            <a:ext cx="8229600" cy="203200"/>
          </a:xfrm>
        </p:spPr>
        <p:txBody>
          <a:bodyPr/>
          <a:lstStyle/>
          <a:p>
            <a:pPr marL="432" indent="0">
              <a:buNone/>
            </a:pPr>
            <a:r>
              <a:rPr lang="en-US" sz="1200" dirty="0"/>
              <a:t>(</a:t>
            </a:r>
            <a:r>
              <a:rPr lang="en-US" sz="1200" b="1" dirty="0"/>
              <a:t>Source</a:t>
            </a:r>
            <a:r>
              <a:rPr lang="en-US" sz="1200" dirty="0"/>
              <a:t>: Microsoft Corporation)</a:t>
            </a:r>
          </a:p>
        </p:txBody>
      </p:sp>
      <p:pic>
        <p:nvPicPr>
          <p:cNvPr id="6" name="Picture 5" descr="An invoice form structure. The following fields are located at the top left of the form. Your company name, your company slogan, company business address, phone number, and fax number. The following fields are located at the top right of the form. Date, set to March 13, 2020. Invoice number, set to 100. Invoice purpose, project or service description. Billing name, address, and phone number. Below this top portion of the form, there are multiple blank fields for individual item description and their corresponding amounts. At the very bottom right part of the form, there are fields for subtotal amount, tax rate set at 8.60 percent, sales tax amount, other fees amount, and total amount. At the bottom left part of the form, there following text is shown. Make all checks payable to Your Company Name. If you have any questions concerning this invoice, contact Name, Phone Number, Email. Thank you for your business, exclamation point. ">
            <a:extLst>
              <a:ext uri="{FF2B5EF4-FFF2-40B4-BE49-F238E27FC236}">
                <a16:creationId xmlns:a16="http://schemas.microsoft.com/office/drawing/2014/main" id="{A704AD42-5A8E-468C-98C0-ADB449E1D9E9}"/>
              </a:ext>
            </a:extLst>
          </p:cNvPr>
          <p:cNvPicPr>
            <a:picLocks noChangeAspect="1"/>
          </p:cNvPicPr>
          <p:nvPr/>
        </p:nvPicPr>
        <p:blipFill>
          <a:blip r:embed="rId2"/>
          <a:stretch>
            <a:fillRect/>
          </a:stretch>
        </p:blipFill>
        <p:spPr>
          <a:xfrm>
            <a:off x="2771800" y="1470162"/>
            <a:ext cx="4320480" cy="4666662"/>
          </a:xfrm>
          <a:prstGeom prst="rect">
            <a:avLst/>
          </a:prstGeom>
        </p:spPr>
      </p:pic>
    </p:spTree>
    <p:extLst>
      <p:ext uri="{BB962C8B-B14F-4D97-AF65-F5344CB8AC3E}">
        <p14:creationId xmlns:p14="http://schemas.microsoft.com/office/powerpoint/2010/main" val="813615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lstStyle/>
          <a:p>
            <a:r>
              <a:rPr lang="en-US" sz="3400" dirty="0">
                <a:solidFill>
                  <a:schemeClr val="accent1"/>
                </a:solidFill>
              </a:rPr>
              <a:t>Comparison of Observation and Document Analysis</a:t>
            </a:r>
            <a:endParaRPr lang="en-IN" sz="3400" dirty="0">
              <a:solidFill>
                <a:schemeClr val="accent1"/>
              </a:solidFill>
            </a:endParaRPr>
          </a:p>
        </p:txBody>
      </p:sp>
      <p:graphicFrame>
        <p:nvGraphicFramePr>
          <p:cNvPr id="3" name="Table 2">
            <a:extLst>
              <a:ext uri="{FF2B5EF4-FFF2-40B4-BE49-F238E27FC236}">
                <a16:creationId xmlns:a16="http://schemas.microsoft.com/office/drawing/2014/main" id="{392E7655-74E3-4C3F-883D-3967715A04A5}"/>
              </a:ext>
            </a:extLst>
          </p:cNvPr>
          <p:cNvGraphicFramePr>
            <a:graphicFrameLocks noGrp="1"/>
          </p:cNvGraphicFramePr>
          <p:nvPr>
            <p:extLst>
              <p:ext uri="{D42A27DB-BD31-4B8C-83A1-F6EECF244321}">
                <p14:modId xmlns:p14="http://schemas.microsoft.com/office/powerpoint/2010/main" val="3471235144"/>
              </p:ext>
            </p:extLst>
          </p:nvPr>
        </p:nvGraphicFramePr>
        <p:xfrm>
          <a:off x="457200" y="1484084"/>
          <a:ext cx="8396514" cy="5227320"/>
        </p:xfrm>
        <a:graphic>
          <a:graphicData uri="http://schemas.openxmlformats.org/drawingml/2006/table">
            <a:tbl>
              <a:tblPr firstRow="1" bandRow="1">
                <a:tableStyleId>{2D5ABB26-0587-4C30-8999-92F81FD0307C}</a:tableStyleId>
              </a:tblPr>
              <a:tblGrid>
                <a:gridCol w="1450504">
                  <a:extLst>
                    <a:ext uri="{9D8B030D-6E8A-4147-A177-3AD203B41FA5}">
                      <a16:colId xmlns:a16="http://schemas.microsoft.com/office/drawing/2014/main" val="2139217783"/>
                    </a:ext>
                  </a:extLst>
                </a:gridCol>
                <a:gridCol w="3660418">
                  <a:extLst>
                    <a:ext uri="{9D8B030D-6E8A-4147-A177-3AD203B41FA5}">
                      <a16:colId xmlns:a16="http://schemas.microsoft.com/office/drawing/2014/main" val="1450261823"/>
                    </a:ext>
                  </a:extLst>
                </a:gridCol>
                <a:gridCol w="3285592">
                  <a:extLst>
                    <a:ext uri="{9D8B030D-6E8A-4147-A177-3AD203B41FA5}">
                      <a16:colId xmlns:a16="http://schemas.microsoft.com/office/drawing/2014/main" val="662022691"/>
                    </a:ext>
                  </a:extLst>
                </a:gridCol>
              </a:tblGrid>
              <a:tr h="370840">
                <a:tc>
                  <a:txBody>
                    <a:bodyPr/>
                    <a:lstStyle/>
                    <a:p>
                      <a:r>
                        <a:rPr lang="en-US" sz="1600" b="1" dirty="0"/>
                        <a:t>Characteristic</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Observation</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Document Analysis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2429518"/>
                  </a:ext>
                </a:extLst>
              </a:tr>
              <a:tr h="370840">
                <a:tc>
                  <a:txBody>
                    <a:bodyPr/>
                    <a:lstStyle/>
                    <a:p>
                      <a:r>
                        <a:rPr lang="en-US" sz="1600" dirty="0"/>
                        <a:t>Information Richness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High (many channels)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Low (passive) and old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7803939"/>
                  </a:ext>
                </a:extLst>
              </a:tr>
              <a:tr h="370840">
                <a:tc>
                  <a:txBody>
                    <a:bodyPr/>
                    <a:lstStyle/>
                    <a:p>
                      <a:r>
                        <a:rPr lang="en-US" sz="1600" dirty="0"/>
                        <a:t>Time Required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Can be extensive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Low to moderate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701928"/>
                  </a:ext>
                </a:extLst>
              </a:tr>
              <a:tr h="370840">
                <a:tc>
                  <a:txBody>
                    <a:bodyPr/>
                    <a:lstStyle/>
                    <a:p>
                      <a:r>
                        <a:rPr lang="en-US" sz="1600" dirty="0"/>
                        <a:t>Expense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Can be 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Low to moderate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3127422"/>
                  </a:ext>
                </a:extLst>
              </a:tr>
              <a:tr h="370840">
                <a:tc>
                  <a:txBody>
                    <a:bodyPr/>
                    <a:lstStyle/>
                    <a:p>
                      <a:r>
                        <a:rPr lang="en-US" sz="1600" dirty="0"/>
                        <a:t>Chance for Follow-Up and Probing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Good: probing and clarification questions can be asked during or after observation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Limited: probing possible only if original author is available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90237"/>
                  </a:ext>
                </a:extLst>
              </a:tr>
              <a:tr h="370840">
                <a:tc>
                  <a:txBody>
                    <a:bodyPr/>
                    <a:lstStyle/>
                    <a:p>
                      <a:r>
                        <a:rPr lang="en-US" sz="1600" dirty="0"/>
                        <a:t>Confidentiality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Observee is known to interviewer; observee may change behavior when observed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Depends on nature of document; does not change simply by being read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0375322"/>
                  </a:ext>
                </a:extLst>
              </a:tr>
              <a:tr h="370840">
                <a:tc>
                  <a:txBody>
                    <a:bodyPr/>
                    <a:lstStyle/>
                    <a:p>
                      <a:r>
                        <a:rPr lang="en-US" sz="1600" dirty="0"/>
                        <a:t>Involvement of Subject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Interviewees may or may not be involved and committed depending on whether they know if they are being observed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None, no clear commitment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8448672"/>
                  </a:ext>
                </a:extLst>
              </a:tr>
              <a:tr h="668383">
                <a:tc>
                  <a:txBody>
                    <a:bodyPr/>
                    <a:lstStyle/>
                    <a:p>
                      <a:r>
                        <a:rPr lang="en-US" sz="1600" dirty="0"/>
                        <a:t>Potential Audience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Limited numbers and limited time (snapshot) of each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Potentially biased by which documents were kept or because document was not created for this 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472517"/>
                  </a:ext>
                </a:extLst>
              </a:tr>
            </a:tbl>
          </a:graphicData>
        </a:graphic>
      </p:graphicFrame>
    </p:spTree>
    <p:extLst>
      <p:ext uri="{BB962C8B-B14F-4D97-AF65-F5344CB8AC3E}">
        <p14:creationId xmlns:p14="http://schemas.microsoft.com/office/powerpoint/2010/main" val="823954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sz="3600" b="1" dirty="0">
                <a:solidFill>
                  <a:schemeClr val="accent1"/>
                </a:solidFill>
              </a:rPr>
              <a:t>Documenting Workflows with Activity Diagrams</a:t>
            </a:r>
          </a:p>
        </p:txBody>
      </p:sp>
      <p:sp>
        <p:nvSpPr>
          <p:cNvPr id="22532" name="Rectangle 3"/>
          <p:cNvSpPr>
            <a:spLocks noGrp="1" noChangeArrowheads="1"/>
          </p:cNvSpPr>
          <p:nvPr>
            <p:ph idx="1"/>
          </p:nvPr>
        </p:nvSpPr>
        <p:spPr>
          <a:xfrm>
            <a:off x="628649" y="1988840"/>
            <a:ext cx="7759775" cy="4104456"/>
          </a:xfrm>
        </p:spPr>
        <p:txBody>
          <a:bodyPr/>
          <a:lstStyle/>
          <a:p>
            <a:pPr eaLnBrk="1" hangingPunct="1"/>
            <a:r>
              <a:rPr lang="en-US" sz="2400" dirty="0">
                <a:solidFill>
                  <a:srgbClr val="FF0000"/>
                </a:solidFill>
                <a:latin typeface="Calibri" panose="020F0502020204030204" pitchFamily="34" charset="0"/>
                <a:cs typeface="Calibri" panose="020F0502020204030204" pitchFamily="34" charset="0"/>
              </a:rPr>
              <a:t>Workflow</a:t>
            </a:r>
            <a:r>
              <a:rPr lang="en-US" sz="2400" dirty="0">
                <a:latin typeface="Calibri" panose="020F0502020204030204" pitchFamily="34" charset="0"/>
                <a:cs typeface="Calibri" panose="020F0502020204030204" pitchFamily="34" charset="0"/>
              </a:rPr>
              <a:t>– sequence of processing steps that completely handles one business transaction or customer request</a:t>
            </a:r>
          </a:p>
          <a:p>
            <a:pPr eaLnBrk="1" hangingPunct="1"/>
            <a:r>
              <a:rPr lang="en-US" sz="2400" dirty="0">
                <a:solidFill>
                  <a:srgbClr val="FF0000"/>
                </a:solidFill>
                <a:latin typeface="Calibri" panose="020F0502020204030204" pitchFamily="34" charset="0"/>
                <a:cs typeface="Calibri" panose="020F0502020204030204" pitchFamily="34" charset="0"/>
              </a:rPr>
              <a:t>Activity Diagram</a:t>
            </a:r>
            <a:r>
              <a:rPr lang="en-US" sz="2400" dirty="0">
                <a:latin typeface="Calibri" panose="020F0502020204030204" pitchFamily="34" charset="0"/>
                <a:cs typeface="Calibri" panose="020F0502020204030204" pitchFamily="34" charset="0"/>
              </a:rPr>
              <a:t>– describes user (or system) activities, the person who does each activity, and the sequential flow of these activities</a:t>
            </a:r>
          </a:p>
          <a:p>
            <a:pPr lvl="1" eaLnBrk="1" hangingPunct="1"/>
            <a:r>
              <a:rPr lang="en-US" sz="2400" dirty="0">
                <a:latin typeface="Calibri" panose="020F0502020204030204" pitchFamily="34" charset="0"/>
                <a:cs typeface="Calibri" panose="020F0502020204030204" pitchFamily="34" charset="0"/>
              </a:rPr>
              <a:t>Useful for showing a graphical model of a workflow</a:t>
            </a:r>
          </a:p>
          <a:p>
            <a:pPr lvl="1" eaLnBrk="1" hangingPunct="1"/>
            <a:r>
              <a:rPr lang="en-US" sz="2400" dirty="0">
                <a:latin typeface="Calibri" panose="020F0502020204030204" pitchFamily="34" charset="0"/>
                <a:cs typeface="Calibri" panose="020F0502020204030204" pitchFamily="34" charset="0"/>
              </a:rPr>
              <a:t>A UML diagram</a:t>
            </a:r>
          </a:p>
          <a:p>
            <a:pPr eaLnBrk="1" hangingPunct="1"/>
            <a:endParaRPr lang="en-US" sz="2800" dirty="0"/>
          </a:p>
          <a:p>
            <a:pPr eaLnBrk="1" hangingPunct="1"/>
            <a:endParaRPr lang="en-US" sz="2800" dirty="0"/>
          </a:p>
        </p:txBody>
      </p:sp>
    </p:spTree>
    <p:extLst>
      <p:ext uri="{BB962C8B-B14F-4D97-AF65-F5344CB8AC3E}">
        <p14:creationId xmlns:p14="http://schemas.microsoft.com/office/powerpoint/2010/main" val="3619773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57200" y="122238"/>
            <a:ext cx="7543800" cy="868362"/>
          </a:xfrm>
        </p:spPr>
        <p:txBody>
          <a:bodyPr/>
          <a:lstStyle/>
          <a:p>
            <a:pPr eaLnBrk="1" hangingPunct="1"/>
            <a:r>
              <a:rPr lang="en-US" sz="3600"/>
              <a:t>Activity Diagrams Symbols</a:t>
            </a:r>
          </a:p>
        </p:txBody>
      </p:sp>
      <p:sp>
        <p:nvSpPr>
          <p:cNvPr id="23556" name="Rectangle 3"/>
          <p:cNvSpPr>
            <a:spLocks noGrp="1" noChangeArrowheads="1"/>
          </p:cNvSpPr>
          <p:nvPr>
            <p:ph type="body" sz="half" idx="1"/>
          </p:nvPr>
        </p:nvSpPr>
        <p:spPr/>
        <p:txBody>
          <a:bodyPr/>
          <a:lstStyle/>
          <a:p>
            <a:pPr eaLnBrk="1" hangingPunct="1"/>
            <a:endParaRPr lang="en-US" sz="2400"/>
          </a:p>
          <a:p>
            <a:pPr eaLnBrk="1" hangingPunct="1"/>
            <a:endParaRPr lang="en-US" sz="2400"/>
          </a:p>
        </p:txBody>
      </p:sp>
      <p:pic>
        <p:nvPicPr>
          <p:cNvPr id="23557" name="Picture 7"/>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33400" y="1371600"/>
            <a:ext cx="8001000" cy="4673600"/>
          </a:xfrm>
          <a:noFill/>
        </p:spPr>
      </p:pic>
    </p:spTree>
    <p:extLst>
      <p:ext uri="{BB962C8B-B14F-4D97-AF65-F5344CB8AC3E}">
        <p14:creationId xmlns:p14="http://schemas.microsoft.com/office/powerpoint/2010/main" val="1382953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58043" y="980728"/>
            <a:ext cx="1981709" cy="692696"/>
          </a:xfrm>
        </p:spPr>
        <p:txBody>
          <a:bodyPr>
            <a:normAutofit fontScale="90000"/>
          </a:bodyPr>
          <a:lstStyle/>
          <a:p>
            <a:r>
              <a:rPr lang="en-MY" b="1" dirty="0">
                <a:solidFill>
                  <a:schemeClr val="accent1"/>
                </a:solidFill>
              </a:rPr>
              <a:t>Activity diagram example (1)</a:t>
            </a:r>
          </a:p>
        </p:txBody>
      </p:sp>
      <p:pic>
        <p:nvPicPr>
          <p:cNvPr id="1026" name="Picture 2" descr="Example Image: Activity Diagram - Order Process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78204" y="75123"/>
            <a:ext cx="6707753" cy="6707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9700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7886700" cy="615602"/>
          </a:xfrm>
        </p:spPr>
        <p:txBody>
          <a:bodyPr/>
          <a:lstStyle/>
          <a:p>
            <a:r>
              <a:rPr lang="en-MY" b="1" dirty="0">
                <a:solidFill>
                  <a:schemeClr val="accent1"/>
                </a:solidFill>
              </a:rPr>
              <a:t>Activity diagram example (2)</a:t>
            </a:r>
          </a:p>
        </p:txBody>
      </p:sp>
      <p:pic>
        <p:nvPicPr>
          <p:cNvPr id="2050" name="Picture 2" descr="Image result for activity diagram exercise order processing system"/>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21938" y="1124744"/>
            <a:ext cx="5514358" cy="5565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553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a:normAutofit/>
          </a:bodyPr>
          <a:lstStyle/>
          <a:p>
            <a:r>
              <a:rPr lang="en-US" sz="4000" b="1" dirty="0">
                <a:solidFill>
                  <a:schemeClr val="accent1"/>
                </a:solidFill>
              </a:rPr>
              <a:t>Types of Requirements (1/2)</a:t>
            </a:r>
          </a:p>
        </p:txBody>
      </p:sp>
      <p:sp>
        <p:nvSpPr>
          <p:cNvPr id="12291" name="Rectangle 3"/>
          <p:cNvSpPr>
            <a:spLocks noGrp="1"/>
          </p:cNvSpPr>
          <p:nvPr>
            <p:ph idx="1"/>
          </p:nvPr>
        </p:nvSpPr>
        <p:spPr>
          <a:xfrm>
            <a:off x="457200" y="1905000"/>
            <a:ext cx="8229600" cy="3900264"/>
          </a:xfrm>
        </p:spPr>
        <p:txBody>
          <a:bodyPr>
            <a:normAutofit/>
          </a:bodyPr>
          <a:lstStyle/>
          <a:p>
            <a:pPr lvl="1"/>
            <a:r>
              <a:rPr lang="en-US" sz="2800" b="1" dirty="0">
                <a:solidFill>
                  <a:srgbClr val="FF0000"/>
                </a:solidFill>
                <a:latin typeface="Calibri" panose="020F0502020204030204" pitchFamily="34" charset="0"/>
                <a:cs typeface="Calibri" panose="020F0502020204030204" pitchFamily="34" charset="0"/>
              </a:rPr>
              <a:t>Functional Requirements</a:t>
            </a:r>
            <a:r>
              <a:rPr lang="en-US" sz="2800" b="1" dirty="0">
                <a:latin typeface="Calibri" panose="020F0502020204030204" pitchFamily="34" charset="0"/>
                <a:cs typeface="Calibri" panose="020F0502020204030204" pitchFamily="34" charset="0"/>
              </a:rPr>
              <a:t>:</a:t>
            </a:r>
          </a:p>
          <a:p>
            <a:pPr lvl="2"/>
            <a:r>
              <a:rPr lang="en-US" sz="2800" dirty="0">
                <a:latin typeface="Calibri" panose="020F0502020204030204" pitchFamily="34" charset="0"/>
                <a:cs typeface="Calibri" panose="020F0502020204030204" pitchFamily="34" charset="0"/>
              </a:rPr>
              <a:t>Defines functions of a software system or its components. They may be calculations, technical details, data manipulation and processing and other specific functionality that define “what a system is supposed to accomplish?” </a:t>
            </a:r>
          </a:p>
          <a:p>
            <a:pPr lvl="2"/>
            <a:r>
              <a:rPr lang="en-US" sz="2800" dirty="0">
                <a:latin typeface="Calibri" panose="020F0502020204030204" pitchFamily="34" charset="0"/>
                <a:cs typeface="Calibri" panose="020F0502020204030204" pitchFamily="34" charset="0"/>
              </a:rPr>
              <a:t>They describe particular results of a system.</a:t>
            </a:r>
          </a:p>
          <a:p>
            <a:pPr lvl="2"/>
            <a:r>
              <a:rPr lang="en-US" sz="2800" dirty="0">
                <a:latin typeface="Calibri" panose="020F0502020204030204" pitchFamily="34" charset="0"/>
                <a:cs typeface="Calibri" panose="020F0502020204030204" pitchFamily="34" charset="0"/>
              </a:rPr>
              <a:t>Functional requirements are supported by Non-functional requirements. </a:t>
            </a:r>
          </a:p>
          <a:p>
            <a:pPr marL="0" indent="0">
              <a:buNone/>
            </a:pPr>
            <a:endParaRPr lang="en-US" sz="2400" dirty="0">
              <a:latin typeface="Calibri" panose="020F0502020204030204" pitchFamily="34" charset="0"/>
              <a:cs typeface="Calibri" panose="020F0502020204030204" pitchFamily="34" charset="0"/>
            </a:endParaRPr>
          </a:p>
          <a:p>
            <a:pPr lvl="1"/>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35381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p:txBody>
          <a:bodyPr>
            <a:normAutofit/>
          </a:bodyPr>
          <a:lstStyle/>
          <a:p>
            <a:r>
              <a:rPr lang="en-US" sz="4000" b="1" dirty="0">
                <a:solidFill>
                  <a:schemeClr val="accent1"/>
                </a:solidFill>
              </a:rPr>
              <a:t>Types of Requirements (2/2)</a:t>
            </a:r>
          </a:p>
        </p:txBody>
      </p:sp>
      <p:sp>
        <p:nvSpPr>
          <p:cNvPr id="18435" name="Rectangle 3"/>
          <p:cNvSpPr>
            <a:spLocks noGrp="1"/>
          </p:cNvSpPr>
          <p:nvPr>
            <p:ph idx="1"/>
          </p:nvPr>
        </p:nvSpPr>
        <p:spPr>
          <a:xfrm>
            <a:off x="282821" y="1961138"/>
            <a:ext cx="8229600" cy="4763616"/>
          </a:xfrm>
        </p:spPr>
        <p:txBody>
          <a:bodyPr>
            <a:normAutofit/>
          </a:bodyPr>
          <a:lstStyle/>
          <a:p>
            <a:pPr lvl="1"/>
            <a:r>
              <a:rPr lang="en-US" sz="2800" dirty="0">
                <a:solidFill>
                  <a:srgbClr val="FF0000"/>
                </a:solidFill>
              </a:rPr>
              <a:t>Non-Functional Requirements</a:t>
            </a:r>
            <a:r>
              <a:rPr lang="en-US" sz="2800" dirty="0"/>
              <a:t>:</a:t>
            </a:r>
          </a:p>
          <a:p>
            <a:pPr lvl="2"/>
            <a:r>
              <a:rPr lang="en-US" sz="2400" dirty="0"/>
              <a:t>They are requirements that specify criteria that can be used to judge  the operation of a system, rather than specific behavior.</a:t>
            </a:r>
          </a:p>
          <a:p>
            <a:pPr lvl="2"/>
            <a:r>
              <a:rPr lang="en-US" sz="2400" dirty="0"/>
              <a:t>Functional requirements define what the system is supposed to </a:t>
            </a:r>
            <a:r>
              <a:rPr lang="en-US" sz="2400" b="1" i="1" dirty="0"/>
              <a:t>do</a:t>
            </a:r>
            <a:r>
              <a:rPr lang="en-US" sz="2400" dirty="0"/>
              <a:t>, whereas non-functional requirements define how a system is supposed to </a:t>
            </a:r>
            <a:r>
              <a:rPr lang="en-US" sz="2400" b="1" i="1" dirty="0"/>
              <a:t>be</a:t>
            </a:r>
            <a:r>
              <a:rPr lang="en-US" sz="2400" dirty="0"/>
              <a:t>.</a:t>
            </a:r>
          </a:p>
          <a:p>
            <a:pPr lvl="2"/>
            <a:r>
              <a:rPr lang="en-US" sz="2400" dirty="0"/>
              <a:t>Non-functional requirements can be divided into two main categories:</a:t>
            </a:r>
          </a:p>
          <a:p>
            <a:pPr lvl="3"/>
            <a:r>
              <a:rPr lang="en-US" sz="2400" dirty="0"/>
              <a:t>Execution qualities, such as security and usability, which are observable at runtime.</a:t>
            </a:r>
          </a:p>
          <a:p>
            <a:pPr lvl="3"/>
            <a:r>
              <a:rPr lang="en-US" sz="2400" dirty="0"/>
              <a:t>Evolution qualities, such as testability, maintainability and scalability. </a:t>
            </a:r>
          </a:p>
        </p:txBody>
      </p:sp>
    </p:spTree>
    <p:extLst>
      <p:ext uri="{BB962C8B-B14F-4D97-AF65-F5344CB8AC3E}">
        <p14:creationId xmlns:p14="http://schemas.microsoft.com/office/powerpoint/2010/main" val="623051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609599" y="609600"/>
            <a:ext cx="6770713" cy="914400"/>
          </a:xfrm>
        </p:spPr>
        <p:txBody>
          <a:bodyPr/>
          <a:lstStyle/>
          <a:p>
            <a:pPr eaLnBrk="1" hangingPunct="1"/>
            <a:r>
              <a:rPr lang="en-US" sz="3600" dirty="0"/>
              <a:t>FURPS+ Requirements Acronym</a:t>
            </a:r>
          </a:p>
        </p:txBody>
      </p:sp>
      <p:sp>
        <p:nvSpPr>
          <p:cNvPr id="8196" name="Rectangle 4"/>
          <p:cNvSpPr>
            <a:spLocks noGrp="1" noChangeArrowheads="1"/>
          </p:cNvSpPr>
          <p:nvPr>
            <p:ph idx="1"/>
          </p:nvPr>
        </p:nvSpPr>
        <p:spPr>
          <a:xfrm>
            <a:off x="457200" y="1524000"/>
            <a:ext cx="8229600" cy="4606925"/>
          </a:xfrm>
        </p:spPr>
        <p:txBody>
          <a:bodyPr/>
          <a:lstStyle/>
          <a:p>
            <a:pPr eaLnBrk="1" hangingPunct="1"/>
            <a:r>
              <a:rPr lang="en-US" sz="4000"/>
              <a:t>F</a:t>
            </a:r>
            <a:r>
              <a:rPr lang="en-US"/>
              <a:t>unctional requirements</a:t>
            </a:r>
          </a:p>
          <a:p>
            <a:pPr eaLnBrk="1" hangingPunct="1"/>
            <a:r>
              <a:rPr lang="en-US" sz="4000"/>
              <a:t>U</a:t>
            </a:r>
            <a:r>
              <a:rPr lang="en-US"/>
              <a:t>sability requirements</a:t>
            </a:r>
          </a:p>
          <a:p>
            <a:pPr eaLnBrk="1" hangingPunct="1"/>
            <a:r>
              <a:rPr lang="en-US" sz="4000"/>
              <a:t>R</a:t>
            </a:r>
            <a:r>
              <a:rPr lang="en-US"/>
              <a:t>eliability requirements</a:t>
            </a:r>
          </a:p>
          <a:p>
            <a:pPr eaLnBrk="1" hangingPunct="1"/>
            <a:r>
              <a:rPr lang="en-US" sz="4000"/>
              <a:t>P</a:t>
            </a:r>
            <a:r>
              <a:rPr lang="en-US"/>
              <a:t>erformance requirements</a:t>
            </a:r>
          </a:p>
          <a:p>
            <a:pPr eaLnBrk="1" hangingPunct="1"/>
            <a:r>
              <a:rPr lang="en-US" sz="4000"/>
              <a:t>S</a:t>
            </a:r>
            <a:r>
              <a:rPr lang="en-US"/>
              <a:t>ecurity requirements</a:t>
            </a:r>
          </a:p>
          <a:p>
            <a:pPr eaLnBrk="1" hangingPunct="1"/>
            <a:r>
              <a:rPr lang="en-US" sz="4000"/>
              <a:t>+ </a:t>
            </a:r>
            <a:r>
              <a:rPr lang="en-US" sz="2800"/>
              <a:t>even more categories…</a:t>
            </a:r>
          </a:p>
        </p:txBody>
      </p:sp>
    </p:spTree>
    <p:extLst>
      <p:ext uri="{BB962C8B-B14F-4D97-AF65-F5344CB8AC3E}">
        <p14:creationId xmlns:p14="http://schemas.microsoft.com/office/powerpoint/2010/main" val="2842580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en-US" sz="3600" b="1" dirty="0">
                <a:solidFill>
                  <a:schemeClr val="accent1"/>
                </a:solidFill>
              </a:rPr>
              <a:t>FURPS+ Requirements Acronym</a:t>
            </a:r>
          </a:p>
        </p:txBody>
      </p:sp>
      <p:pic>
        <p:nvPicPr>
          <p:cNvPr id="9220"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752600"/>
            <a:ext cx="8229600" cy="4032250"/>
          </a:xfrm>
          <a:noFill/>
        </p:spPr>
      </p:pic>
    </p:spTree>
    <p:extLst>
      <p:ext uri="{BB962C8B-B14F-4D97-AF65-F5344CB8AC3E}">
        <p14:creationId xmlns:p14="http://schemas.microsoft.com/office/powerpoint/2010/main" val="1367210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2561603"/>
            <a:ext cx="7418785" cy="3880773"/>
          </a:xfrm>
        </p:spPr>
        <p:txBody>
          <a:bodyPr>
            <a:normAutofit/>
          </a:bodyPr>
          <a:lstStyle/>
          <a:p>
            <a:pPr>
              <a:buFont typeface="Wingdings" panose="05000000000000000000" pitchFamily="2" charset="2"/>
              <a:buChar char=""/>
            </a:pPr>
            <a:r>
              <a:rPr lang="en-MY" sz="2400" dirty="0"/>
              <a:t>Define Requirements and Requirements Engineering</a:t>
            </a:r>
          </a:p>
          <a:p>
            <a:pPr>
              <a:buFont typeface="Wingdings" panose="05000000000000000000" pitchFamily="2" charset="2"/>
              <a:buChar char=""/>
            </a:pPr>
            <a:r>
              <a:rPr lang="en-US" altLang="zh-CN" sz="2400" dirty="0">
                <a:ea typeface="宋体" panose="02010600030101010101" pitchFamily="2" charset="-122"/>
              </a:rPr>
              <a:t>Describe Requirements Engineering Activities</a:t>
            </a:r>
          </a:p>
          <a:p>
            <a:pPr>
              <a:buFont typeface="Wingdings" panose="05000000000000000000" pitchFamily="2" charset="2"/>
              <a:buChar char=""/>
            </a:pPr>
            <a:r>
              <a:rPr lang="en-US" altLang="zh-CN" sz="2400" dirty="0">
                <a:ea typeface="宋体" panose="02010600030101010101" pitchFamily="2" charset="-122"/>
              </a:rPr>
              <a:t>Describe traditional and contemporary requirements elicitation techniques</a:t>
            </a:r>
          </a:p>
          <a:p>
            <a:pPr>
              <a:buFont typeface="Wingdings" panose="05000000000000000000" pitchFamily="2" charset="2"/>
              <a:buChar char=""/>
            </a:pPr>
            <a:r>
              <a:rPr lang="en-US" altLang="zh-CN" sz="2400" dirty="0">
                <a:ea typeface="宋体" panose="02010600030101010101" pitchFamily="2" charset="-122"/>
              </a:rPr>
              <a:t>Document workflows with activity diagram</a:t>
            </a:r>
          </a:p>
          <a:p>
            <a:pPr>
              <a:buFont typeface="Wingdings" panose="05000000000000000000" pitchFamily="2" charset="2"/>
              <a:buChar char=""/>
            </a:pPr>
            <a:r>
              <a:rPr lang="en-US" altLang="zh-CN" sz="2400" dirty="0">
                <a:ea typeface="宋体" panose="02010600030101010101" pitchFamily="2" charset="-122"/>
              </a:rPr>
              <a:t>Describe the types of requirements</a:t>
            </a:r>
          </a:p>
          <a:p>
            <a:pPr marL="0" indent="0">
              <a:buNone/>
            </a:pPr>
            <a:endParaRPr lang="en-US" dirty="0"/>
          </a:p>
        </p:txBody>
      </p:sp>
      <p:pic>
        <p:nvPicPr>
          <p:cNvPr id="4" name="Picture 3">
            <a:extLst>
              <a:ext uri="{FF2B5EF4-FFF2-40B4-BE49-F238E27FC236}">
                <a16:creationId xmlns:a16="http://schemas.microsoft.com/office/drawing/2014/main" id="{9DE35B5B-7100-A408-2F99-7FA4CB2BED11}"/>
              </a:ext>
            </a:extLst>
          </p:cNvPr>
          <p:cNvPicPr>
            <a:picLocks noChangeAspect="1"/>
          </p:cNvPicPr>
          <p:nvPr/>
        </p:nvPicPr>
        <p:blipFill>
          <a:blip r:embed="rId2"/>
          <a:stretch>
            <a:fillRect/>
          </a:stretch>
        </p:blipFill>
        <p:spPr>
          <a:xfrm>
            <a:off x="3492914" y="210033"/>
            <a:ext cx="2158171" cy="214597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BA1030BB8DA842A1A6EF47C837AC3C" ma:contentTypeVersion="3" ma:contentTypeDescription="Create a new document." ma:contentTypeScope="" ma:versionID="79f43c9b2765b59ecbb9ea6e38107db2">
  <xsd:schema xmlns:xsd="http://www.w3.org/2001/XMLSchema" xmlns:xs="http://www.w3.org/2001/XMLSchema" xmlns:p="http://schemas.microsoft.com/office/2006/metadata/properties" xmlns:ns2="b7c65582-7211-4a32-bcd8-a5eda553f8d9" targetNamespace="http://schemas.microsoft.com/office/2006/metadata/properties" ma:root="true" ma:fieldsID="b0f4179d87694b6bf5c570e4a3686a38" ns2:_="">
    <xsd:import namespace="b7c65582-7211-4a32-bcd8-a5eda553f8d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c65582-7211-4a32-bcd8-a5eda553f8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BD5A27-1AF0-470B-A834-F6C221719D2D}"/>
</file>

<file path=customXml/itemProps2.xml><?xml version="1.0" encoding="utf-8"?>
<ds:datastoreItem xmlns:ds="http://schemas.openxmlformats.org/officeDocument/2006/customXml" ds:itemID="{032F58C5-F371-408D-974F-5409BFAC03EA}"/>
</file>

<file path=customXml/itemProps3.xml><?xml version="1.0" encoding="utf-8"?>
<ds:datastoreItem xmlns:ds="http://schemas.openxmlformats.org/officeDocument/2006/customXml" ds:itemID="{1063A212-F623-49BB-83E5-45C560B2E0A8}"/>
</file>

<file path=docProps/app.xml><?xml version="1.0" encoding="utf-8"?>
<Properties xmlns="http://schemas.openxmlformats.org/officeDocument/2006/extended-properties" xmlns:vt="http://schemas.openxmlformats.org/officeDocument/2006/docPropsVTypes">
  <Template/>
  <TotalTime>1067</TotalTime>
  <Words>1263</Words>
  <Application>Microsoft Macintosh PowerPoint</Application>
  <PresentationFormat>On-screen Show (4:3)</PresentationFormat>
  <Paragraphs>138</Paragraphs>
  <Slides>30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宋体</vt:lpstr>
      <vt:lpstr>Arial</vt:lpstr>
      <vt:lpstr>Arial</vt:lpstr>
      <vt:lpstr>Arial Rounded MT Bold</vt:lpstr>
      <vt:lpstr>Calibri</vt:lpstr>
      <vt:lpstr>Calibri Light</vt:lpstr>
      <vt:lpstr>Times New Roman</vt:lpstr>
      <vt:lpstr>Wingdings</vt:lpstr>
      <vt:lpstr>Wingdings 2</vt:lpstr>
      <vt:lpstr>Office Theme</vt:lpstr>
      <vt:lpstr>ISP550 INFORMATION SYSTEMS ENGINEERING</vt:lpstr>
      <vt:lpstr>PowerPoint Presentation</vt:lpstr>
      <vt:lpstr>Learning Objectives</vt:lpstr>
      <vt:lpstr>PowerPoint Presentation</vt:lpstr>
      <vt:lpstr>Definition of Requirements &amp;  Requirements Engineering</vt:lpstr>
      <vt:lpstr>Requirements Engineering Activities</vt:lpstr>
      <vt:lpstr>A Spiral View of the RE Process</vt:lpstr>
      <vt:lpstr>Traditional Methods of Eliciting Requirements</vt:lpstr>
      <vt:lpstr>Contemporary Methods of Eliciting Requirements</vt:lpstr>
      <vt:lpstr>Requirements Elicitation</vt:lpstr>
      <vt:lpstr>Requirements Elicitation</vt:lpstr>
      <vt:lpstr>Interviewing</vt:lpstr>
      <vt:lpstr>Interviewing Users and Other Stakeholders </vt:lpstr>
      <vt:lpstr>Themes for Information Gathering Questions </vt:lpstr>
      <vt:lpstr>Preparing for Interview</vt:lpstr>
      <vt:lpstr>Interview Session Agenda</vt:lpstr>
      <vt:lpstr>Interviews in Practice</vt:lpstr>
      <vt:lpstr>Distribute and Collect Questionnaires</vt:lpstr>
      <vt:lpstr>Review Inputs, Outputs, and Procedures</vt:lpstr>
      <vt:lpstr>An Invoice Form from Microsoft Excel</vt:lpstr>
      <vt:lpstr>Comparison of Observation and Document Analysis</vt:lpstr>
      <vt:lpstr>Documenting Workflows with Activity Diagrams</vt:lpstr>
      <vt:lpstr>Activity Diagrams Symbols</vt:lpstr>
      <vt:lpstr>Activity diagram example (1)</vt:lpstr>
      <vt:lpstr>Activity diagram example (2)</vt:lpstr>
      <vt:lpstr>Types of Requirements (1/2)</vt:lpstr>
      <vt:lpstr>Types of Requirements (2/2)</vt:lpstr>
      <vt:lpstr>FURPS+ Requirements Acronym</vt:lpstr>
      <vt:lpstr>FURPS+ Requirements Acronym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dc:title>
  <dc:creator>Suriyati Razali</dc:creator>
  <cp:lastModifiedBy>Nadhratunnaim Nasarudin</cp:lastModifiedBy>
  <cp:revision>75</cp:revision>
  <dcterms:created xsi:type="dcterms:W3CDTF">2013-04-09T06:37:41Z</dcterms:created>
  <dcterms:modified xsi:type="dcterms:W3CDTF">2025-11-02T04:35:50Z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0x01010020BA1030BB8DA842A1A6EF47C837AC3C</vt:lpwstr>
  </property>
</Properties>
</file>