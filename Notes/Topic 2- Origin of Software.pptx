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4"/>
    <p:sldMasterId id="2147483660" r:id="rId5"/>
  </p:sldMasterIdLst>
  <p:notesMasterIdLst>
    <p:notesMasterId r:id="rId32"/>
  </p:notesMasterIdLst>
  <p:handoutMasterIdLst>
    <p:handoutMasterId r:id="rId33"/>
  </p:handoutMasterIdLst>
  <p:sldIdLst>
    <p:sldId id="266" r:id="rId6"/>
    <p:sldId id="352" r:id="rId7"/>
    <p:sldId id="354" r:id="rId8"/>
    <p:sldId id="355" r:id="rId9"/>
    <p:sldId id="356" r:id="rId10"/>
    <p:sldId id="357" r:id="rId11"/>
    <p:sldId id="358" r:id="rId12"/>
    <p:sldId id="359" r:id="rId13"/>
    <p:sldId id="360" r:id="rId14"/>
    <p:sldId id="361" r:id="rId15"/>
    <p:sldId id="362" r:id="rId16"/>
    <p:sldId id="379" r:id="rId17"/>
    <p:sldId id="364" r:id="rId18"/>
    <p:sldId id="365" r:id="rId19"/>
    <p:sldId id="366" r:id="rId20"/>
    <p:sldId id="367" r:id="rId21"/>
    <p:sldId id="368" r:id="rId22"/>
    <p:sldId id="369" r:id="rId23"/>
    <p:sldId id="371" r:id="rId24"/>
    <p:sldId id="372" r:id="rId25"/>
    <p:sldId id="373" r:id="rId26"/>
    <p:sldId id="374" r:id="rId27"/>
    <p:sldId id="380" r:id="rId28"/>
    <p:sldId id="376" r:id="rId29"/>
    <p:sldId id="377" r:id="rId30"/>
    <p:sldId id="378" r:id="rId31"/>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156" userDrawn="1">
          <p15:clr>
            <a:srgbClr val="A4A3A4"/>
          </p15:clr>
        </p15:guide>
        <p15:guide id="2" pos="295" userDrawn="1">
          <p15:clr>
            <a:srgbClr val="A4A3A4"/>
          </p15:clr>
        </p15:guide>
        <p15:guide id="3" orient="horz" pos="3453"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65D779-7F14-3C0E-7316-368EFD4A947D}" v="2" dt="2026-04-15T22:07:38.146"/>
  </p1510:revLst>
</p1510:revInfo>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647" autoAdjust="0"/>
    <p:restoredTop sz="78405" autoAdjust="0"/>
  </p:normalViewPr>
  <p:slideViewPr>
    <p:cSldViewPr snapToGrid="0" snapToObjects="1">
      <p:cViewPr varScale="1">
        <p:scale>
          <a:sx n="50" d="100"/>
          <a:sy n="50" d="100"/>
        </p:scale>
        <p:origin x="1830" y="48"/>
      </p:cViewPr>
      <p:guideLst>
        <p:guide orient="horz" pos="4156"/>
        <p:guide pos="295"/>
        <p:guide orient="horz" pos="3453"/>
      </p:guideLst>
    </p:cSldViewPr>
  </p:slideViewPr>
  <p:outlineViewPr>
    <p:cViewPr>
      <p:scale>
        <a:sx n="33" d="100"/>
        <a:sy n="33" d="100"/>
      </p:scale>
      <p:origin x="0" y="-15126"/>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85" d="100"/>
          <a:sy n="85" d="100"/>
        </p:scale>
        <p:origin x="3054"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microsoft.com/office/2016/11/relationships/changesInfo" Target="changesInfos/changesInfo1.xml"/><Relationship Id="rId21" Type="http://schemas.openxmlformats.org/officeDocument/2006/relationships/slide" Target="slides/slide16.xml"/><Relationship Id="rId34" Type="http://schemas.openxmlformats.org/officeDocument/2006/relationships/commentAuthors" Target="commentAuthor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notesMaster" Target="notesMasters/notesMaster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presProps" Target="presProps.xml"/><Relationship Id="rId8" Type="http://schemas.openxmlformats.org/officeDocument/2006/relationships/slide" Target="slides/slide3.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DHRATUNNAIM BINTI NASARUDIN‎" userId="S::nadhratunnaim@staf.uitm.edu.my::dba46732-962e-4cbb-b065-47382feaf227" providerId="AD" clId="Web-{0665D779-7F14-3C0E-7316-368EFD4A947D}"/>
    <pc:docChg chg="modSld">
      <pc:chgData name="NADHRATUNNAIM BINTI NASARUDIN‎" userId="S::nadhratunnaim@staf.uitm.edu.my::dba46732-962e-4cbb-b065-47382feaf227" providerId="AD" clId="Web-{0665D779-7F14-3C0E-7316-368EFD4A947D}" dt="2026-04-15T22:07:38.146" v="1" actId="20577"/>
      <pc:docMkLst>
        <pc:docMk/>
      </pc:docMkLst>
      <pc:sldChg chg="modSp">
        <pc:chgData name="NADHRATUNNAIM BINTI NASARUDIN‎" userId="S::nadhratunnaim@staf.uitm.edu.my::dba46732-962e-4cbb-b065-47382feaf227" providerId="AD" clId="Web-{0665D779-7F14-3C0E-7316-368EFD4A947D}" dt="2026-04-15T22:07:38.146" v="1" actId="20577"/>
        <pc:sldMkLst>
          <pc:docMk/>
          <pc:sldMk cId="895915843" sldId="266"/>
        </pc:sldMkLst>
        <pc:spChg chg="mod">
          <ac:chgData name="NADHRATUNNAIM BINTI NASARUDIN‎" userId="S::nadhratunnaim@staf.uitm.edu.my::dba46732-962e-4cbb-b065-47382feaf227" providerId="AD" clId="Web-{0665D779-7F14-3C0E-7316-368EFD4A947D}" dt="2026-04-15T22:07:38.146" v="1" actId="20577"/>
          <ac:spMkLst>
            <pc:docMk/>
            <pc:sldMk cId="895915843" sldId="266"/>
            <ac:spMk id="4" creationId="{5442734F-1AD7-E7D8-5BDE-9461EC366C5F}"/>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4/15/2026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lIns="0" tIns="0" rIns="0" bIns="0"/>
          <a:lstStyle>
            <a:lvl1pPr>
              <a:defRPr sz="3600">
                <a:solidFill>
                  <a:schemeClr val="tx2"/>
                </a:solidFill>
                <a:latin typeface="+mj-lt"/>
              </a:defRPr>
            </a:lvl1pPr>
          </a:lstStyle>
          <a:p>
            <a:r>
              <a:rPr lang="en-US" dirty="0"/>
              <a:t>Click to edit Master title style</a:t>
            </a:r>
          </a:p>
        </p:txBody>
      </p:sp>
      <p:sp>
        <p:nvSpPr>
          <p:cNvPr id="3" name="Content Placeholder 2"/>
          <p:cNvSpPr>
            <a:spLocks noGrp="1"/>
          </p:cNvSpPr>
          <p:nvPr>
            <p:ph idx="1"/>
          </p:nvPr>
        </p:nvSpPr>
        <p:spPr>
          <a:xfrm>
            <a:off x="457200" y="1557470"/>
            <a:ext cx="8229600" cy="4525963"/>
          </a:xfrm>
        </p:spPr>
        <p:txBody>
          <a:bodyPr lIns="0" tIns="0" rIns="0"/>
          <a:lstStyle>
            <a:lvl1pPr marL="255600" indent="-255600">
              <a:buClr>
                <a:srgbClr val="007FA3"/>
              </a:buClr>
              <a:buSzPct val="100000"/>
              <a:buFont typeface="Arial" panose="020B0604020202020204" pitchFamily="34" charset="0"/>
              <a:buChar char="•"/>
              <a:defRPr sz="2400">
                <a:latin typeface="+mn-lt"/>
              </a:defRPr>
            </a:lvl1pPr>
            <a:lvl2pPr marL="741600" indent="-284400">
              <a:buClr>
                <a:srgbClr val="007FA3"/>
              </a:buClr>
              <a:defRPr sz="2400">
                <a:latin typeface="+mn-lt"/>
              </a:defRPr>
            </a:lvl2pPr>
            <a:lvl3pPr indent="-230400">
              <a:buClr>
                <a:srgbClr val="007FA3"/>
              </a:buClr>
              <a:defRPr sz="2400">
                <a:latin typeface="+mn-lt"/>
              </a:defRPr>
            </a:lvl3pPr>
            <a:lvl4pPr indent="-230400">
              <a:buClr>
                <a:srgbClr val="007FA3"/>
              </a:buClr>
              <a:defRPr sz="2400">
                <a:latin typeface="+mn-lt"/>
              </a:defRPr>
            </a:lvl4pPr>
            <a:lvl5pPr indent="-230400">
              <a:buClr>
                <a:srgbClr val="007FA3"/>
              </a:buClr>
              <a:defRPr sz="2400">
                <a:latin typeface="+mn-lt"/>
              </a:defRPr>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4/15/2026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567289351"/>
      </p:ext>
    </p:extLst>
  </p:cSld>
  <p:clrMapOvr>
    <a:masterClrMapping/>
  </p:clrMapOvr>
  <p:extLst>
    <p:ext uri="{DCECCB84-F9BA-43D5-87BE-67443E8EF086}">
      <p15:sldGuideLst xmlns:p15="http://schemas.microsoft.com/office/powerpoint/2012/main">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Title and One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6"/>
            <a:ext cx="8229600" cy="4434275"/>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 </a:t>
            </a:r>
          </a:p>
          <a:p>
            <a:pPr lvl="2"/>
            <a:r>
              <a:rPr lang="en-US" dirty="0"/>
              <a:t> </a:t>
            </a:r>
          </a:p>
          <a:p>
            <a:pPr lvl="3"/>
            <a:r>
              <a:rPr lang="en-US" dirty="0"/>
              <a:t> </a:t>
            </a:r>
          </a:p>
          <a:p>
            <a:pPr lvl="3"/>
            <a:endParaRPr lang="en-US" dirty="0"/>
          </a:p>
          <a:p>
            <a:pPr lvl="4"/>
            <a:endParaRPr lang="en-US" dirty="0"/>
          </a:p>
        </p:txBody>
      </p:sp>
    </p:spTree>
    <p:extLst>
      <p:ext uri="{BB962C8B-B14F-4D97-AF65-F5344CB8AC3E}">
        <p14:creationId xmlns:p14="http://schemas.microsoft.com/office/powerpoint/2010/main" val="3678147491"/>
      </p:ext>
    </p:extLst>
  </p:cSld>
  <p:clrMapOvr>
    <a:masterClrMapping/>
  </p:clrMapOvr>
  <p:extLst>
    <p:ext uri="{DCECCB84-F9BA-43D5-87BE-67443E8EF086}">
      <p15:sldGuideLst xmlns:p15="http://schemas.microsoft.com/office/powerpoint/2012/main">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1836354"/>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 </a:t>
            </a:r>
          </a:p>
          <a:p>
            <a:pPr lvl="2"/>
            <a:r>
              <a:rPr lang="en-US" dirty="0"/>
              <a:t> </a:t>
            </a:r>
          </a:p>
          <a:p>
            <a:pPr lvl="3"/>
            <a:r>
              <a:rPr lang="en-US" dirty="0"/>
              <a:t> </a:t>
            </a:r>
          </a:p>
          <a:p>
            <a:pPr lvl="3"/>
            <a:endParaRPr lang="en-US" dirty="0"/>
          </a:p>
          <a:p>
            <a:pPr lvl="4"/>
            <a:endParaRPr lang="en-US" dirty="0"/>
          </a:p>
        </p:txBody>
      </p:sp>
      <p:sp>
        <p:nvSpPr>
          <p:cNvPr id="3" name="Content Placeholder 2"/>
          <p:cNvSpPr>
            <a:spLocks noGrp="1"/>
          </p:cNvSpPr>
          <p:nvPr>
            <p:ph sz="quarter" idx="14"/>
          </p:nvPr>
        </p:nvSpPr>
        <p:spPr>
          <a:xfrm>
            <a:off x="457200" y="3632200"/>
            <a:ext cx="8229600" cy="1793875"/>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748656664"/>
      </p:ext>
    </p:extLst>
  </p:cSld>
  <p:clrMapOvr>
    <a:masterClrMapping/>
  </p:clrMapOvr>
  <p:extLst>
    <p:ext uri="{DCECCB84-F9BA-43D5-87BE-67443E8EF086}">
      <p15:sldGuideLst xmlns:p15="http://schemas.microsoft.com/office/powerpoint/2012/main">
        <p15:guide id="2"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and Three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1263785"/>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 </a:t>
            </a:r>
          </a:p>
          <a:p>
            <a:pPr lvl="2"/>
            <a:r>
              <a:rPr lang="en-US" dirty="0"/>
              <a:t> </a:t>
            </a:r>
          </a:p>
          <a:p>
            <a:pPr lvl="3"/>
            <a:r>
              <a:rPr lang="en-US" dirty="0"/>
              <a:t> </a:t>
            </a:r>
          </a:p>
          <a:p>
            <a:pPr lvl="3"/>
            <a:endParaRPr lang="en-US" dirty="0"/>
          </a:p>
          <a:p>
            <a:pPr lvl="4"/>
            <a:endParaRPr lang="en-US" dirty="0"/>
          </a:p>
        </p:txBody>
      </p:sp>
      <p:sp>
        <p:nvSpPr>
          <p:cNvPr id="3" name="Content Placeholder 2"/>
          <p:cNvSpPr>
            <a:spLocks noGrp="1"/>
          </p:cNvSpPr>
          <p:nvPr>
            <p:ph sz="quarter" idx="14"/>
          </p:nvPr>
        </p:nvSpPr>
        <p:spPr>
          <a:xfrm>
            <a:off x="457200" y="3063790"/>
            <a:ext cx="8229600" cy="1183470"/>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5"/>
          </p:nvPr>
        </p:nvSpPr>
        <p:spPr>
          <a:xfrm>
            <a:off x="457200" y="4490938"/>
            <a:ext cx="8229600" cy="1260575"/>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266143735"/>
      </p:ext>
    </p:extLst>
  </p:cSld>
  <p:clrMapOvr>
    <a:masterClrMapping/>
  </p:clrMapOvr>
  <p:extLst>
    <p:ext uri="{DCECCB84-F9BA-43D5-87BE-67443E8EF086}">
      <p15:sldGuideLst xmlns:p15="http://schemas.microsoft.com/office/powerpoint/2012/main">
        <p15:guide id="2"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and Four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8"/>
            <a:ext cx="8229600" cy="895050"/>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 </a:t>
            </a:r>
          </a:p>
          <a:p>
            <a:pPr lvl="2"/>
            <a:r>
              <a:rPr lang="en-US" dirty="0"/>
              <a:t> </a:t>
            </a:r>
          </a:p>
          <a:p>
            <a:pPr lvl="3"/>
            <a:r>
              <a:rPr lang="en-US" dirty="0"/>
              <a:t> </a:t>
            </a:r>
          </a:p>
          <a:p>
            <a:pPr lvl="3"/>
            <a:endParaRPr lang="en-US" dirty="0"/>
          </a:p>
          <a:p>
            <a:pPr lvl="4"/>
            <a:endParaRPr lang="en-US" dirty="0"/>
          </a:p>
        </p:txBody>
      </p:sp>
      <p:sp>
        <p:nvSpPr>
          <p:cNvPr id="3" name="Content Placeholder 2"/>
          <p:cNvSpPr>
            <a:spLocks noGrp="1"/>
          </p:cNvSpPr>
          <p:nvPr>
            <p:ph sz="quarter" idx="14"/>
          </p:nvPr>
        </p:nvSpPr>
        <p:spPr>
          <a:xfrm>
            <a:off x="457200" y="2760292"/>
            <a:ext cx="8229600" cy="1076770"/>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5"/>
          </p:nvPr>
        </p:nvSpPr>
        <p:spPr>
          <a:xfrm>
            <a:off x="457200" y="4016772"/>
            <a:ext cx="8229600" cy="1016701"/>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6" name="Content Placeholder 5"/>
          <p:cNvSpPr>
            <a:spLocks noGrp="1"/>
          </p:cNvSpPr>
          <p:nvPr>
            <p:ph sz="quarter" idx="16"/>
          </p:nvPr>
        </p:nvSpPr>
        <p:spPr>
          <a:xfrm>
            <a:off x="457200" y="5155500"/>
            <a:ext cx="8232775" cy="911925"/>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762941656"/>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and Five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8"/>
            <a:ext cx="8229600" cy="708308"/>
          </a:xfrm>
        </p:spPr>
        <p:txBody>
          <a:bodyPr lIns="0" tIns="0" rIns="0" bIns="0"/>
          <a:lstStyle>
            <a:lvl1pPr indent="-255600">
              <a:defRPr sz="2400">
                <a:latin typeface="+mn-lt"/>
              </a:defRPr>
            </a:lvl1pPr>
            <a:lvl2pPr indent="-230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 </a:t>
            </a:r>
          </a:p>
          <a:p>
            <a:pPr lvl="2"/>
            <a:r>
              <a:rPr lang="en-US" dirty="0"/>
              <a:t> </a:t>
            </a:r>
          </a:p>
          <a:p>
            <a:pPr lvl="3"/>
            <a:r>
              <a:rPr lang="en-US" dirty="0"/>
              <a:t> </a:t>
            </a:r>
          </a:p>
          <a:p>
            <a:pPr lvl="3"/>
            <a:endParaRPr lang="en-US" dirty="0"/>
          </a:p>
          <a:p>
            <a:pPr lvl="4"/>
            <a:endParaRPr lang="en-US" dirty="0"/>
          </a:p>
        </p:txBody>
      </p:sp>
      <p:sp>
        <p:nvSpPr>
          <p:cNvPr id="3" name="Content Placeholder 2"/>
          <p:cNvSpPr>
            <a:spLocks noGrp="1"/>
          </p:cNvSpPr>
          <p:nvPr>
            <p:ph sz="quarter" idx="14"/>
          </p:nvPr>
        </p:nvSpPr>
        <p:spPr>
          <a:xfrm>
            <a:off x="457200" y="2451377"/>
            <a:ext cx="8229600" cy="735437"/>
          </a:xfrm>
        </p:spPr>
        <p:txBody>
          <a:bodyPr lIns="0" tIns="0" rIns="0" bIns="0"/>
          <a:lstStyle>
            <a:lvl1pPr indent="-255600">
              <a:defRPr sz="2400">
                <a:latin typeface="+mn-lt"/>
              </a:defRPr>
            </a:lvl1pPr>
            <a:lvl2pPr indent="-230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5"/>
          </p:nvPr>
        </p:nvSpPr>
        <p:spPr>
          <a:xfrm>
            <a:off x="457200" y="3486685"/>
            <a:ext cx="8229600" cy="716830"/>
          </a:xfrm>
        </p:spPr>
        <p:txBody>
          <a:bodyPr lIns="0" tIns="0" rIns="0" bIns="0"/>
          <a:lstStyle>
            <a:lvl1pPr indent="-255600">
              <a:defRPr sz="2400">
                <a:latin typeface="+mn-lt"/>
              </a:defRPr>
            </a:lvl1pPr>
            <a:lvl2pPr indent="-2556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6" name="Content Placeholder 5"/>
          <p:cNvSpPr>
            <a:spLocks noGrp="1"/>
          </p:cNvSpPr>
          <p:nvPr>
            <p:ph sz="quarter" idx="16"/>
          </p:nvPr>
        </p:nvSpPr>
        <p:spPr>
          <a:xfrm>
            <a:off x="457200" y="4503386"/>
            <a:ext cx="8232775" cy="716828"/>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7"/>
          </p:nvPr>
        </p:nvSpPr>
        <p:spPr>
          <a:xfrm>
            <a:off x="457200" y="5494338"/>
            <a:ext cx="8229600" cy="555625"/>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415060848"/>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and Six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8"/>
            <a:ext cx="8229600" cy="595178"/>
          </a:xfrm>
        </p:spPr>
        <p:txBody>
          <a:bodyPr lIns="0" tIns="0" rIns="0" bIns="0"/>
          <a:lstStyle>
            <a:lvl1pPr indent="-255600">
              <a:defRPr sz="2400">
                <a:latin typeface="+mn-lt"/>
              </a:defRPr>
            </a:lvl1pPr>
            <a:lvl2pPr indent="-230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 </a:t>
            </a:r>
          </a:p>
          <a:p>
            <a:pPr lvl="2"/>
            <a:r>
              <a:rPr lang="en-US" dirty="0"/>
              <a:t> </a:t>
            </a:r>
          </a:p>
          <a:p>
            <a:pPr lvl="3"/>
            <a:r>
              <a:rPr lang="en-US" dirty="0"/>
              <a:t> </a:t>
            </a:r>
          </a:p>
          <a:p>
            <a:pPr lvl="3"/>
            <a:endParaRPr lang="en-US" dirty="0"/>
          </a:p>
          <a:p>
            <a:pPr lvl="4"/>
            <a:endParaRPr lang="en-US" dirty="0"/>
          </a:p>
        </p:txBody>
      </p:sp>
      <p:sp>
        <p:nvSpPr>
          <p:cNvPr id="3" name="Content Placeholder 2"/>
          <p:cNvSpPr>
            <a:spLocks noGrp="1"/>
          </p:cNvSpPr>
          <p:nvPr>
            <p:ph sz="quarter" idx="14"/>
          </p:nvPr>
        </p:nvSpPr>
        <p:spPr>
          <a:xfrm>
            <a:off x="457200" y="2273743"/>
            <a:ext cx="8229600" cy="554915"/>
          </a:xfrm>
        </p:spPr>
        <p:txBody>
          <a:bodyPr lIns="0" tIns="0" rIns="0" bIns="0"/>
          <a:lstStyle>
            <a:lvl1pPr indent="-255600">
              <a:defRPr sz="2400">
                <a:latin typeface="+mn-lt"/>
              </a:defRPr>
            </a:lvl1pPr>
            <a:lvl2pPr indent="-230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5"/>
          </p:nvPr>
        </p:nvSpPr>
        <p:spPr>
          <a:xfrm>
            <a:off x="457200" y="2950895"/>
            <a:ext cx="8229600" cy="535791"/>
          </a:xfrm>
        </p:spPr>
        <p:txBody>
          <a:bodyPr lIns="0" tIns="0" rIns="0" bIns="0"/>
          <a:lstStyle>
            <a:lvl1pPr indent="-255600">
              <a:defRPr sz="2400">
                <a:latin typeface="+mn-lt"/>
              </a:defRPr>
            </a:lvl1pPr>
            <a:lvl2pPr indent="-2556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6" name="Content Placeholder 5"/>
          <p:cNvSpPr>
            <a:spLocks noGrp="1"/>
          </p:cNvSpPr>
          <p:nvPr>
            <p:ph sz="quarter" idx="16"/>
          </p:nvPr>
        </p:nvSpPr>
        <p:spPr>
          <a:xfrm>
            <a:off x="457200" y="3639492"/>
            <a:ext cx="8232775" cy="677152"/>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7"/>
          </p:nvPr>
        </p:nvSpPr>
        <p:spPr>
          <a:xfrm>
            <a:off x="457200" y="4469451"/>
            <a:ext cx="8229600" cy="598206"/>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8" name="Content Placeholder 7"/>
          <p:cNvSpPr>
            <a:spLocks noGrp="1"/>
          </p:cNvSpPr>
          <p:nvPr>
            <p:ph sz="quarter" idx="18"/>
          </p:nvPr>
        </p:nvSpPr>
        <p:spPr>
          <a:xfrm>
            <a:off x="457200" y="5221288"/>
            <a:ext cx="8232775" cy="641350"/>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74427139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and Seven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8"/>
            <a:ext cx="8229600" cy="407853"/>
          </a:xfrm>
        </p:spPr>
        <p:txBody>
          <a:bodyPr lIns="0" tIns="0" rIns="0" bIns="0"/>
          <a:lstStyle>
            <a:lvl1pPr indent="-255600">
              <a:defRPr sz="2400">
                <a:latin typeface="+mn-lt"/>
              </a:defRPr>
            </a:lvl1pPr>
            <a:lvl2pPr indent="-230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 </a:t>
            </a:r>
          </a:p>
          <a:p>
            <a:pPr lvl="2"/>
            <a:r>
              <a:rPr lang="en-US" dirty="0"/>
              <a:t> </a:t>
            </a:r>
          </a:p>
          <a:p>
            <a:pPr lvl="3"/>
            <a:r>
              <a:rPr lang="en-US" dirty="0"/>
              <a:t> </a:t>
            </a:r>
          </a:p>
          <a:p>
            <a:pPr lvl="3"/>
            <a:endParaRPr lang="en-US" dirty="0"/>
          </a:p>
          <a:p>
            <a:pPr lvl="4"/>
            <a:endParaRPr lang="en-US" dirty="0"/>
          </a:p>
        </p:txBody>
      </p:sp>
      <p:sp>
        <p:nvSpPr>
          <p:cNvPr id="3" name="Content Placeholder 2"/>
          <p:cNvSpPr>
            <a:spLocks noGrp="1"/>
          </p:cNvSpPr>
          <p:nvPr>
            <p:ph sz="quarter" idx="14"/>
          </p:nvPr>
        </p:nvSpPr>
        <p:spPr>
          <a:xfrm>
            <a:off x="457200" y="2116988"/>
            <a:ext cx="8229600" cy="412568"/>
          </a:xfrm>
        </p:spPr>
        <p:txBody>
          <a:bodyPr lIns="0" tIns="0" rIns="0" bIns="0"/>
          <a:lstStyle>
            <a:lvl1pPr indent="-255600">
              <a:defRPr sz="2400">
                <a:latin typeface="+mn-lt"/>
              </a:defRPr>
            </a:lvl1pPr>
            <a:lvl2pPr indent="-230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5"/>
          </p:nvPr>
        </p:nvSpPr>
        <p:spPr>
          <a:xfrm>
            <a:off x="457200" y="2734849"/>
            <a:ext cx="8229600" cy="433357"/>
          </a:xfrm>
        </p:spPr>
        <p:txBody>
          <a:bodyPr lIns="0" tIns="0" rIns="0" bIns="0"/>
          <a:lstStyle>
            <a:lvl1pPr indent="-255600">
              <a:defRPr sz="2400">
                <a:latin typeface="+mn-lt"/>
              </a:defRPr>
            </a:lvl1pPr>
            <a:lvl2pPr indent="-2556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6" name="Content Placeholder 5"/>
          <p:cNvSpPr>
            <a:spLocks noGrp="1"/>
          </p:cNvSpPr>
          <p:nvPr>
            <p:ph sz="quarter" idx="16"/>
          </p:nvPr>
        </p:nvSpPr>
        <p:spPr>
          <a:xfrm>
            <a:off x="457200" y="3365732"/>
            <a:ext cx="8232775" cy="465069"/>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7"/>
          </p:nvPr>
        </p:nvSpPr>
        <p:spPr>
          <a:xfrm>
            <a:off x="457200" y="3938594"/>
            <a:ext cx="8229600" cy="443837"/>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8" name="Content Placeholder 7"/>
          <p:cNvSpPr>
            <a:spLocks noGrp="1"/>
          </p:cNvSpPr>
          <p:nvPr>
            <p:ph sz="quarter" idx="18"/>
          </p:nvPr>
        </p:nvSpPr>
        <p:spPr>
          <a:xfrm>
            <a:off x="457200" y="4569758"/>
            <a:ext cx="8232775" cy="464206"/>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9"/>
          </p:nvPr>
        </p:nvSpPr>
        <p:spPr>
          <a:xfrm>
            <a:off x="457200" y="5221288"/>
            <a:ext cx="8229600" cy="551633"/>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2377977732"/>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and Eight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8"/>
            <a:ext cx="8229600" cy="407853"/>
          </a:xfrm>
        </p:spPr>
        <p:txBody>
          <a:bodyPr lIns="0" tIns="0" rIns="0" bIns="0"/>
          <a:lstStyle>
            <a:lvl1pPr indent="-255600">
              <a:defRPr sz="2400">
                <a:latin typeface="+mn-lt"/>
              </a:defRPr>
            </a:lvl1pPr>
            <a:lvl2pPr indent="-230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 </a:t>
            </a:r>
          </a:p>
          <a:p>
            <a:pPr lvl="2"/>
            <a:r>
              <a:rPr lang="en-US" dirty="0"/>
              <a:t> </a:t>
            </a:r>
          </a:p>
          <a:p>
            <a:pPr lvl="3"/>
            <a:r>
              <a:rPr lang="en-US" dirty="0"/>
              <a:t> </a:t>
            </a:r>
          </a:p>
          <a:p>
            <a:pPr lvl="3"/>
            <a:endParaRPr lang="en-US" dirty="0"/>
          </a:p>
          <a:p>
            <a:pPr lvl="4"/>
            <a:endParaRPr lang="en-US" dirty="0"/>
          </a:p>
        </p:txBody>
      </p:sp>
      <p:sp>
        <p:nvSpPr>
          <p:cNvPr id="3" name="Content Placeholder 2"/>
          <p:cNvSpPr>
            <a:spLocks noGrp="1"/>
          </p:cNvSpPr>
          <p:nvPr>
            <p:ph sz="quarter" idx="14"/>
          </p:nvPr>
        </p:nvSpPr>
        <p:spPr>
          <a:xfrm>
            <a:off x="457200" y="2116988"/>
            <a:ext cx="8229600" cy="412568"/>
          </a:xfrm>
        </p:spPr>
        <p:txBody>
          <a:bodyPr lIns="0" tIns="0" rIns="0" bIns="0"/>
          <a:lstStyle>
            <a:lvl1pPr indent="-255600">
              <a:defRPr sz="2400">
                <a:latin typeface="+mn-lt"/>
              </a:defRPr>
            </a:lvl1pPr>
            <a:lvl2pPr indent="-230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5"/>
          </p:nvPr>
        </p:nvSpPr>
        <p:spPr>
          <a:xfrm>
            <a:off x="457200" y="2734849"/>
            <a:ext cx="8229600" cy="433357"/>
          </a:xfrm>
        </p:spPr>
        <p:txBody>
          <a:bodyPr lIns="0" tIns="0" rIns="0" bIns="0"/>
          <a:lstStyle>
            <a:lvl1pPr indent="-255600">
              <a:defRPr sz="2400">
                <a:latin typeface="+mn-lt"/>
              </a:defRPr>
            </a:lvl1pPr>
            <a:lvl2pPr indent="-2556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6" name="Content Placeholder 5"/>
          <p:cNvSpPr>
            <a:spLocks noGrp="1"/>
          </p:cNvSpPr>
          <p:nvPr>
            <p:ph sz="quarter" idx="16"/>
          </p:nvPr>
        </p:nvSpPr>
        <p:spPr>
          <a:xfrm>
            <a:off x="457200" y="3365732"/>
            <a:ext cx="8232775" cy="385535"/>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7"/>
          </p:nvPr>
        </p:nvSpPr>
        <p:spPr>
          <a:xfrm>
            <a:off x="457200" y="3938595"/>
            <a:ext cx="8229600" cy="378050"/>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8" name="Content Placeholder 7"/>
          <p:cNvSpPr>
            <a:spLocks noGrp="1"/>
          </p:cNvSpPr>
          <p:nvPr>
            <p:ph sz="quarter" idx="18"/>
          </p:nvPr>
        </p:nvSpPr>
        <p:spPr>
          <a:xfrm>
            <a:off x="457200" y="4503969"/>
            <a:ext cx="8232775" cy="384225"/>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9"/>
          </p:nvPr>
        </p:nvSpPr>
        <p:spPr>
          <a:xfrm>
            <a:off x="457200" y="5069348"/>
            <a:ext cx="8229600" cy="451321"/>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57200" y="5614988"/>
            <a:ext cx="8232775" cy="444500"/>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622864151"/>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Figure + Caption">
    <p:spTree>
      <p:nvGrpSpPr>
        <p:cNvPr id="1" name="Shape 53"/>
        <p:cNvGrpSpPr/>
        <p:nvPr/>
      </p:nvGrpSpPr>
      <p:grpSpPr>
        <a:xfrm>
          <a:off x="0" y="0"/>
          <a:ext cx="0" cy="0"/>
          <a:chOff x="0" y="0"/>
          <a:chExt cx="0" cy="0"/>
        </a:xfrm>
      </p:grpSpPr>
      <p:sp>
        <p:nvSpPr>
          <p:cNvPr id="54" name="Shape 54"/>
          <p:cNvSpPr txBox="1">
            <a:spLocks noGrp="1"/>
          </p:cNvSpPr>
          <p:nvPr>
            <p:ph type="title"/>
          </p:nvPr>
        </p:nvSpPr>
        <p:spPr>
          <a:xfrm>
            <a:off x="457200" y="228600"/>
            <a:ext cx="8229600" cy="1066799"/>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55" name="Shape 55"/>
          <p:cNvSpPr txBox="1">
            <a:spLocks noGrp="1"/>
          </p:cNvSpPr>
          <p:nvPr>
            <p:ph type="body" idx="1"/>
          </p:nvPr>
        </p:nvSpPr>
        <p:spPr>
          <a:xfrm>
            <a:off x="457200" y="5368160"/>
            <a:ext cx="8229600" cy="916856"/>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8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56" name="Shape 5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263026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rtl="0">
              <a:spcBef>
                <a:spcPts val="0"/>
              </a:spcBef>
              <a:buNone/>
            </a:pPr>
            <a:endParaRPr sz="1800" b="0" i="0" u="none" strike="noStrike" cap="none">
              <a:solidFill>
                <a:schemeClr val="lt1"/>
              </a:solidFill>
              <a:latin typeface="Arial"/>
              <a:ea typeface="Arial"/>
              <a:cs typeface="Arial"/>
              <a:sym typeface="Arial"/>
            </a:endParaRPr>
          </a:p>
        </p:txBody>
      </p:sp>
      <p:sp>
        <p:nvSpPr>
          <p:cNvPr id="19" name="Shape 19"/>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Shape 20"/>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8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1" name="Shape 2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2457349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1" i="0" u="none" strike="noStrike" cap="none">
                <a:solidFill>
                  <a:schemeClr val="dk1"/>
                </a:solidFill>
                <a:latin typeface="+mn-lt"/>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dirty="0"/>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mn-lt"/>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dirty="0"/>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cSld name="Title + Learning Objectives and Content">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63" name="Shape 63"/>
          <p:cNvSpPr txBox="1">
            <a:spLocks noGrp="1"/>
          </p:cNvSpPr>
          <p:nvPr>
            <p:ph type="body" idx="1"/>
          </p:nvPr>
        </p:nvSpPr>
        <p:spPr>
          <a:xfrm>
            <a:off x="457200" y="816429"/>
            <a:ext cx="8229600" cy="402769"/>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64" name="Shape 64"/>
          <p:cNvSpPr txBox="1">
            <a:spLocks noGrp="1"/>
          </p:cNvSpPr>
          <p:nvPr>
            <p:ph type="body" idx="2"/>
          </p:nvPr>
        </p:nvSpPr>
        <p:spPr>
          <a:xfrm>
            <a:off x="457200" y="1600200"/>
            <a:ext cx="8229600" cy="45259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65" name="Shape 65"/>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6" name="Shape 66"/>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7" name="Shape 67"/>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cSld name="Section Header">
    <p:spTree>
      <p:nvGrpSpPr>
        <p:cNvPr id="1" name="Shape 68"/>
        <p:cNvGrpSpPr/>
        <p:nvPr/>
      </p:nvGrpSpPr>
      <p:grpSpPr>
        <a:xfrm>
          <a:off x="0" y="0"/>
          <a:ext cx="0" cy="0"/>
          <a:chOff x="0" y="0"/>
          <a:chExt cx="0" cy="0"/>
        </a:xfrm>
      </p:grpSpPr>
      <p:sp>
        <p:nvSpPr>
          <p:cNvPr id="69" name="Shape 69"/>
          <p:cNvSpPr txBox="1">
            <a:spLocks noGrp="1"/>
          </p:cNvSpPr>
          <p:nvPr>
            <p:ph type="title"/>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70" name="Shape 70"/>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a:p>
        </p:txBody>
      </p:sp>
      <p:sp>
        <p:nvSpPr>
          <p:cNvPr id="71" name="Shape 7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cSld name="Title Only">
    <p:spTree>
      <p:nvGrpSpPr>
        <p:cNvPr id="1" name="Shape 74"/>
        <p:cNvGrpSpPr/>
        <p:nvPr/>
      </p:nvGrpSpPr>
      <p:grpSpPr>
        <a:xfrm>
          <a:off x="0" y="0"/>
          <a:ext cx="0" cy="0"/>
          <a:chOff x="0" y="0"/>
          <a:chExt cx="0" cy="0"/>
        </a:xfrm>
      </p:grpSpPr>
      <p:sp>
        <p:nvSpPr>
          <p:cNvPr id="75" name="Shape 75"/>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76" name="Shape 7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7" name="Shape 7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8" name="Shape 7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dirty="0"/>
          </a:p>
        </p:txBody>
      </p:sp>
      <p:sp>
        <p:nvSpPr>
          <p:cNvPr id="41" name="Shape 41"/>
          <p:cNvSpPr txBox="1">
            <a:spLocks noGrp="1"/>
          </p:cNvSpPr>
          <p:nvPr>
            <p:ph type="body" idx="3"/>
          </p:nvPr>
        </p:nvSpPr>
        <p:spPr>
          <a:xfrm>
            <a:off x="5029200" y="3200401"/>
            <a:ext cx="3657600" cy="602738"/>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dirty="0"/>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9" name="Shape 39"/>
          <p:cNvSpPr txBox="1">
            <a:spLocks noGrp="1"/>
          </p:cNvSpPr>
          <p:nvPr>
            <p:ph type="body" idx="13"/>
          </p:nvPr>
        </p:nvSpPr>
        <p:spPr>
          <a:xfrm>
            <a:off x="474779" y="1500547"/>
            <a:ext cx="8229600" cy="20515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3" name="Content Placeholder 2"/>
          <p:cNvSpPr>
            <a:spLocks noGrp="1"/>
          </p:cNvSpPr>
          <p:nvPr>
            <p:ph sz="quarter" idx="14"/>
          </p:nvPr>
        </p:nvSpPr>
        <p:spPr>
          <a:xfrm>
            <a:off x="5029200" y="4640263"/>
            <a:ext cx="3675063" cy="1050925"/>
          </a:xfrm>
        </p:spPr>
        <p:txBody>
          <a:bodyPr/>
          <a:lstStyle>
            <a:lvl1pPr marL="101600" indent="0">
              <a:buNone/>
              <a:defRPr/>
            </a:lvl1pPr>
          </a:lstStyle>
          <a:p>
            <a:pPr lvl="0"/>
            <a:endParaRPr lang="en-US" dirty="0"/>
          </a:p>
        </p:txBody>
      </p:sp>
    </p:spTree>
    <p:extLst>
      <p:ext uri="{BB962C8B-B14F-4D97-AF65-F5344CB8AC3E}">
        <p14:creationId xmlns:p14="http://schemas.microsoft.com/office/powerpoint/2010/main" val="30688579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idx="10"/>
          </p:nvPr>
        </p:nvSpPr>
        <p:spPr/>
        <p:txBody>
          <a:bodyPr/>
          <a:lstStyle/>
          <a:p>
            <a:endParaRPr lang="en-US"/>
          </a:p>
        </p:txBody>
      </p:sp>
      <p:sp>
        <p:nvSpPr>
          <p:cNvPr id="3" name="Date Placeholder 2"/>
          <p:cNvSpPr>
            <a:spLocks noGrp="1"/>
          </p:cNvSpPr>
          <p:nvPr>
            <p:ph type="dt" idx="1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4117686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2382" y="6400800"/>
            <a:ext cx="9141619"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90000"/>
              </a:lnSpc>
              <a:defRPr sz="6000" spc="-38"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645152"/>
            <a:ext cx="7543800" cy="1143000"/>
          </a:xfrm>
        </p:spPr>
        <p:txBody>
          <a:bodyPr lIns="91440" rIns="91440">
            <a:normAutofit/>
          </a:bodyPr>
          <a:lstStyle>
            <a:lvl1pPr marL="0" indent="0" algn="l">
              <a:buNone/>
              <a:defRPr sz="1800" cap="all" spc="150" baseline="0">
                <a:solidFill>
                  <a:schemeClr val="tx1"/>
                </a:solidFill>
                <a:latin typeface="+mn-lt"/>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905744" y="4474741"/>
            <a:ext cx="740664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4/15/2026</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647001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slideLayout" Target="../slideLayouts/slideLayout17.xml"/><Relationship Id="rId1" Type="http://schemas.openxmlformats.org/officeDocument/2006/relationships/slideLayout" Target="../slideLayouts/slideLayout16.xml"/><Relationship Id="rId5" Type="http://schemas.openxmlformats.org/officeDocument/2006/relationships/image" Target="../media/image1.png"/><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15" name="Shape 15" descr="Pearson Logo"/>
          <p:cNvPicPr preferRelativeResize="0"/>
          <p:nvPr/>
        </p:nvPicPr>
        <p:blipFill rotWithShape="1">
          <a:blip r:embed="rId17">
            <a:alphaModFix/>
          </a:blip>
          <a:srcRect/>
          <a:stretch/>
        </p:blipFill>
        <p:spPr>
          <a:xfrm>
            <a:off x="443972" y="6429709"/>
            <a:ext cx="917999" cy="279914"/>
          </a:xfrm>
          <a:prstGeom prst="rect">
            <a:avLst/>
          </a:prstGeom>
          <a:noFill/>
          <a:ln>
            <a:noFill/>
          </a:ln>
        </p:spPr>
      </p:pic>
      <p:sp>
        <p:nvSpPr>
          <p:cNvPr id="16" name="Text Placeholder 5"/>
          <p:cNvSpPr txBox="1">
            <a:spLocks/>
          </p:cNvSpPr>
          <p:nvPr userDrawn="1"/>
        </p:nvSpPr>
        <p:spPr>
          <a:xfrm>
            <a:off x="2769080" y="6480371"/>
            <a:ext cx="5986350" cy="368298"/>
          </a:xfrm>
          <a:prstGeom prst="rect">
            <a:avLst/>
          </a:prstGeom>
        </p:spPr>
        <p:txBody>
          <a:bodyPr anchor="ctr"/>
          <a:lst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2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gn="r"/>
            <a:r>
              <a:rPr lang="en-US" sz="1200" dirty="0">
                <a:solidFill>
                  <a:schemeClr val="tx1"/>
                </a:solidFill>
              </a:rPr>
              <a:t>Copyright © 2020 Pearson Education Ltd.</a:t>
            </a:r>
          </a:p>
        </p:txBody>
      </p:sp>
    </p:spTree>
  </p:cSld>
  <p:clrMap bg1="lt1" tx1="dk1" bg2="dk2" tx2="lt2" accent1="accent1" accent2="accent2" accent3="accent3" accent4="accent4" accent5="accent5" accent6="accent6" hlink="hlink" folHlink="folHlink"/>
  <p:sldLayoutIdLst>
    <p:sldLayoutId id="214748367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666" r:id="rId10"/>
    <p:sldLayoutId id="2147483665" r:id="rId11"/>
    <p:sldLayoutId id="2147483651" r:id="rId12"/>
    <p:sldLayoutId id="2147483654" r:id="rId13"/>
    <p:sldLayoutId id="2147483655" r:id="rId14"/>
    <p:sldLayoutId id="2147483656"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2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15" name="Shape 15" descr="Pearson Logo"/>
          <p:cNvPicPr preferRelativeResize="0"/>
          <p:nvPr/>
        </p:nvPicPr>
        <p:blipFill rotWithShape="1">
          <a:blip r:embed="rId5">
            <a:alphaModFix/>
          </a:blip>
          <a:srcRect/>
          <a:stretch/>
        </p:blipFill>
        <p:spPr>
          <a:xfrm>
            <a:off x="443972" y="6429709"/>
            <a:ext cx="917999" cy="279914"/>
          </a:xfrm>
          <a:prstGeom prst="rect">
            <a:avLst/>
          </a:prstGeom>
          <a:noFill/>
          <a:ln>
            <a:noFill/>
          </a:ln>
        </p:spPr>
      </p:pic>
    </p:spTree>
    <p:extLst>
      <p:ext uri="{BB962C8B-B14F-4D97-AF65-F5344CB8AC3E}">
        <p14:creationId xmlns:p14="http://schemas.microsoft.com/office/powerpoint/2010/main" val="200283969"/>
      </p:ext>
    </p:extLst>
  </p:cSld>
  <p:clrMap bg1="lt1" tx1="dk1" bg2="dk2" tx2="lt2" accent1="accent1" accent2="accent2" accent3="accent3" accent4="accent4" accent5="accent5" accent6="accent6" hlink="hlink" folHlink="folHlink"/>
  <p:sldLayoutIdLst>
    <p:sldLayoutId id="2147483664" r:id="rId1"/>
    <p:sldLayoutId id="2147483693" r:id="rId2"/>
    <p:sldLayoutId id="2147483703"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L="255588" marR="0" lvl="0" indent="-25603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hyperlink" Target="Salesforce.com" TargetMode="External"/><Relationship Id="rId2" Type="http://schemas.openxmlformats.org/officeDocument/2006/relationships/hyperlink" Target="Amazon.com" TargetMode="External"/><Relationship Id="rId1" Type="http://schemas.openxmlformats.org/officeDocument/2006/relationships/slideLayout" Target="../slideLayouts/slideLayout2.xml"/><Relationship Id="rId4" Type="http://schemas.openxmlformats.org/officeDocument/2006/relationships/hyperlink" Target="SourceForge.net"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4760728" y="3957666"/>
            <a:ext cx="4290237" cy="534500"/>
          </a:xfrm>
        </p:spPr>
        <p:txBody>
          <a:bodyPr>
            <a:normAutofit fontScale="77500" lnSpcReduction="20000"/>
          </a:bodyPr>
          <a:lstStyle/>
          <a:p>
            <a:pPr algn="r"/>
            <a:r>
              <a:rPr lang="en-US" dirty="0"/>
              <a:t>Topic 2: </a:t>
            </a:r>
            <a:r>
              <a:rPr lang="en-US" dirty="0">
                <a:latin typeface="+mn-lt"/>
              </a:rPr>
              <a:t>The Origins of Software</a:t>
            </a:r>
          </a:p>
          <a:p>
            <a:pPr algn="r"/>
            <a:endParaRPr lang="en-US" dirty="0"/>
          </a:p>
        </p:txBody>
      </p:sp>
      <p:pic>
        <p:nvPicPr>
          <p:cNvPr id="6" name="Picture 5">
            <a:extLst>
              <a:ext uri="{FF2B5EF4-FFF2-40B4-BE49-F238E27FC236}">
                <a16:creationId xmlns:a16="http://schemas.microsoft.com/office/drawing/2014/main" id="{8940CBE3-3F91-419A-A649-32AB388ECA8B}"/>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 y="857257"/>
            <a:ext cx="4572000" cy="5143493"/>
          </a:xfrm>
          <a:prstGeom prst="rect">
            <a:avLst/>
          </a:prstGeom>
        </p:spPr>
      </p:pic>
      <p:sp>
        <p:nvSpPr>
          <p:cNvPr id="4" name="Subtitle 2">
            <a:extLst>
              <a:ext uri="{FF2B5EF4-FFF2-40B4-BE49-F238E27FC236}">
                <a16:creationId xmlns:a16="http://schemas.microsoft.com/office/drawing/2014/main" id="{5442734F-1AD7-E7D8-5BDE-9461EC366C5F}"/>
              </a:ext>
            </a:extLst>
          </p:cNvPr>
          <p:cNvSpPr txBox="1">
            <a:spLocks/>
          </p:cNvSpPr>
          <p:nvPr/>
        </p:nvSpPr>
        <p:spPr>
          <a:xfrm>
            <a:off x="4760729" y="4733468"/>
            <a:ext cx="4170621" cy="940331"/>
          </a:xfrm>
          <a:prstGeom prst="rect">
            <a:avLst/>
          </a:prstGeom>
        </p:spPr>
        <p:txBody>
          <a:bodyPr vert="horz" lIns="68580" tIns="34290" rIns="68580" bIns="34290" rtlCol="0" anchor="t">
            <a:normAutofit/>
          </a:bodyPr>
          <a:lstStyle>
            <a:lvl1pPr marL="0" indent="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None/>
              <a:defRPr sz="2400" kern="1200" cap="all" spc="200" baseline="0">
                <a:solidFill>
                  <a:schemeClr val="tx1"/>
                </a:solidFill>
                <a:latin typeface="+mn-lt"/>
                <a:ea typeface="+mn-ea"/>
                <a:cs typeface="+mn-cs"/>
              </a:defRPr>
            </a:lvl1pPr>
            <a:lvl2pPr marL="457200" indent="0" algn="ctr" defTabSz="914400" rtl="0" eaLnBrk="1" latinLnBrk="0" hangingPunct="1">
              <a:lnSpc>
                <a:spcPct val="100000"/>
              </a:lnSpc>
              <a:spcBef>
                <a:spcPts val="200"/>
              </a:spcBef>
              <a:spcAft>
                <a:spcPts val="400"/>
              </a:spcAft>
              <a:buClrTx/>
              <a:buFont typeface="Calibri" pitchFamily="34" charset="0"/>
              <a:buNone/>
              <a:defRPr sz="2400" kern="1200">
                <a:solidFill>
                  <a:schemeClr val="tx1">
                    <a:lumMod val="75000"/>
                    <a:lumOff val="25000"/>
                  </a:schemeClr>
                </a:solidFill>
                <a:latin typeface="+mn-lt"/>
                <a:ea typeface="+mn-ea"/>
                <a:cs typeface="+mn-cs"/>
              </a:defRPr>
            </a:lvl2pPr>
            <a:lvl3pPr marL="914400" indent="0" algn="ctr" defTabSz="914400" rtl="0" eaLnBrk="1" latinLnBrk="0" hangingPunct="1">
              <a:lnSpc>
                <a:spcPct val="100000"/>
              </a:lnSpc>
              <a:spcBef>
                <a:spcPts val="200"/>
              </a:spcBef>
              <a:spcAft>
                <a:spcPts val="400"/>
              </a:spcAft>
              <a:buClrTx/>
              <a:buFont typeface="Calibri" pitchFamily="34" charset="0"/>
              <a:buNone/>
              <a:defRPr sz="2400" kern="1200">
                <a:solidFill>
                  <a:schemeClr val="tx1">
                    <a:lumMod val="75000"/>
                    <a:lumOff val="25000"/>
                  </a:schemeClr>
                </a:solidFill>
                <a:latin typeface="+mn-lt"/>
                <a:ea typeface="+mn-ea"/>
                <a:cs typeface="+mn-cs"/>
              </a:defRPr>
            </a:lvl3pPr>
            <a:lvl4pPr marL="1371600" indent="0" algn="ctr" defTabSz="914400" rtl="0" eaLnBrk="1" latinLnBrk="0" hangingPunct="1">
              <a:lnSpc>
                <a:spcPct val="100000"/>
              </a:lnSpc>
              <a:spcBef>
                <a:spcPts val="200"/>
              </a:spcBef>
              <a:spcAft>
                <a:spcPts val="400"/>
              </a:spcAft>
              <a:buClrTx/>
              <a:buFont typeface="Calibri" pitchFamily="34" charset="0"/>
              <a:buNone/>
              <a:defRPr sz="2000" kern="1200">
                <a:solidFill>
                  <a:schemeClr val="tx1">
                    <a:lumMod val="75000"/>
                    <a:lumOff val="25000"/>
                  </a:schemeClr>
                </a:solidFill>
                <a:latin typeface="+mn-lt"/>
                <a:ea typeface="+mn-ea"/>
                <a:cs typeface="+mn-cs"/>
              </a:defRPr>
            </a:lvl4pPr>
            <a:lvl5pPr marL="1828800" indent="0" algn="ctr" defTabSz="914400" rtl="0" eaLnBrk="1" latinLnBrk="0" hangingPunct="1">
              <a:lnSpc>
                <a:spcPct val="100000"/>
              </a:lnSpc>
              <a:spcBef>
                <a:spcPts val="200"/>
              </a:spcBef>
              <a:spcAft>
                <a:spcPts val="400"/>
              </a:spcAft>
              <a:buClrTx/>
              <a:buFont typeface="Calibri" pitchFamily="34" charset="0"/>
              <a:buNone/>
              <a:defRPr sz="20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9pPr>
          </a:lstStyle>
          <a:p>
            <a:pPr algn="ctr"/>
            <a:r>
              <a:rPr lang="en-US" sz="1800" b="1"/>
              <a:t>MARCH2026 – AUGUST2026</a:t>
            </a:r>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3296265" y="1336573"/>
            <a:ext cx="5483570" cy="2621093"/>
          </a:xfrm>
          <a:solidFill>
            <a:schemeClr val="bg1"/>
          </a:solidFill>
        </p:spPr>
        <p:txBody>
          <a:bodyPr>
            <a:noAutofit/>
          </a:bodyPr>
          <a:lstStyle/>
          <a:p>
            <a:pPr algn="r"/>
            <a:r>
              <a:rPr lang="en-US" sz="3300" dirty="0">
                <a:latin typeface="+mj-lt"/>
              </a:rPr>
              <a:t>ISP550</a:t>
            </a:r>
            <a:br>
              <a:rPr lang="en-US" sz="3300" dirty="0">
                <a:latin typeface="+mj-lt"/>
              </a:rPr>
            </a:br>
            <a:r>
              <a:rPr lang="en-US" sz="3300" dirty="0">
                <a:latin typeface="+mj-lt"/>
              </a:rPr>
              <a:t>INFORMATION SYSTEMS ENGINEERING</a:t>
            </a:r>
          </a:p>
        </p:txBody>
      </p:sp>
    </p:spTree>
    <p:extLst>
      <p:ext uri="{BB962C8B-B14F-4D97-AF65-F5344CB8AC3E}">
        <p14:creationId xmlns:p14="http://schemas.microsoft.com/office/powerpoint/2010/main" val="8959158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 name="Title 18"/>
          <p:cNvSpPr>
            <a:spLocks noGrp="1"/>
          </p:cNvSpPr>
          <p:nvPr>
            <p:ph type="title"/>
          </p:nvPr>
        </p:nvSpPr>
        <p:spPr/>
        <p:txBody>
          <a:bodyPr/>
          <a:lstStyle/>
          <a:p>
            <a:r>
              <a:rPr lang="en-US" dirty="0">
                <a:ea typeface="Verdana" panose="020B0604030504040204" pitchFamily="34" charset="0"/>
                <a:cs typeface="Calibri" panose="020F0502020204030204" pitchFamily="34" charset="0"/>
              </a:rPr>
              <a:t>Learning Objectives</a:t>
            </a:r>
            <a:endParaRPr lang="en-IN" dirty="0"/>
          </a:p>
        </p:txBody>
      </p:sp>
      <p:sp>
        <p:nvSpPr>
          <p:cNvPr id="20" name="Content Placeholder 19"/>
          <p:cNvSpPr>
            <a:spLocks noGrp="1"/>
          </p:cNvSpPr>
          <p:nvPr>
            <p:ph sz="quarter" idx="13"/>
          </p:nvPr>
        </p:nvSpPr>
        <p:spPr/>
        <p:txBody>
          <a:bodyPr/>
          <a:lstStyle/>
          <a:p>
            <a:pPr marL="432" indent="0">
              <a:buNone/>
            </a:pPr>
            <a:r>
              <a:rPr lang="en-US" b="1" dirty="0">
                <a:solidFill>
                  <a:srgbClr val="007FA3"/>
                </a:solidFill>
              </a:rPr>
              <a:t>2.1</a:t>
            </a:r>
            <a:r>
              <a:rPr lang="en-US" dirty="0"/>
              <a:t> Explain </a:t>
            </a:r>
            <a:r>
              <a:rPr lang="en-US" dirty="0">
                <a:solidFill>
                  <a:srgbClr val="FF0000"/>
                </a:solidFill>
              </a:rPr>
              <a:t>outsourcing</a:t>
            </a:r>
          </a:p>
          <a:p>
            <a:pPr marL="432" indent="0">
              <a:buNone/>
            </a:pPr>
            <a:r>
              <a:rPr lang="en-US" b="1" dirty="0">
                <a:solidFill>
                  <a:srgbClr val="007FA3"/>
                </a:solidFill>
              </a:rPr>
              <a:t>2.2</a:t>
            </a:r>
            <a:r>
              <a:rPr lang="en-US" b="1" dirty="0">
                <a:solidFill>
                  <a:schemeClr val="accent1"/>
                </a:solidFill>
              </a:rPr>
              <a:t> </a:t>
            </a:r>
            <a:r>
              <a:rPr lang="en-US" dirty="0"/>
              <a:t>Describe six different </a:t>
            </a:r>
            <a:r>
              <a:rPr lang="en-US" dirty="0">
                <a:solidFill>
                  <a:srgbClr val="FF0000"/>
                </a:solidFill>
              </a:rPr>
              <a:t>sources of software</a:t>
            </a:r>
          </a:p>
          <a:p>
            <a:pPr marL="432" indent="0">
              <a:buNone/>
            </a:pPr>
            <a:r>
              <a:rPr lang="en-US" b="1" dirty="0">
                <a:solidFill>
                  <a:srgbClr val="007FA3"/>
                </a:solidFill>
              </a:rPr>
              <a:t>2.3</a:t>
            </a:r>
            <a:r>
              <a:rPr lang="en-US" dirty="0"/>
              <a:t> Discuss how to </a:t>
            </a:r>
            <a:r>
              <a:rPr lang="en-US" dirty="0">
                <a:solidFill>
                  <a:srgbClr val="FF0000"/>
                </a:solidFill>
              </a:rPr>
              <a:t>evaluate off-the-shelf software</a:t>
            </a:r>
          </a:p>
          <a:p>
            <a:pPr marL="432" indent="0">
              <a:buNone/>
            </a:pPr>
            <a:r>
              <a:rPr lang="en-US" b="1" dirty="0">
                <a:solidFill>
                  <a:srgbClr val="007FA3"/>
                </a:solidFill>
              </a:rPr>
              <a:t>2.4</a:t>
            </a:r>
            <a:r>
              <a:rPr lang="en-US" b="1" dirty="0">
                <a:solidFill>
                  <a:schemeClr val="accent1"/>
                </a:solidFill>
              </a:rPr>
              <a:t> </a:t>
            </a:r>
            <a:r>
              <a:rPr lang="en-US" dirty="0"/>
              <a:t>Explain </a:t>
            </a:r>
            <a:r>
              <a:rPr lang="en-US" dirty="0">
                <a:solidFill>
                  <a:srgbClr val="FF0000"/>
                </a:solidFill>
              </a:rPr>
              <a:t>reuse</a:t>
            </a:r>
            <a:r>
              <a:rPr lang="en-US" dirty="0"/>
              <a:t> and its role in software development</a:t>
            </a:r>
          </a:p>
        </p:txBody>
      </p:sp>
    </p:spTree>
    <p:extLst>
      <p:ext uri="{BB962C8B-B14F-4D97-AF65-F5344CB8AC3E}">
        <p14:creationId xmlns:p14="http://schemas.microsoft.com/office/powerpoint/2010/main" val="30254353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195F5-047B-4169-AE51-2B47A464E899}"/>
              </a:ext>
            </a:extLst>
          </p:cNvPr>
          <p:cNvSpPr>
            <a:spLocks noGrp="1"/>
          </p:cNvSpPr>
          <p:nvPr>
            <p:ph type="title"/>
          </p:nvPr>
        </p:nvSpPr>
        <p:spPr>
          <a:xfrm>
            <a:off x="457200" y="215372"/>
            <a:ext cx="8229600" cy="473556"/>
          </a:xfrm>
        </p:spPr>
        <p:txBody>
          <a:bodyPr/>
          <a:lstStyle/>
          <a:p>
            <a:r>
              <a:rPr lang="en-US" dirty="0">
                <a:cs typeface="Calibri" panose="020F0502020204030204" pitchFamily="34" charset="0"/>
              </a:rPr>
              <a:t>Introduction</a:t>
            </a:r>
            <a:endParaRPr lang="en-US" dirty="0"/>
          </a:p>
        </p:txBody>
      </p:sp>
      <p:sp>
        <p:nvSpPr>
          <p:cNvPr id="3" name="Content Placeholder 2">
            <a:extLst>
              <a:ext uri="{FF2B5EF4-FFF2-40B4-BE49-F238E27FC236}">
                <a16:creationId xmlns:a16="http://schemas.microsoft.com/office/drawing/2014/main" id="{B1B0148C-9A5F-4209-A188-C4DB2E6FC542}"/>
              </a:ext>
            </a:extLst>
          </p:cNvPr>
          <p:cNvSpPr>
            <a:spLocks noGrp="1"/>
          </p:cNvSpPr>
          <p:nvPr>
            <p:ph sz="quarter" idx="13"/>
          </p:nvPr>
        </p:nvSpPr>
        <p:spPr>
          <a:xfrm>
            <a:off x="133350" y="729791"/>
            <a:ext cx="8763000" cy="4434275"/>
          </a:xfrm>
        </p:spPr>
        <p:txBody>
          <a:bodyPr/>
          <a:lstStyle/>
          <a:p>
            <a:r>
              <a:rPr lang="en-US" dirty="0"/>
              <a:t>In the </a:t>
            </a:r>
            <a:r>
              <a:rPr lang="en-US" dirty="0">
                <a:solidFill>
                  <a:srgbClr val="FF0000"/>
                </a:solidFill>
              </a:rPr>
              <a:t>past software development </a:t>
            </a:r>
            <a:r>
              <a:rPr lang="en-US" dirty="0"/>
              <a:t>for organizations was done mostly </a:t>
            </a:r>
            <a:r>
              <a:rPr lang="en-US" dirty="0">
                <a:solidFill>
                  <a:srgbClr val="FF0000"/>
                </a:solidFill>
              </a:rPr>
              <a:t>in-house</a:t>
            </a:r>
            <a:r>
              <a:rPr lang="en-US" dirty="0"/>
              <a:t> and </a:t>
            </a:r>
            <a:r>
              <a:rPr lang="en-US" dirty="0">
                <a:solidFill>
                  <a:srgbClr val="FF0000"/>
                </a:solidFill>
              </a:rPr>
              <a:t>from scratch</a:t>
            </a:r>
          </a:p>
          <a:p>
            <a:r>
              <a:rPr lang="en-US" dirty="0">
                <a:solidFill>
                  <a:srgbClr val="FF0000"/>
                </a:solidFill>
              </a:rPr>
              <a:t>Today</a:t>
            </a:r>
            <a:r>
              <a:rPr lang="en-US" dirty="0"/>
              <a:t>, there are many </a:t>
            </a:r>
            <a:r>
              <a:rPr lang="en-US" dirty="0">
                <a:solidFill>
                  <a:srgbClr val="FF0000"/>
                </a:solidFill>
              </a:rPr>
              <a:t>different sources </a:t>
            </a:r>
            <a:r>
              <a:rPr lang="en-US" dirty="0"/>
              <a:t>of software</a:t>
            </a:r>
          </a:p>
          <a:p>
            <a:r>
              <a:rPr lang="en-US" dirty="0">
                <a:solidFill>
                  <a:srgbClr val="FF0000"/>
                </a:solidFill>
              </a:rPr>
              <a:t>Now</a:t>
            </a:r>
            <a:r>
              <a:rPr lang="en-US" dirty="0"/>
              <a:t> focus is on where you can obtain the many pieces and </a:t>
            </a:r>
            <a:r>
              <a:rPr lang="en-US" dirty="0">
                <a:solidFill>
                  <a:srgbClr val="FF0000"/>
                </a:solidFill>
              </a:rPr>
              <a:t>components </a:t>
            </a:r>
            <a:r>
              <a:rPr lang="en-US" dirty="0"/>
              <a:t>that you will combine into an application that you have been asked to create</a:t>
            </a:r>
          </a:p>
        </p:txBody>
      </p:sp>
      <p:pic>
        <p:nvPicPr>
          <p:cNvPr id="4" name="Picture 3">
            <a:extLst>
              <a:ext uri="{FF2B5EF4-FFF2-40B4-BE49-F238E27FC236}">
                <a16:creationId xmlns:a16="http://schemas.microsoft.com/office/drawing/2014/main" id="{60FB93B3-AFF6-9A3E-2355-81CA4E0250D0}"/>
              </a:ext>
            </a:extLst>
          </p:cNvPr>
          <p:cNvPicPr>
            <a:picLocks noChangeAspect="1"/>
          </p:cNvPicPr>
          <p:nvPr/>
        </p:nvPicPr>
        <p:blipFill>
          <a:blip r:embed="rId2"/>
          <a:stretch>
            <a:fillRect/>
          </a:stretch>
        </p:blipFill>
        <p:spPr>
          <a:xfrm>
            <a:off x="2108339" y="3690601"/>
            <a:ext cx="4927321" cy="2946929"/>
          </a:xfrm>
          <a:prstGeom prst="rect">
            <a:avLst/>
          </a:prstGeom>
        </p:spPr>
      </p:pic>
    </p:spTree>
    <p:extLst>
      <p:ext uri="{BB962C8B-B14F-4D97-AF65-F5344CB8AC3E}">
        <p14:creationId xmlns:p14="http://schemas.microsoft.com/office/powerpoint/2010/main" val="36780202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F325E39-C16F-4A1C-8581-D8E091A8CC0A}"/>
              </a:ext>
            </a:extLst>
          </p:cNvPr>
          <p:cNvSpPr>
            <a:spLocks noGrp="1"/>
          </p:cNvSpPr>
          <p:nvPr>
            <p:ph type="title"/>
          </p:nvPr>
        </p:nvSpPr>
        <p:spPr/>
        <p:txBody>
          <a:bodyPr/>
          <a:lstStyle/>
          <a:p>
            <a:r>
              <a:rPr lang="en-US" dirty="0"/>
              <a:t>Outsourcing</a:t>
            </a:r>
          </a:p>
        </p:txBody>
      </p:sp>
      <p:sp>
        <p:nvSpPr>
          <p:cNvPr id="6" name="Content Placeholder 5">
            <a:extLst>
              <a:ext uri="{FF2B5EF4-FFF2-40B4-BE49-F238E27FC236}">
                <a16:creationId xmlns:a16="http://schemas.microsoft.com/office/drawing/2014/main" id="{4AAE94BE-99A1-4319-8857-473806A551CB}"/>
              </a:ext>
            </a:extLst>
          </p:cNvPr>
          <p:cNvSpPr>
            <a:spLocks noGrp="1"/>
          </p:cNvSpPr>
          <p:nvPr>
            <p:ph sz="quarter" idx="14"/>
          </p:nvPr>
        </p:nvSpPr>
        <p:spPr>
          <a:xfrm>
            <a:off x="457199" y="2088466"/>
            <a:ext cx="8368145" cy="3906980"/>
          </a:xfrm>
        </p:spPr>
        <p:txBody>
          <a:bodyPr/>
          <a:lstStyle/>
          <a:p>
            <a:r>
              <a:rPr lang="en-US" b="1" dirty="0">
                <a:solidFill>
                  <a:srgbClr val="FF0000"/>
                </a:solidFill>
              </a:rPr>
              <a:t>Outsourcing</a:t>
            </a:r>
            <a:r>
              <a:rPr lang="en-US" dirty="0">
                <a:solidFill>
                  <a:schemeClr val="tx1"/>
                </a:solidFill>
              </a:rPr>
              <a:t> </a:t>
            </a:r>
            <a:r>
              <a:rPr lang="en-US" dirty="0"/>
              <a:t>– turning over responsibilities for </a:t>
            </a:r>
            <a:r>
              <a:rPr lang="en-US" dirty="0">
                <a:solidFill>
                  <a:srgbClr val="FF0000"/>
                </a:solidFill>
              </a:rPr>
              <a:t>some or all </a:t>
            </a:r>
            <a:r>
              <a:rPr lang="en-US" dirty="0"/>
              <a:t>of an organization’s information systems applications and operations to an </a:t>
            </a:r>
            <a:r>
              <a:rPr lang="en-US" dirty="0">
                <a:solidFill>
                  <a:srgbClr val="FF0000"/>
                </a:solidFill>
              </a:rPr>
              <a:t>outside firm</a:t>
            </a:r>
          </a:p>
          <a:p>
            <a:r>
              <a:rPr lang="en-US" dirty="0">
                <a:solidFill>
                  <a:srgbClr val="FF0000"/>
                </a:solidFill>
              </a:rPr>
              <a:t>Reasons</a:t>
            </a:r>
            <a:r>
              <a:rPr lang="en-US" dirty="0"/>
              <a:t> for outsourcing:</a:t>
            </a:r>
          </a:p>
          <a:p>
            <a:pPr lvl="1"/>
            <a:r>
              <a:rPr lang="en-US" dirty="0"/>
              <a:t>Freeing up internal resources</a:t>
            </a:r>
          </a:p>
          <a:p>
            <a:pPr lvl="1"/>
            <a:r>
              <a:rPr lang="en-US" dirty="0"/>
              <a:t>Increasing the revenue potential of the organization</a:t>
            </a:r>
          </a:p>
          <a:p>
            <a:pPr lvl="1"/>
            <a:r>
              <a:rPr lang="en-US" dirty="0"/>
              <a:t>Reducing time to markets</a:t>
            </a:r>
          </a:p>
          <a:p>
            <a:pPr lvl="1"/>
            <a:r>
              <a:rPr lang="en-US" dirty="0"/>
              <a:t>Increasing process efficiencies</a:t>
            </a:r>
          </a:p>
          <a:p>
            <a:pPr lvl="1"/>
            <a:r>
              <a:rPr lang="en-US" dirty="0"/>
              <a:t>Outsourcing noncore activities</a:t>
            </a:r>
          </a:p>
        </p:txBody>
      </p:sp>
    </p:spTree>
    <p:extLst>
      <p:ext uri="{BB962C8B-B14F-4D97-AF65-F5344CB8AC3E}">
        <p14:creationId xmlns:p14="http://schemas.microsoft.com/office/powerpoint/2010/main" val="1087512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1260A-CDEF-49BF-BB2C-60EB0D996C6E}"/>
              </a:ext>
            </a:extLst>
          </p:cNvPr>
          <p:cNvSpPr>
            <a:spLocks noGrp="1"/>
          </p:cNvSpPr>
          <p:nvPr>
            <p:ph type="title"/>
          </p:nvPr>
        </p:nvSpPr>
        <p:spPr/>
        <p:txBody>
          <a:bodyPr/>
          <a:lstStyle/>
          <a:p>
            <a:r>
              <a:rPr lang="en-US" dirty="0"/>
              <a:t>Sources of Software</a:t>
            </a:r>
          </a:p>
        </p:txBody>
      </p:sp>
      <p:sp>
        <p:nvSpPr>
          <p:cNvPr id="4" name="Content Placeholder 3">
            <a:extLst>
              <a:ext uri="{FF2B5EF4-FFF2-40B4-BE49-F238E27FC236}">
                <a16:creationId xmlns:a16="http://schemas.microsoft.com/office/drawing/2014/main" id="{29840712-3CE6-486E-BA91-FA9C92ABB65C}"/>
              </a:ext>
            </a:extLst>
          </p:cNvPr>
          <p:cNvSpPr>
            <a:spLocks noGrp="1"/>
          </p:cNvSpPr>
          <p:nvPr>
            <p:ph sz="quarter" idx="14"/>
          </p:nvPr>
        </p:nvSpPr>
        <p:spPr>
          <a:xfrm>
            <a:off x="457200" y="2098292"/>
            <a:ext cx="8229600" cy="3431020"/>
          </a:xfrm>
        </p:spPr>
        <p:txBody>
          <a:bodyPr/>
          <a:lstStyle/>
          <a:p>
            <a:r>
              <a:rPr lang="en-US" dirty="0"/>
              <a:t>Sources of software can be </a:t>
            </a:r>
            <a:r>
              <a:rPr lang="en-US" dirty="0">
                <a:solidFill>
                  <a:srgbClr val="FF0000"/>
                </a:solidFill>
              </a:rPr>
              <a:t>categorized into six major groups:</a:t>
            </a:r>
          </a:p>
          <a:p>
            <a:pPr lvl="1"/>
            <a:r>
              <a:rPr lang="en-US" dirty="0"/>
              <a:t>Information technology services firms</a:t>
            </a:r>
          </a:p>
          <a:p>
            <a:pPr lvl="1"/>
            <a:r>
              <a:rPr lang="en-US" dirty="0"/>
              <a:t>Packaged software producers</a:t>
            </a:r>
          </a:p>
          <a:p>
            <a:pPr lvl="1"/>
            <a:r>
              <a:rPr lang="en-US" dirty="0"/>
              <a:t>Enterprise solutions software</a:t>
            </a:r>
          </a:p>
          <a:p>
            <a:pPr lvl="1"/>
            <a:r>
              <a:rPr lang="en-US" dirty="0"/>
              <a:t>Cloud computing</a:t>
            </a:r>
          </a:p>
          <a:p>
            <a:pPr lvl="1"/>
            <a:r>
              <a:rPr lang="en-US" dirty="0"/>
              <a:t>Open-source software</a:t>
            </a:r>
          </a:p>
          <a:p>
            <a:pPr lvl="1"/>
            <a:r>
              <a:rPr lang="en-US" dirty="0"/>
              <a:t>In-house development</a:t>
            </a:r>
          </a:p>
        </p:txBody>
      </p:sp>
    </p:spTree>
    <p:extLst>
      <p:ext uri="{BB962C8B-B14F-4D97-AF65-F5344CB8AC3E}">
        <p14:creationId xmlns:p14="http://schemas.microsoft.com/office/powerpoint/2010/main" val="11018935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57CA0C4-656B-4349-8A6C-F7CDFBF35845}"/>
              </a:ext>
            </a:extLst>
          </p:cNvPr>
          <p:cNvSpPr>
            <a:spLocks noGrp="1"/>
          </p:cNvSpPr>
          <p:nvPr>
            <p:ph type="title"/>
          </p:nvPr>
        </p:nvSpPr>
        <p:spPr/>
        <p:txBody>
          <a:bodyPr/>
          <a:lstStyle/>
          <a:p>
            <a:r>
              <a:rPr lang="en-US" sz="3400" dirty="0"/>
              <a:t>Figure 2-1: Sources of Application Software</a:t>
            </a:r>
          </a:p>
        </p:txBody>
      </p:sp>
      <p:pic>
        <p:nvPicPr>
          <p:cNvPr id="8" name="Picture 7" descr="The six sources of application software include, Information technology services firms, packaged software providers, enterprise wide solutions, cloud computing vendors, open source software, and in-house developers.">
            <a:extLst>
              <a:ext uri="{FF2B5EF4-FFF2-40B4-BE49-F238E27FC236}">
                <a16:creationId xmlns:a16="http://schemas.microsoft.com/office/drawing/2014/main" id="{5D07CC6A-8D32-44D3-A185-BA0F74CBFA0A}"/>
              </a:ext>
            </a:extLst>
          </p:cNvPr>
          <p:cNvPicPr>
            <a:picLocks noChangeAspect="1"/>
          </p:cNvPicPr>
          <p:nvPr/>
        </p:nvPicPr>
        <p:blipFill>
          <a:blip r:embed="rId2"/>
          <a:stretch>
            <a:fillRect/>
          </a:stretch>
        </p:blipFill>
        <p:spPr>
          <a:xfrm>
            <a:off x="2328477" y="1770744"/>
            <a:ext cx="4487045" cy="3316511"/>
          </a:xfrm>
          <a:prstGeom prst="rect">
            <a:avLst/>
          </a:prstGeom>
        </p:spPr>
      </p:pic>
      <p:sp>
        <p:nvSpPr>
          <p:cNvPr id="6" name="Content Placeholder 5">
            <a:extLst>
              <a:ext uri="{FF2B5EF4-FFF2-40B4-BE49-F238E27FC236}">
                <a16:creationId xmlns:a16="http://schemas.microsoft.com/office/drawing/2014/main" id="{777B0CCE-253D-40DD-8D23-0F24FA96B0C6}"/>
              </a:ext>
            </a:extLst>
          </p:cNvPr>
          <p:cNvSpPr>
            <a:spLocks noGrp="1"/>
          </p:cNvSpPr>
          <p:nvPr>
            <p:ph sz="quarter" idx="13"/>
          </p:nvPr>
        </p:nvSpPr>
        <p:spPr>
          <a:xfrm>
            <a:off x="457199" y="5527964"/>
            <a:ext cx="8395855" cy="462637"/>
          </a:xfrm>
        </p:spPr>
        <p:txBody>
          <a:bodyPr/>
          <a:lstStyle/>
          <a:p>
            <a:pPr marL="432" indent="0">
              <a:buNone/>
            </a:pPr>
            <a:r>
              <a:rPr lang="en-US" sz="1200" dirty="0"/>
              <a:t>(</a:t>
            </a:r>
            <a:r>
              <a:rPr lang="en-US" sz="1200" b="1" dirty="0"/>
              <a:t>Sources: </a:t>
            </a:r>
            <a:r>
              <a:rPr lang="en-US" sz="1200" dirty="0"/>
              <a:t>Middle: </a:t>
            </a:r>
            <a:r>
              <a:rPr lang="en-US" sz="1200" dirty="0" err="1"/>
              <a:t>Pixachi</a:t>
            </a:r>
            <a:r>
              <a:rPr lang="en-US" sz="1200" dirty="0"/>
              <a:t>/Shutterstock, Clockwise starting with upper </a:t>
            </a:r>
            <a:r>
              <a:rPr lang="en-US" sz="1200" dirty="0" err="1"/>
              <a:t>left:Kamira</a:t>
            </a:r>
            <a:r>
              <a:rPr lang="en-US" sz="1200" dirty="0"/>
              <a:t>/Shutterstock; Amit John / Pearson India Education Services Pvt. Ltd; 1000 Words/Shutterstock; Aa Amie/Shutterstock; </a:t>
            </a:r>
            <a:r>
              <a:rPr lang="en-US" sz="1200" dirty="0" err="1"/>
              <a:t>grgroup</a:t>
            </a:r>
            <a:r>
              <a:rPr lang="en-US" sz="1200" dirty="0"/>
              <a:t>/Fotolia; Le Do / Shutterstock)</a:t>
            </a:r>
          </a:p>
        </p:txBody>
      </p:sp>
    </p:spTree>
    <p:extLst>
      <p:ext uri="{BB962C8B-B14F-4D97-AF65-F5344CB8AC3E}">
        <p14:creationId xmlns:p14="http://schemas.microsoft.com/office/powerpoint/2010/main" val="20364168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286FFDA-7184-4E52-AA20-61BFA09D3744}"/>
              </a:ext>
            </a:extLst>
          </p:cNvPr>
          <p:cNvSpPr>
            <a:spLocks noGrp="1"/>
          </p:cNvSpPr>
          <p:nvPr>
            <p:ph type="title"/>
          </p:nvPr>
        </p:nvSpPr>
        <p:spPr>
          <a:xfrm>
            <a:off x="457199" y="215371"/>
            <a:ext cx="8557491" cy="1097279"/>
          </a:xfrm>
        </p:spPr>
        <p:txBody>
          <a:bodyPr/>
          <a:lstStyle/>
          <a:p>
            <a:r>
              <a:rPr lang="en-US" dirty="0">
                <a:solidFill>
                  <a:srgbClr val="FF0000"/>
                </a:solidFill>
              </a:rPr>
              <a:t>Information Technology Service Firms</a:t>
            </a:r>
          </a:p>
        </p:txBody>
      </p:sp>
      <p:sp>
        <p:nvSpPr>
          <p:cNvPr id="6" name="Content Placeholder 5">
            <a:extLst>
              <a:ext uri="{FF2B5EF4-FFF2-40B4-BE49-F238E27FC236}">
                <a16:creationId xmlns:a16="http://schemas.microsoft.com/office/drawing/2014/main" id="{CF78A66D-4F53-4E1E-8A0E-DB17F9762F74}"/>
              </a:ext>
            </a:extLst>
          </p:cNvPr>
          <p:cNvSpPr>
            <a:spLocks noGrp="1"/>
          </p:cNvSpPr>
          <p:nvPr>
            <p:ph sz="quarter" idx="14"/>
          </p:nvPr>
        </p:nvSpPr>
        <p:spPr>
          <a:xfrm>
            <a:off x="457200" y="2057401"/>
            <a:ext cx="8229600" cy="2306782"/>
          </a:xfrm>
        </p:spPr>
        <p:txBody>
          <a:bodyPr/>
          <a:lstStyle/>
          <a:p>
            <a:r>
              <a:rPr lang="en-US" dirty="0"/>
              <a:t>I</a:t>
            </a:r>
            <a:r>
              <a:rPr lang="en-US" sz="100" dirty="0"/>
              <a:t> </a:t>
            </a:r>
            <a:r>
              <a:rPr lang="en-US" dirty="0"/>
              <a:t>T service firms help companies develop customer information systems for internal use</a:t>
            </a:r>
          </a:p>
          <a:p>
            <a:r>
              <a:rPr lang="en-US" dirty="0"/>
              <a:t>These firms employ skilled I</a:t>
            </a:r>
            <a:r>
              <a:rPr lang="en-US" sz="100" dirty="0"/>
              <a:t> </a:t>
            </a:r>
            <a:r>
              <a:rPr lang="en-US" dirty="0"/>
              <a:t>T people</a:t>
            </a:r>
          </a:p>
          <a:p>
            <a:r>
              <a:rPr lang="en-US" dirty="0"/>
              <a:t>Some examples of these companies are seen in the table on the next slide</a:t>
            </a:r>
          </a:p>
        </p:txBody>
      </p:sp>
    </p:spTree>
    <p:extLst>
      <p:ext uri="{BB962C8B-B14F-4D97-AF65-F5344CB8AC3E}">
        <p14:creationId xmlns:p14="http://schemas.microsoft.com/office/powerpoint/2010/main" val="34429386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6E7C2D0-AA9A-4C2E-A36F-8A949E56A9FA}"/>
              </a:ext>
            </a:extLst>
          </p:cNvPr>
          <p:cNvSpPr>
            <a:spLocks noGrp="1"/>
          </p:cNvSpPr>
          <p:nvPr>
            <p:ph type="title"/>
          </p:nvPr>
        </p:nvSpPr>
        <p:spPr/>
        <p:txBody>
          <a:bodyPr/>
          <a:lstStyle/>
          <a:p>
            <a:r>
              <a:rPr lang="en-US" sz="3400" dirty="0"/>
              <a:t>Table 2-1: Leading Software Firms and Their Development Specializations</a:t>
            </a:r>
          </a:p>
        </p:txBody>
      </p:sp>
      <p:graphicFrame>
        <p:nvGraphicFramePr>
          <p:cNvPr id="8" name="Table 7">
            <a:extLst>
              <a:ext uri="{FF2B5EF4-FFF2-40B4-BE49-F238E27FC236}">
                <a16:creationId xmlns:a16="http://schemas.microsoft.com/office/drawing/2014/main" id="{DECCD7D7-8E81-4283-9872-D76F72A00485}"/>
              </a:ext>
            </a:extLst>
          </p:cNvPr>
          <p:cNvGraphicFramePr>
            <a:graphicFrameLocks noGrp="1"/>
          </p:cNvGraphicFramePr>
          <p:nvPr>
            <p:extLst>
              <p:ext uri="{D42A27DB-BD31-4B8C-83A1-F6EECF244321}">
                <p14:modId xmlns:p14="http://schemas.microsoft.com/office/powerpoint/2010/main" val="3355480378"/>
              </p:ext>
            </p:extLst>
          </p:nvPr>
        </p:nvGraphicFramePr>
        <p:xfrm>
          <a:off x="539750" y="1470740"/>
          <a:ext cx="7951108" cy="4521200"/>
        </p:xfrm>
        <a:graphic>
          <a:graphicData uri="http://schemas.openxmlformats.org/drawingml/2006/table">
            <a:tbl>
              <a:tblPr firstRow="1" bandRow="1">
                <a:tableStyleId>{2D5ABB26-0587-4C30-8999-92F81FD0307C}</a:tableStyleId>
              </a:tblPr>
              <a:tblGrid>
                <a:gridCol w="2813050">
                  <a:extLst>
                    <a:ext uri="{9D8B030D-6E8A-4147-A177-3AD203B41FA5}">
                      <a16:colId xmlns:a16="http://schemas.microsoft.com/office/drawing/2014/main" val="1027658953"/>
                    </a:ext>
                  </a:extLst>
                </a:gridCol>
                <a:gridCol w="5138058">
                  <a:extLst>
                    <a:ext uri="{9D8B030D-6E8A-4147-A177-3AD203B41FA5}">
                      <a16:colId xmlns:a16="http://schemas.microsoft.com/office/drawing/2014/main" val="109428588"/>
                    </a:ext>
                  </a:extLst>
                </a:gridCol>
              </a:tblGrid>
              <a:tr h="370840">
                <a:tc>
                  <a:txBody>
                    <a:bodyPr/>
                    <a:lstStyle/>
                    <a:p>
                      <a:r>
                        <a:rPr lang="en-US" b="1" dirty="0"/>
                        <a:t>Specialization</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t>Example Firms or Websites</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46703754"/>
                  </a:ext>
                </a:extLst>
              </a:tr>
              <a:tr h="370840">
                <a:tc>
                  <a:txBody>
                    <a:bodyPr/>
                    <a:lstStyle/>
                    <a:p>
                      <a:r>
                        <a:rPr lang="en-US" dirty="0"/>
                        <a:t>I</a:t>
                      </a:r>
                      <a:r>
                        <a:rPr lang="en-US" sz="100" baseline="0" dirty="0"/>
                        <a:t> </a:t>
                      </a:r>
                      <a:r>
                        <a:rPr lang="en-US" dirty="0"/>
                        <a:t>T Services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Accenture</a:t>
                      </a:r>
                    </a:p>
                    <a:p>
                      <a:r>
                        <a:rPr lang="en-US" dirty="0"/>
                        <a:t>Computer Sciences Corporation (C</a:t>
                      </a:r>
                      <a:r>
                        <a:rPr lang="en-US" sz="100" u="none" baseline="0" dirty="0"/>
                        <a:t> </a:t>
                      </a:r>
                      <a:r>
                        <a:rPr lang="en-US" dirty="0"/>
                        <a:t>S</a:t>
                      </a:r>
                      <a:r>
                        <a:rPr lang="en-US" sz="100" baseline="0" dirty="0"/>
                        <a:t> </a:t>
                      </a:r>
                      <a:r>
                        <a:rPr lang="en-US" dirty="0"/>
                        <a:t>C)</a:t>
                      </a:r>
                    </a:p>
                    <a:p>
                      <a:r>
                        <a:rPr lang="en-US" dirty="0"/>
                        <a:t>I</a:t>
                      </a:r>
                      <a:r>
                        <a:rPr lang="en-US" sz="100" baseline="0" dirty="0"/>
                        <a:t> </a:t>
                      </a:r>
                      <a:r>
                        <a:rPr lang="en-US" dirty="0"/>
                        <a:t>B</a:t>
                      </a:r>
                      <a:r>
                        <a:rPr lang="en-US" sz="100" baseline="0" dirty="0"/>
                        <a:t> </a:t>
                      </a:r>
                      <a:r>
                        <a:rPr lang="en-US" dirty="0"/>
                        <a:t>M</a:t>
                      </a:r>
                    </a:p>
                    <a:p>
                      <a:r>
                        <a:rPr lang="en-US" dirty="0"/>
                        <a:t>H</a:t>
                      </a:r>
                      <a:r>
                        <a:rPr lang="en-US" sz="100" baseline="0" dirty="0"/>
                        <a:t> </a:t>
                      </a:r>
                      <a:r>
                        <a:rPr lang="en-US" dirty="0"/>
                        <a:t>P</a:t>
                      </a:r>
                      <a:r>
                        <a:rPr lang="en-US" sz="100" baseline="0" dirty="0"/>
                        <a:t> </a:t>
                      </a:r>
                      <a:r>
                        <a:rPr lang="en-US"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5724482"/>
                  </a:ext>
                </a:extLst>
              </a:tr>
              <a:tr h="370840">
                <a:tc>
                  <a:txBody>
                    <a:bodyPr/>
                    <a:lstStyle/>
                    <a:p>
                      <a:r>
                        <a:rPr lang="en-US" dirty="0"/>
                        <a:t>Packaged Software Providers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Intuit</a:t>
                      </a:r>
                    </a:p>
                    <a:p>
                      <a:r>
                        <a:rPr lang="en-US" dirty="0"/>
                        <a:t>Microsoft</a:t>
                      </a:r>
                    </a:p>
                    <a:p>
                      <a:r>
                        <a:rPr lang="en-US" dirty="0"/>
                        <a:t>Oracle</a:t>
                      </a:r>
                    </a:p>
                    <a:p>
                      <a:r>
                        <a:rPr lang="en-US" dirty="0"/>
                        <a:t>S</a:t>
                      </a:r>
                      <a:r>
                        <a:rPr lang="en-US" sz="100" baseline="0" dirty="0"/>
                        <a:t> </a:t>
                      </a:r>
                      <a:r>
                        <a:rPr lang="en-US" dirty="0"/>
                        <a:t>A</a:t>
                      </a:r>
                      <a:r>
                        <a:rPr lang="en-US" sz="100" baseline="0" dirty="0"/>
                        <a:t> </a:t>
                      </a:r>
                      <a:r>
                        <a:rPr lang="en-US" dirty="0"/>
                        <a:t>P A</a:t>
                      </a:r>
                      <a:r>
                        <a:rPr lang="en-US" sz="100" baseline="0" dirty="0"/>
                        <a:t> </a:t>
                      </a:r>
                      <a:r>
                        <a:rPr lang="en-US" dirty="0"/>
                        <a:t>G</a:t>
                      </a:r>
                    </a:p>
                    <a:p>
                      <a:r>
                        <a:rPr lang="en-US" dirty="0"/>
                        <a:t>Symantec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2575609"/>
                  </a:ext>
                </a:extLst>
              </a:tr>
              <a:tr h="370840">
                <a:tc>
                  <a:txBody>
                    <a:bodyPr/>
                    <a:lstStyle/>
                    <a:p>
                      <a:r>
                        <a:rPr lang="en-US" dirty="0"/>
                        <a:t>Enterprise Software Solutions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Oracle</a:t>
                      </a:r>
                    </a:p>
                    <a:p>
                      <a:r>
                        <a:rPr lang="en-US" dirty="0"/>
                        <a:t>S</a:t>
                      </a:r>
                      <a:r>
                        <a:rPr lang="en-US" sz="100" baseline="0" dirty="0"/>
                        <a:t> </a:t>
                      </a:r>
                      <a:r>
                        <a:rPr lang="en-US" dirty="0"/>
                        <a:t>A</a:t>
                      </a:r>
                      <a:r>
                        <a:rPr lang="en-US" sz="100" baseline="0" dirty="0"/>
                        <a:t> </a:t>
                      </a:r>
                      <a:r>
                        <a:rPr lang="en-US" dirty="0"/>
                        <a:t>P A</a:t>
                      </a:r>
                      <a:r>
                        <a:rPr lang="en-US" sz="100" baseline="0" dirty="0"/>
                        <a:t> </a:t>
                      </a:r>
                      <a:r>
                        <a:rPr lang="en-US" dirty="0"/>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5072322"/>
                  </a:ext>
                </a:extLst>
              </a:tr>
              <a:tr h="370840">
                <a:tc>
                  <a:txBody>
                    <a:bodyPr/>
                    <a:lstStyle/>
                    <a:p>
                      <a:r>
                        <a:rPr lang="en-US" dirty="0"/>
                        <a:t>Cloud Computing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hlinkClick r:id="rId2" action="ppaction://hlinkfile" tooltip="http://amazon.com/"/>
                        </a:rPr>
                        <a:t>Amazon.com</a:t>
                      </a:r>
                      <a:endParaRPr lang="en-US" dirty="0"/>
                    </a:p>
                    <a:p>
                      <a:r>
                        <a:rPr lang="en-US" dirty="0"/>
                        <a:t>Google</a:t>
                      </a:r>
                    </a:p>
                    <a:p>
                      <a:r>
                        <a:rPr lang="en-US" dirty="0"/>
                        <a:t>I</a:t>
                      </a:r>
                      <a:r>
                        <a:rPr lang="en-US" sz="100" baseline="0" dirty="0"/>
                        <a:t> </a:t>
                      </a:r>
                      <a:r>
                        <a:rPr lang="en-US" dirty="0"/>
                        <a:t>B</a:t>
                      </a:r>
                      <a:r>
                        <a:rPr lang="en-US" sz="100" baseline="0" dirty="0"/>
                        <a:t> </a:t>
                      </a:r>
                      <a:r>
                        <a:rPr lang="en-US" dirty="0"/>
                        <a:t>M</a:t>
                      </a:r>
                    </a:p>
                    <a:p>
                      <a:r>
                        <a:rPr lang="en-US" dirty="0"/>
                        <a:t>Microsoft</a:t>
                      </a:r>
                    </a:p>
                    <a:p>
                      <a:r>
                        <a:rPr lang="en-US" dirty="0">
                          <a:hlinkClick r:id="rId3" action="ppaction://hlinkfile" tooltip="http://salesforce.com/"/>
                        </a:rPr>
                        <a:t>Salesforce.com</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8090111"/>
                  </a:ext>
                </a:extLst>
              </a:tr>
              <a:tr h="370840">
                <a:tc>
                  <a:txBody>
                    <a:bodyPr/>
                    <a:lstStyle/>
                    <a:p>
                      <a:r>
                        <a:rPr lang="en-US" dirty="0"/>
                        <a:t>Open Solution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hlinkClick r:id="rId4" action="ppaction://hlinkfile" tooltip="https://sourceforge.net/"/>
                        </a:rPr>
                        <a:t>SourceForge.net</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9467458"/>
                  </a:ext>
                </a:extLst>
              </a:tr>
            </a:tbl>
          </a:graphicData>
        </a:graphic>
      </p:graphicFrame>
    </p:spTree>
    <p:extLst>
      <p:ext uri="{BB962C8B-B14F-4D97-AF65-F5344CB8AC3E}">
        <p14:creationId xmlns:p14="http://schemas.microsoft.com/office/powerpoint/2010/main" val="1626046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75C5CE3-E749-462D-B363-858DFD966C3C}"/>
              </a:ext>
            </a:extLst>
          </p:cNvPr>
          <p:cNvSpPr>
            <a:spLocks noGrp="1"/>
          </p:cNvSpPr>
          <p:nvPr>
            <p:ph type="title"/>
          </p:nvPr>
        </p:nvSpPr>
        <p:spPr/>
        <p:txBody>
          <a:bodyPr/>
          <a:lstStyle/>
          <a:p>
            <a:r>
              <a:rPr lang="en-US" dirty="0">
                <a:solidFill>
                  <a:srgbClr val="FF0000"/>
                </a:solidFill>
              </a:rPr>
              <a:t>Package Software Producers</a:t>
            </a:r>
          </a:p>
        </p:txBody>
      </p:sp>
      <p:sp>
        <p:nvSpPr>
          <p:cNvPr id="6" name="Content Placeholder 5">
            <a:extLst>
              <a:ext uri="{FF2B5EF4-FFF2-40B4-BE49-F238E27FC236}">
                <a16:creationId xmlns:a16="http://schemas.microsoft.com/office/drawing/2014/main" id="{0B4837ED-42E5-44E2-A3BC-052205CE66E4}"/>
              </a:ext>
            </a:extLst>
          </p:cNvPr>
          <p:cNvSpPr>
            <a:spLocks noGrp="1"/>
          </p:cNvSpPr>
          <p:nvPr>
            <p:ph sz="quarter" idx="14"/>
          </p:nvPr>
        </p:nvSpPr>
        <p:spPr>
          <a:xfrm>
            <a:off x="457200" y="2057400"/>
            <a:ext cx="8229600" cy="3368675"/>
          </a:xfrm>
        </p:spPr>
        <p:txBody>
          <a:bodyPr/>
          <a:lstStyle/>
          <a:p>
            <a:r>
              <a:rPr lang="en-US" dirty="0"/>
              <a:t>Serve many market segments</a:t>
            </a:r>
          </a:p>
          <a:p>
            <a:r>
              <a:rPr lang="en-US" dirty="0"/>
              <a:t>Prepackaged software is off-the-shelf and is not customizable</a:t>
            </a:r>
          </a:p>
          <a:p>
            <a:pPr lvl="1"/>
            <a:r>
              <a:rPr lang="en-US" dirty="0"/>
              <a:t>Examples include Quicken, QuickBooks, Microsoft Word, TurboTax</a:t>
            </a:r>
          </a:p>
          <a:p>
            <a:pPr lvl="1"/>
            <a:r>
              <a:rPr lang="en-US" dirty="0"/>
              <a:t>Meets 70% of an organization’s needs</a:t>
            </a:r>
          </a:p>
          <a:p>
            <a:r>
              <a:rPr lang="en-US" dirty="0"/>
              <a:t>An example of Microsoft Word is on the next slide</a:t>
            </a:r>
          </a:p>
        </p:txBody>
      </p:sp>
    </p:spTree>
    <p:extLst>
      <p:ext uri="{BB962C8B-B14F-4D97-AF65-F5344CB8AC3E}">
        <p14:creationId xmlns:p14="http://schemas.microsoft.com/office/powerpoint/2010/main" val="17761656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485867A-C3A6-49C1-87BB-03D13576CE98}"/>
              </a:ext>
            </a:extLst>
          </p:cNvPr>
          <p:cNvSpPr>
            <a:spLocks noGrp="1"/>
          </p:cNvSpPr>
          <p:nvPr>
            <p:ph type="title"/>
          </p:nvPr>
        </p:nvSpPr>
        <p:spPr/>
        <p:txBody>
          <a:bodyPr/>
          <a:lstStyle/>
          <a:p>
            <a:r>
              <a:rPr lang="en-US" sz="3400" dirty="0"/>
              <a:t>Figure 2-2: Document Created in Microsoft Word</a:t>
            </a:r>
          </a:p>
        </p:txBody>
      </p:sp>
      <p:pic>
        <p:nvPicPr>
          <p:cNvPr id="8" name="Picture 7" descr="A Microsoft Word document is titled as follows. From Waterfall to Agile, colon, A Review of Approaches to Systems Analysis and Design. This title is followed by the chapter title, Introduction. The incomplete chapter text is as follows. While there will be always some debate about when and where the first information system for business was developed, it is generally agreed that the first such system in the U K was developed at J Lyons and Sons. In the U S, the first administrative information system was General Electric’s payroll system, developed in 1954. Now, 60 years later, the people who developed those initial business systems would scarcely recognize the development approaches and tools currently being used to develop information systems. System development, which will be used in this chapter synonymously with system analysis and design, has changed quite a bit in the last six decades. It is the premise of this chapter that systems development has evolved through three distinct phase, left parenthesis, Figure 1, right parenthesis. Initially, development was a craft, where each system was unique and not replicable. Changes in technology and in attitude, and concerns from organizational management, led to the second phase, where development was seen as a feat of engineering. Planning, structure, and documentation governed the process. But, according to critics, the approach grew too big, too rigid and too slow. New approaches.">
            <a:extLst>
              <a:ext uri="{FF2B5EF4-FFF2-40B4-BE49-F238E27FC236}">
                <a16:creationId xmlns:a16="http://schemas.microsoft.com/office/drawing/2014/main" id="{A808DF22-310E-44D9-94D2-9ED11949D852}"/>
              </a:ext>
            </a:extLst>
          </p:cNvPr>
          <p:cNvPicPr>
            <a:picLocks noChangeAspect="1"/>
          </p:cNvPicPr>
          <p:nvPr/>
        </p:nvPicPr>
        <p:blipFill>
          <a:blip r:embed="rId2"/>
          <a:stretch>
            <a:fillRect/>
          </a:stretch>
        </p:blipFill>
        <p:spPr>
          <a:xfrm>
            <a:off x="1968782" y="1489283"/>
            <a:ext cx="5206435" cy="3981033"/>
          </a:xfrm>
          <a:prstGeom prst="rect">
            <a:avLst/>
          </a:prstGeom>
        </p:spPr>
      </p:pic>
      <p:sp>
        <p:nvSpPr>
          <p:cNvPr id="6" name="Content Placeholder 5">
            <a:extLst>
              <a:ext uri="{FF2B5EF4-FFF2-40B4-BE49-F238E27FC236}">
                <a16:creationId xmlns:a16="http://schemas.microsoft.com/office/drawing/2014/main" id="{1A552A5F-3C39-45EE-9B71-D5E9326BC22F}"/>
              </a:ext>
            </a:extLst>
          </p:cNvPr>
          <p:cNvSpPr>
            <a:spLocks noGrp="1"/>
          </p:cNvSpPr>
          <p:nvPr>
            <p:ph sz="quarter" idx="13"/>
          </p:nvPr>
        </p:nvSpPr>
        <p:spPr>
          <a:xfrm>
            <a:off x="457200" y="5829300"/>
            <a:ext cx="8229600" cy="161301"/>
          </a:xfrm>
        </p:spPr>
        <p:txBody>
          <a:bodyPr/>
          <a:lstStyle/>
          <a:p>
            <a:pPr marL="432" indent="0">
              <a:buNone/>
            </a:pPr>
            <a:r>
              <a:rPr lang="en-US" sz="1200" dirty="0"/>
              <a:t>(</a:t>
            </a:r>
            <a:r>
              <a:rPr lang="en-US" sz="1200" b="1" dirty="0"/>
              <a:t>Source: </a:t>
            </a:r>
            <a:r>
              <a:rPr lang="en-US" sz="1200" dirty="0"/>
              <a:t>Microsoft Corporation)</a:t>
            </a:r>
          </a:p>
        </p:txBody>
      </p:sp>
    </p:spTree>
    <p:extLst>
      <p:ext uri="{BB962C8B-B14F-4D97-AF65-F5344CB8AC3E}">
        <p14:creationId xmlns:p14="http://schemas.microsoft.com/office/powerpoint/2010/main" val="22785085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0A856B0-1741-4220-8C4F-1C0181033955}"/>
              </a:ext>
            </a:extLst>
          </p:cNvPr>
          <p:cNvSpPr>
            <a:spLocks noGrp="1"/>
          </p:cNvSpPr>
          <p:nvPr>
            <p:ph type="title"/>
          </p:nvPr>
        </p:nvSpPr>
        <p:spPr/>
        <p:txBody>
          <a:bodyPr/>
          <a:lstStyle/>
          <a:p>
            <a:r>
              <a:rPr lang="en-US" dirty="0">
                <a:solidFill>
                  <a:srgbClr val="FF0000"/>
                </a:solidFill>
              </a:rPr>
              <a:t>Enterprise Solutions Software</a:t>
            </a:r>
          </a:p>
        </p:txBody>
      </p:sp>
      <p:sp>
        <p:nvSpPr>
          <p:cNvPr id="6" name="Content Placeholder 5">
            <a:extLst>
              <a:ext uri="{FF2B5EF4-FFF2-40B4-BE49-F238E27FC236}">
                <a16:creationId xmlns:a16="http://schemas.microsoft.com/office/drawing/2014/main" id="{72CA21FE-D38C-4A6E-BB26-692B19BE5244}"/>
              </a:ext>
            </a:extLst>
          </p:cNvPr>
          <p:cNvSpPr>
            <a:spLocks noGrp="1"/>
          </p:cNvSpPr>
          <p:nvPr>
            <p:ph sz="quarter" idx="14"/>
          </p:nvPr>
        </p:nvSpPr>
        <p:spPr>
          <a:xfrm>
            <a:off x="457200" y="2070429"/>
            <a:ext cx="8229600" cy="4223547"/>
          </a:xfrm>
        </p:spPr>
        <p:txBody>
          <a:bodyPr/>
          <a:lstStyle/>
          <a:p>
            <a:r>
              <a:rPr lang="en-US" b="1" dirty="0">
                <a:solidFill>
                  <a:srgbClr val="FF0000"/>
                </a:solidFill>
              </a:rPr>
              <a:t>Enterprise resource planning (E</a:t>
            </a:r>
            <a:r>
              <a:rPr lang="en-US" sz="100" b="1" dirty="0">
                <a:solidFill>
                  <a:srgbClr val="FF0000"/>
                </a:solidFill>
              </a:rPr>
              <a:t> </a:t>
            </a:r>
            <a:r>
              <a:rPr lang="en-US" b="1" dirty="0">
                <a:solidFill>
                  <a:srgbClr val="FF0000"/>
                </a:solidFill>
              </a:rPr>
              <a:t>R</a:t>
            </a:r>
            <a:r>
              <a:rPr lang="en-US" sz="100" b="1" dirty="0">
                <a:solidFill>
                  <a:srgbClr val="FF0000"/>
                </a:solidFill>
              </a:rPr>
              <a:t> </a:t>
            </a:r>
            <a:r>
              <a:rPr lang="en-US" b="1" dirty="0">
                <a:solidFill>
                  <a:srgbClr val="FF0000"/>
                </a:solidFill>
              </a:rPr>
              <a:t>P) systems </a:t>
            </a:r>
            <a:r>
              <a:rPr lang="en-US" dirty="0"/>
              <a:t>integrate individual traditional business functions into a series of modules so that a single transaction occurs seamlessly within a single information system rather than several separate systems</a:t>
            </a:r>
          </a:p>
          <a:p>
            <a:r>
              <a:rPr lang="en-US" dirty="0"/>
              <a:t>Benefits include:</a:t>
            </a:r>
          </a:p>
          <a:p>
            <a:pPr lvl="1"/>
            <a:r>
              <a:rPr lang="en-US" dirty="0"/>
              <a:t>A single repository resulting in more consistent and accurate data</a:t>
            </a:r>
          </a:p>
          <a:p>
            <a:pPr lvl="1"/>
            <a:r>
              <a:rPr lang="en-US" dirty="0"/>
              <a:t>Less maintenance</a:t>
            </a:r>
          </a:p>
          <a:p>
            <a:r>
              <a:rPr lang="en-US" dirty="0"/>
              <a:t>S</a:t>
            </a:r>
            <a:r>
              <a:rPr lang="en-US" sz="100" dirty="0"/>
              <a:t> </a:t>
            </a:r>
            <a:r>
              <a:rPr lang="en-US" dirty="0"/>
              <a:t>A</a:t>
            </a:r>
            <a:r>
              <a:rPr lang="en-US" sz="100" dirty="0"/>
              <a:t> </a:t>
            </a:r>
            <a:r>
              <a:rPr lang="en-US" dirty="0"/>
              <a:t>P A</a:t>
            </a:r>
            <a:r>
              <a:rPr lang="en-US" sz="100" dirty="0"/>
              <a:t> </a:t>
            </a:r>
            <a:r>
              <a:rPr lang="en-US" dirty="0"/>
              <a:t>G is the leading vendor of E</a:t>
            </a:r>
            <a:r>
              <a:rPr lang="en-US" sz="100" dirty="0"/>
              <a:t> </a:t>
            </a:r>
            <a:r>
              <a:rPr lang="en-US" dirty="0"/>
              <a:t>R</a:t>
            </a:r>
            <a:r>
              <a:rPr lang="en-US" sz="100" dirty="0"/>
              <a:t> </a:t>
            </a:r>
            <a:r>
              <a:rPr lang="en-US" dirty="0"/>
              <a:t>P systems</a:t>
            </a:r>
          </a:p>
        </p:txBody>
      </p:sp>
    </p:spTree>
    <p:extLst>
      <p:ext uri="{BB962C8B-B14F-4D97-AF65-F5344CB8AC3E}">
        <p14:creationId xmlns:p14="http://schemas.microsoft.com/office/powerpoint/2010/main" val="3582482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0A856B0-1741-4220-8C4F-1C0181033955}"/>
              </a:ext>
            </a:extLst>
          </p:cNvPr>
          <p:cNvSpPr>
            <a:spLocks noGrp="1"/>
          </p:cNvSpPr>
          <p:nvPr>
            <p:ph type="title"/>
          </p:nvPr>
        </p:nvSpPr>
        <p:spPr/>
        <p:txBody>
          <a:bodyPr/>
          <a:lstStyle/>
          <a:p>
            <a:r>
              <a:rPr lang="en-US" dirty="0">
                <a:solidFill>
                  <a:srgbClr val="FF0000"/>
                </a:solidFill>
              </a:rPr>
              <a:t>Cloud Computing </a:t>
            </a:r>
            <a:r>
              <a:rPr lang="en-US" sz="2000" b="0" dirty="0">
                <a:solidFill>
                  <a:srgbClr val="FF0000"/>
                </a:solidFill>
              </a:rPr>
              <a:t>(1 of 2)</a:t>
            </a:r>
            <a:endParaRPr lang="en-US" dirty="0">
              <a:solidFill>
                <a:srgbClr val="FF0000"/>
              </a:solidFill>
            </a:endParaRPr>
          </a:p>
        </p:txBody>
      </p:sp>
      <p:sp>
        <p:nvSpPr>
          <p:cNvPr id="6" name="Content Placeholder 5">
            <a:extLst>
              <a:ext uri="{FF2B5EF4-FFF2-40B4-BE49-F238E27FC236}">
                <a16:creationId xmlns:a16="http://schemas.microsoft.com/office/drawing/2014/main" id="{72CA21FE-D38C-4A6E-BB26-692B19BE5244}"/>
              </a:ext>
            </a:extLst>
          </p:cNvPr>
          <p:cNvSpPr>
            <a:spLocks noGrp="1"/>
          </p:cNvSpPr>
          <p:nvPr>
            <p:ph sz="quarter" idx="14"/>
          </p:nvPr>
        </p:nvSpPr>
        <p:spPr>
          <a:xfrm>
            <a:off x="457200" y="2070429"/>
            <a:ext cx="8229600" cy="4223547"/>
          </a:xfrm>
        </p:spPr>
        <p:txBody>
          <a:bodyPr/>
          <a:lstStyle/>
          <a:p>
            <a:r>
              <a:rPr lang="en-US" b="1" dirty="0">
                <a:solidFill>
                  <a:srgbClr val="FF0000"/>
                </a:solidFill>
              </a:rPr>
              <a:t>Cloud computing </a:t>
            </a:r>
            <a:r>
              <a:rPr lang="en-US" dirty="0"/>
              <a:t>– the provision of computing resources, including applications, over the Internet, so customers do not have to invest in the computing infrastructure needed to run and maintain the resources</a:t>
            </a:r>
          </a:p>
          <a:p>
            <a:r>
              <a:rPr lang="en-US" dirty="0"/>
              <a:t>Users pay on a per-use system or license the software</a:t>
            </a:r>
          </a:p>
          <a:p>
            <a:r>
              <a:rPr lang="en-US" dirty="0"/>
              <a:t>Global market, based on cloud computing, is estimated at $209.2 billion and estimated to grow to $383.3 billion by 2020</a:t>
            </a:r>
          </a:p>
        </p:txBody>
      </p:sp>
    </p:spTree>
    <p:extLst>
      <p:ext uri="{BB962C8B-B14F-4D97-AF65-F5344CB8AC3E}">
        <p14:creationId xmlns:p14="http://schemas.microsoft.com/office/powerpoint/2010/main" val="3653763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855B7-BE10-43C6-8BF9-04B833884337}"/>
              </a:ext>
            </a:extLst>
          </p:cNvPr>
          <p:cNvSpPr>
            <a:spLocks noGrp="1"/>
          </p:cNvSpPr>
          <p:nvPr>
            <p:ph type="title"/>
          </p:nvPr>
        </p:nvSpPr>
        <p:spPr/>
        <p:txBody>
          <a:bodyPr/>
          <a:lstStyle/>
          <a:p>
            <a:r>
              <a:rPr lang="en-US" dirty="0">
                <a:solidFill>
                  <a:srgbClr val="FF0000"/>
                </a:solidFill>
              </a:rPr>
              <a:t>Cloud Computing </a:t>
            </a:r>
            <a:r>
              <a:rPr lang="en-US" sz="2000" b="0" dirty="0">
                <a:solidFill>
                  <a:srgbClr val="FF0000"/>
                </a:solidFill>
              </a:rPr>
              <a:t>(2 of 2)</a:t>
            </a:r>
            <a:endParaRPr lang="en-US" b="0" dirty="0">
              <a:solidFill>
                <a:srgbClr val="FF0000"/>
              </a:solidFill>
            </a:endParaRPr>
          </a:p>
        </p:txBody>
      </p:sp>
      <p:sp>
        <p:nvSpPr>
          <p:cNvPr id="4" name="Content Placeholder 3">
            <a:extLst>
              <a:ext uri="{FF2B5EF4-FFF2-40B4-BE49-F238E27FC236}">
                <a16:creationId xmlns:a16="http://schemas.microsoft.com/office/drawing/2014/main" id="{BFC0AFE2-B5E5-4D45-9F39-D8718D54DF9E}"/>
              </a:ext>
            </a:extLst>
          </p:cNvPr>
          <p:cNvSpPr>
            <a:spLocks noGrp="1"/>
          </p:cNvSpPr>
          <p:nvPr>
            <p:ph sz="quarter" idx="14"/>
          </p:nvPr>
        </p:nvSpPr>
        <p:spPr>
          <a:xfrm>
            <a:off x="457200" y="2084023"/>
            <a:ext cx="8229600" cy="4315622"/>
          </a:xfrm>
        </p:spPr>
        <p:txBody>
          <a:bodyPr/>
          <a:lstStyle/>
          <a:p>
            <a:r>
              <a:rPr lang="en-US" sz="2200" dirty="0"/>
              <a:t>Cloud computing examples include:</a:t>
            </a:r>
          </a:p>
          <a:p>
            <a:pPr lvl="1"/>
            <a:r>
              <a:rPr lang="en-US" sz="2200" dirty="0"/>
              <a:t>Google docs, Sheets, and Slides</a:t>
            </a:r>
          </a:p>
          <a:p>
            <a:pPr lvl="2"/>
            <a:r>
              <a:rPr lang="en-US" sz="2200" dirty="0"/>
              <a:t>Share, create docs, spreadsheets, presentations</a:t>
            </a:r>
          </a:p>
          <a:p>
            <a:pPr lvl="1"/>
            <a:r>
              <a:rPr lang="en-US" sz="2200" dirty="0"/>
              <a:t>SalesForce.com (Customer relationship management)</a:t>
            </a:r>
          </a:p>
          <a:p>
            <a:pPr lvl="1"/>
            <a:r>
              <a:rPr lang="en-US" sz="2200" dirty="0"/>
              <a:t>Allows software as a service (S</a:t>
            </a:r>
            <a:r>
              <a:rPr lang="en-US" sz="100" dirty="0"/>
              <a:t> </a:t>
            </a:r>
            <a:r>
              <a:rPr lang="en-US" sz="2200" dirty="0"/>
              <a:t>a</a:t>
            </a:r>
            <a:r>
              <a:rPr lang="en-US" sz="100" dirty="0"/>
              <a:t> </a:t>
            </a:r>
            <a:r>
              <a:rPr lang="en-US" sz="2200" dirty="0" err="1"/>
              <a:t>a</a:t>
            </a:r>
            <a:r>
              <a:rPr lang="en-US" sz="100" dirty="0"/>
              <a:t> </a:t>
            </a:r>
            <a:r>
              <a:rPr lang="en-US" sz="2200" dirty="0"/>
              <a:t>S)</a:t>
            </a:r>
          </a:p>
          <a:p>
            <a:r>
              <a:rPr lang="en-US" sz="2200" dirty="0"/>
              <a:t>Benefits include:</a:t>
            </a:r>
          </a:p>
          <a:p>
            <a:pPr lvl="1"/>
            <a:r>
              <a:rPr lang="en-US" sz="2200" dirty="0"/>
              <a:t>Freeing internal staff</a:t>
            </a:r>
          </a:p>
          <a:p>
            <a:pPr lvl="1"/>
            <a:r>
              <a:rPr lang="en-US" sz="2200" dirty="0"/>
              <a:t>Faster access to applications</a:t>
            </a:r>
          </a:p>
          <a:p>
            <a:pPr lvl="1"/>
            <a:r>
              <a:rPr lang="en-US" sz="2200" dirty="0"/>
              <a:t>Lower-cost to corporate-quality applications</a:t>
            </a:r>
          </a:p>
          <a:p>
            <a:r>
              <a:rPr lang="en-US" sz="2200" dirty="0"/>
              <a:t>Concerns include security and reliability</a:t>
            </a:r>
          </a:p>
        </p:txBody>
      </p:sp>
    </p:spTree>
    <p:extLst>
      <p:ext uri="{BB962C8B-B14F-4D97-AF65-F5344CB8AC3E}">
        <p14:creationId xmlns:p14="http://schemas.microsoft.com/office/powerpoint/2010/main" val="27802795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C1256-CAE4-408D-A840-D39B10E28393}"/>
              </a:ext>
            </a:extLst>
          </p:cNvPr>
          <p:cNvSpPr>
            <a:spLocks noGrp="1"/>
          </p:cNvSpPr>
          <p:nvPr>
            <p:ph type="title"/>
          </p:nvPr>
        </p:nvSpPr>
        <p:spPr/>
        <p:txBody>
          <a:bodyPr/>
          <a:lstStyle/>
          <a:p>
            <a:r>
              <a:rPr lang="en-US" sz="3400" dirty="0"/>
              <a:t>Figure 2-3: Presentation Edited in Google Slides</a:t>
            </a:r>
          </a:p>
        </p:txBody>
      </p:sp>
      <p:pic>
        <p:nvPicPr>
          <p:cNvPr id="7" name="Picture 6" descr="A Microsoft Power Point presentation is titled, Agility Study Preliminary Findings. It is presented by Joey George, Brian Mennecke, Kevin Scheibe, Tony Townsend on October 25, 2015. The template of the presentation indicates that it was created by students from the College of Business at Iowa State University. ">
            <a:extLst>
              <a:ext uri="{FF2B5EF4-FFF2-40B4-BE49-F238E27FC236}">
                <a16:creationId xmlns:a16="http://schemas.microsoft.com/office/drawing/2014/main" id="{E031B747-886F-4C1A-AAE9-602A335E187D}"/>
              </a:ext>
            </a:extLst>
          </p:cNvPr>
          <p:cNvPicPr>
            <a:picLocks noChangeAspect="1"/>
          </p:cNvPicPr>
          <p:nvPr/>
        </p:nvPicPr>
        <p:blipFill>
          <a:blip r:embed="rId2"/>
          <a:stretch>
            <a:fillRect/>
          </a:stretch>
        </p:blipFill>
        <p:spPr>
          <a:xfrm>
            <a:off x="1296700" y="1515437"/>
            <a:ext cx="6550598" cy="4411326"/>
          </a:xfrm>
          <a:prstGeom prst="rect">
            <a:avLst/>
          </a:prstGeom>
        </p:spPr>
      </p:pic>
      <p:sp>
        <p:nvSpPr>
          <p:cNvPr id="5" name="Content Placeholder 4">
            <a:extLst>
              <a:ext uri="{FF2B5EF4-FFF2-40B4-BE49-F238E27FC236}">
                <a16:creationId xmlns:a16="http://schemas.microsoft.com/office/drawing/2014/main" id="{CCF9BC78-287B-4650-BBF5-E6A74749BF98}"/>
              </a:ext>
            </a:extLst>
          </p:cNvPr>
          <p:cNvSpPr>
            <a:spLocks noGrp="1"/>
          </p:cNvSpPr>
          <p:nvPr>
            <p:ph sz="quarter" idx="13"/>
          </p:nvPr>
        </p:nvSpPr>
        <p:spPr>
          <a:xfrm>
            <a:off x="457200" y="6137779"/>
            <a:ext cx="8229600" cy="173568"/>
          </a:xfrm>
        </p:spPr>
        <p:txBody>
          <a:bodyPr/>
          <a:lstStyle/>
          <a:p>
            <a:pPr marL="432" indent="0">
              <a:buNone/>
            </a:pPr>
            <a:r>
              <a:rPr lang="en-US" sz="1200" dirty="0"/>
              <a:t>(</a:t>
            </a:r>
            <a:r>
              <a:rPr lang="en-US" sz="1200" b="1" dirty="0"/>
              <a:t>Source: </a:t>
            </a:r>
            <a:r>
              <a:rPr lang="en-US" sz="1200" dirty="0"/>
              <a:t>Reprinted by permission from Joey F. George)</a:t>
            </a:r>
          </a:p>
        </p:txBody>
      </p:sp>
    </p:spTree>
    <p:extLst>
      <p:ext uri="{BB962C8B-B14F-4D97-AF65-F5344CB8AC3E}">
        <p14:creationId xmlns:p14="http://schemas.microsoft.com/office/powerpoint/2010/main" val="4816803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2EE16DB-496D-4436-ADAD-AB1DF562ED86}"/>
              </a:ext>
            </a:extLst>
          </p:cNvPr>
          <p:cNvSpPr>
            <a:spLocks noGrp="1"/>
          </p:cNvSpPr>
          <p:nvPr>
            <p:ph type="title"/>
          </p:nvPr>
        </p:nvSpPr>
        <p:spPr/>
        <p:txBody>
          <a:bodyPr/>
          <a:lstStyle/>
          <a:p>
            <a:r>
              <a:rPr lang="en-US" dirty="0">
                <a:solidFill>
                  <a:srgbClr val="FF0000"/>
                </a:solidFill>
              </a:rPr>
              <a:t>Open-Source Software</a:t>
            </a:r>
          </a:p>
        </p:txBody>
      </p:sp>
      <p:sp>
        <p:nvSpPr>
          <p:cNvPr id="8" name="Content Placeholder 7">
            <a:extLst>
              <a:ext uri="{FF2B5EF4-FFF2-40B4-BE49-F238E27FC236}">
                <a16:creationId xmlns:a16="http://schemas.microsoft.com/office/drawing/2014/main" id="{0BF0A3DD-C16D-43B0-A38D-89925A5DEAB0}"/>
              </a:ext>
            </a:extLst>
          </p:cNvPr>
          <p:cNvSpPr>
            <a:spLocks noGrp="1"/>
          </p:cNvSpPr>
          <p:nvPr>
            <p:ph sz="quarter" idx="14"/>
          </p:nvPr>
        </p:nvSpPr>
        <p:spPr>
          <a:xfrm>
            <a:off x="457200" y="2123278"/>
            <a:ext cx="8229600" cy="3502822"/>
          </a:xfrm>
        </p:spPr>
        <p:txBody>
          <a:bodyPr/>
          <a:lstStyle/>
          <a:p>
            <a:r>
              <a:rPr lang="en-US" dirty="0"/>
              <a:t>Freely available, including source code</a:t>
            </a:r>
          </a:p>
          <a:p>
            <a:r>
              <a:rPr lang="en-US" dirty="0"/>
              <a:t>Developed by a community of interested people</a:t>
            </a:r>
          </a:p>
          <a:p>
            <a:r>
              <a:rPr lang="en-US" dirty="0"/>
              <a:t>Performs the same functions as commercial software</a:t>
            </a:r>
          </a:p>
          <a:p>
            <a:r>
              <a:rPr lang="en-US" dirty="0"/>
              <a:t>Examples: Linux, my</a:t>
            </a:r>
            <a:r>
              <a:rPr lang="en-US" sz="100" dirty="0"/>
              <a:t> </a:t>
            </a:r>
            <a:r>
              <a:rPr lang="en-US" dirty="0"/>
              <a:t>S</a:t>
            </a:r>
            <a:r>
              <a:rPr lang="en-US" sz="100" dirty="0"/>
              <a:t> </a:t>
            </a:r>
            <a:r>
              <a:rPr lang="en-US" dirty="0"/>
              <a:t>Q</a:t>
            </a:r>
            <a:r>
              <a:rPr lang="en-US" sz="100" dirty="0"/>
              <a:t> </a:t>
            </a:r>
            <a:r>
              <a:rPr lang="en-US" dirty="0"/>
              <a:t>L, Firefox</a:t>
            </a:r>
          </a:p>
          <a:p>
            <a:r>
              <a:rPr lang="en-US" dirty="0"/>
              <a:t>Two ways to make money with open-source software:</a:t>
            </a:r>
          </a:p>
          <a:p>
            <a:pPr lvl="1"/>
            <a:r>
              <a:rPr lang="en-US" dirty="0"/>
              <a:t>Provide maintenance and services</a:t>
            </a:r>
          </a:p>
          <a:p>
            <a:pPr lvl="1"/>
            <a:r>
              <a:rPr lang="en-US" dirty="0"/>
              <a:t>Sell a more full-featured version of the free software</a:t>
            </a:r>
          </a:p>
        </p:txBody>
      </p:sp>
    </p:spTree>
    <p:extLst>
      <p:ext uri="{BB962C8B-B14F-4D97-AF65-F5344CB8AC3E}">
        <p14:creationId xmlns:p14="http://schemas.microsoft.com/office/powerpoint/2010/main" val="15871806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6C3D3-553E-4CBF-A1BB-A5BE80D3E5DC}"/>
              </a:ext>
            </a:extLst>
          </p:cNvPr>
          <p:cNvSpPr>
            <a:spLocks noGrp="1"/>
          </p:cNvSpPr>
          <p:nvPr>
            <p:ph type="title"/>
          </p:nvPr>
        </p:nvSpPr>
        <p:spPr/>
        <p:txBody>
          <a:bodyPr/>
          <a:lstStyle/>
          <a:p>
            <a:r>
              <a:rPr lang="en-US" dirty="0">
                <a:solidFill>
                  <a:srgbClr val="FF0000"/>
                </a:solidFill>
              </a:rPr>
              <a:t>In-House Development</a:t>
            </a:r>
          </a:p>
        </p:txBody>
      </p:sp>
      <p:sp>
        <p:nvSpPr>
          <p:cNvPr id="4" name="Content Placeholder 3">
            <a:extLst>
              <a:ext uri="{FF2B5EF4-FFF2-40B4-BE49-F238E27FC236}">
                <a16:creationId xmlns:a16="http://schemas.microsoft.com/office/drawing/2014/main" id="{F465C269-EEF9-4A55-9B99-D82002FB29B9}"/>
              </a:ext>
            </a:extLst>
          </p:cNvPr>
          <p:cNvSpPr>
            <a:spLocks noGrp="1"/>
          </p:cNvSpPr>
          <p:nvPr>
            <p:ph sz="quarter" idx="14"/>
          </p:nvPr>
        </p:nvSpPr>
        <p:spPr>
          <a:xfrm>
            <a:off x="457200" y="2123278"/>
            <a:ext cx="8229600" cy="3277398"/>
          </a:xfrm>
        </p:spPr>
        <p:txBody>
          <a:bodyPr/>
          <a:lstStyle/>
          <a:p>
            <a:r>
              <a:rPr lang="en-US" dirty="0"/>
              <a:t>Involves using an organization’s staff to create systems</a:t>
            </a:r>
          </a:p>
          <a:p>
            <a:r>
              <a:rPr lang="en-US" dirty="0"/>
              <a:t>Can lead to more maintenance needs</a:t>
            </a:r>
          </a:p>
          <a:p>
            <a:r>
              <a:rPr lang="en-US" dirty="0"/>
              <a:t>Not unusual to incorporate a hybrid of in-house and purchased components as seen in the table on the next slide</a:t>
            </a:r>
          </a:p>
        </p:txBody>
      </p:sp>
    </p:spTree>
    <p:extLst>
      <p:ext uri="{BB962C8B-B14F-4D97-AF65-F5344CB8AC3E}">
        <p14:creationId xmlns:p14="http://schemas.microsoft.com/office/powerpoint/2010/main" val="11403672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9BD2C5-F8A3-4CE6-A5DD-15027C6385DC}"/>
              </a:ext>
            </a:extLst>
          </p:cNvPr>
          <p:cNvSpPr>
            <a:spLocks noGrp="1"/>
          </p:cNvSpPr>
          <p:nvPr>
            <p:ph type="title"/>
          </p:nvPr>
        </p:nvSpPr>
        <p:spPr/>
        <p:txBody>
          <a:bodyPr/>
          <a:lstStyle/>
          <a:p>
            <a:r>
              <a:rPr lang="en-US" sz="3400" dirty="0"/>
              <a:t>Table 2-2: </a:t>
            </a:r>
            <a:r>
              <a:rPr lang="en-US" sz="3400" dirty="0">
                <a:solidFill>
                  <a:srgbClr val="FF0000"/>
                </a:solidFill>
              </a:rPr>
              <a:t>Comparison </a:t>
            </a:r>
            <a:r>
              <a:rPr lang="en-US" sz="3400" dirty="0"/>
              <a:t>of Six Different Sources of Software Components</a:t>
            </a:r>
          </a:p>
        </p:txBody>
      </p:sp>
      <p:graphicFrame>
        <p:nvGraphicFramePr>
          <p:cNvPr id="8" name="Table 7">
            <a:extLst>
              <a:ext uri="{FF2B5EF4-FFF2-40B4-BE49-F238E27FC236}">
                <a16:creationId xmlns:a16="http://schemas.microsoft.com/office/drawing/2014/main" id="{902AB683-D9FB-4BD8-AC2C-0258C5ADFB95}"/>
              </a:ext>
            </a:extLst>
          </p:cNvPr>
          <p:cNvGraphicFramePr>
            <a:graphicFrameLocks noGrp="1"/>
          </p:cNvGraphicFramePr>
          <p:nvPr>
            <p:extLst>
              <p:ext uri="{D42A27DB-BD31-4B8C-83A1-F6EECF244321}">
                <p14:modId xmlns:p14="http://schemas.microsoft.com/office/powerpoint/2010/main" val="2196434508"/>
              </p:ext>
            </p:extLst>
          </p:nvPr>
        </p:nvGraphicFramePr>
        <p:xfrm>
          <a:off x="539750" y="1519381"/>
          <a:ext cx="8147049" cy="4480560"/>
        </p:xfrm>
        <a:graphic>
          <a:graphicData uri="http://schemas.openxmlformats.org/drawingml/2006/table">
            <a:tbl>
              <a:tblPr firstRow="1" bandRow="1">
                <a:tableStyleId>{2D5ABB26-0587-4C30-8999-92F81FD0307C}</a:tableStyleId>
              </a:tblPr>
              <a:tblGrid>
                <a:gridCol w="1995632">
                  <a:extLst>
                    <a:ext uri="{9D8B030D-6E8A-4147-A177-3AD203B41FA5}">
                      <a16:colId xmlns:a16="http://schemas.microsoft.com/office/drawing/2014/main" val="2911876645"/>
                    </a:ext>
                  </a:extLst>
                </a:gridCol>
                <a:gridCol w="3241963">
                  <a:extLst>
                    <a:ext uri="{9D8B030D-6E8A-4147-A177-3AD203B41FA5}">
                      <a16:colId xmlns:a16="http://schemas.microsoft.com/office/drawing/2014/main" val="841179571"/>
                    </a:ext>
                  </a:extLst>
                </a:gridCol>
                <a:gridCol w="2909454">
                  <a:extLst>
                    <a:ext uri="{9D8B030D-6E8A-4147-A177-3AD203B41FA5}">
                      <a16:colId xmlns:a16="http://schemas.microsoft.com/office/drawing/2014/main" val="1054864249"/>
                    </a:ext>
                  </a:extLst>
                </a:gridCol>
              </a:tblGrid>
              <a:tr h="370840">
                <a:tc>
                  <a:txBody>
                    <a:bodyPr/>
                    <a:lstStyle/>
                    <a:p>
                      <a:r>
                        <a:rPr lang="en-US" b="1" dirty="0"/>
                        <a:t>Producers</a:t>
                      </a:r>
                      <a:endParaRPr lang="en-US" b="1" dirty="0">
                        <a:latin typeface="+mn-lt"/>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t>When to Go to This Type of Organization for Software</a:t>
                      </a:r>
                      <a:endParaRPr lang="en-US" b="1" dirty="0">
                        <a:latin typeface="+mn-lt"/>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t>Internal Staffing Requirements</a:t>
                      </a:r>
                      <a:endParaRPr lang="en-US" b="1" dirty="0">
                        <a:latin typeface="+mn-lt"/>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94822120"/>
                  </a:ext>
                </a:extLst>
              </a:tr>
              <a:tr h="370840">
                <a:tc>
                  <a:txBody>
                    <a:bodyPr/>
                    <a:lstStyle/>
                    <a:p>
                      <a:r>
                        <a:rPr lang="en-US" dirty="0"/>
                        <a:t>I</a:t>
                      </a:r>
                      <a:r>
                        <a:rPr lang="en-US" sz="100" dirty="0"/>
                        <a:t> </a:t>
                      </a:r>
                      <a:r>
                        <a:rPr lang="en-US" dirty="0"/>
                        <a:t>T services firms</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When task requires customer support and system can’t be build internally or system needs to be sourced</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Internal staff may be needed depending on application</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83958768"/>
                  </a:ext>
                </a:extLst>
              </a:tr>
              <a:tr h="370840">
                <a:tc>
                  <a:txBody>
                    <a:bodyPr/>
                    <a:lstStyle/>
                    <a:p>
                      <a:r>
                        <a:rPr lang="en-US" dirty="0"/>
                        <a:t>Packaged software producers</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When supported task is generic</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Some IS and user staff to define requirements and evaluate packages</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4419557"/>
                  </a:ext>
                </a:extLst>
              </a:tr>
              <a:tr h="370840">
                <a:tc>
                  <a:txBody>
                    <a:bodyPr/>
                    <a:lstStyle/>
                    <a:p>
                      <a:r>
                        <a:rPr lang="en-US" dirty="0"/>
                        <a:t>Enterprise-wide solutions vendors</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For complete systems that cross functional boundaries</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Some internal staff necessary but mostly need consultants</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96550293"/>
                  </a:ext>
                </a:extLst>
              </a:tr>
              <a:tr h="370840">
                <a:tc>
                  <a:txBody>
                    <a:bodyPr/>
                    <a:lstStyle/>
                    <a:p>
                      <a:r>
                        <a:rPr lang="en-US" dirty="0"/>
                        <a:t>Cloud computing</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For instant access to an application; when supported task is generic</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Few; frees up staff for other I</a:t>
                      </a:r>
                      <a:r>
                        <a:rPr lang="en-US" sz="100" dirty="0"/>
                        <a:t> </a:t>
                      </a:r>
                      <a:r>
                        <a:rPr lang="en-US" dirty="0"/>
                        <a:t>T work</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3527179"/>
                  </a:ext>
                </a:extLst>
              </a:tr>
              <a:tr h="370840">
                <a:tc>
                  <a:txBody>
                    <a:bodyPr/>
                    <a:lstStyle/>
                    <a:p>
                      <a:r>
                        <a:rPr lang="en-US" dirty="0"/>
                        <a:t>Open-source software</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When supported task is generic but cost is an issue</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Some I</a:t>
                      </a:r>
                      <a:r>
                        <a:rPr lang="en-US" sz="100" dirty="0"/>
                        <a:t> </a:t>
                      </a:r>
                      <a:r>
                        <a:rPr lang="en-US" dirty="0"/>
                        <a:t>S and user staff to define requirements and evaluate packages</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6393101"/>
                  </a:ext>
                </a:extLst>
              </a:tr>
              <a:tr h="370840">
                <a:tc>
                  <a:txBody>
                    <a:bodyPr/>
                    <a:lstStyle/>
                    <a:p>
                      <a:r>
                        <a:rPr lang="en-US" dirty="0"/>
                        <a:t>In-house developers</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When resources and staff are available, and system must be built from scratch</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Internal staff necessary though staff size may vary</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6766045"/>
                  </a:ext>
                </a:extLst>
              </a:tr>
            </a:tbl>
          </a:graphicData>
        </a:graphic>
      </p:graphicFrame>
    </p:spTree>
    <p:extLst>
      <p:ext uri="{BB962C8B-B14F-4D97-AF65-F5344CB8AC3E}">
        <p14:creationId xmlns:p14="http://schemas.microsoft.com/office/powerpoint/2010/main" val="13999073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19DC279-FE17-4517-8618-CF38EEECC518}"/>
              </a:ext>
            </a:extLst>
          </p:cNvPr>
          <p:cNvSpPr>
            <a:spLocks noGrp="1"/>
          </p:cNvSpPr>
          <p:nvPr>
            <p:ph type="title"/>
          </p:nvPr>
        </p:nvSpPr>
        <p:spPr/>
        <p:txBody>
          <a:bodyPr/>
          <a:lstStyle/>
          <a:p>
            <a:r>
              <a:rPr lang="en-US" dirty="0">
                <a:solidFill>
                  <a:srgbClr val="0070C0"/>
                </a:solidFill>
              </a:rPr>
              <a:t>Choosing Off-the-Shelf Software </a:t>
            </a:r>
            <a:r>
              <a:rPr lang="en-US" sz="2000" b="0" dirty="0">
                <a:solidFill>
                  <a:srgbClr val="0070C0"/>
                </a:solidFill>
              </a:rPr>
              <a:t>(1 of 2)</a:t>
            </a:r>
            <a:endParaRPr lang="en-US" b="0" dirty="0">
              <a:solidFill>
                <a:srgbClr val="0070C0"/>
              </a:solidFill>
            </a:endParaRPr>
          </a:p>
        </p:txBody>
      </p:sp>
      <p:sp>
        <p:nvSpPr>
          <p:cNvPr id="6" name="Content Placeholder 5">
            <a:extLst>
              <a:ext uri="{FF2B5EF4-FFF2-40B4-BE49-F238E27FC236}">
                <a16:creationId xmlns:a16="http://schemas.microsoft.com/office/drawing/2014/main" id="{112B805E-1E2A-4F0A-9634-C34F45DEAC7C}"/>
              </a:ext>
            </a:extLst>
          </p:cNvPr>
          <p:cNvSpPr>
            <a:spLocks noGrp="1"/>
          </p:cNvSpPr>
          <p:nvPr>
            <p:ph sz="quarter" idx="14"/>
          </p:nvPr>
        </p:nvSpPr>
        <p:spPr>
          <a:xfrm>
            <a:off x="457200" y="1526378"/>
            <a:ext cx="8483600" cy="3290098"/>
          </a:xfrm>
        </p:spPr>
        <p:txBody>
          <a:bodyPr/>
          <a:lstStyle/>
          <a:p>
            <a:r>
              <a:rPr lang="en-US" dirty="0">
                <a:solidFill>
                  <a:srgbClr val="FF0000"/>
                </a:solidFill>
              </a:rPr>
              <a:t>Criteria to consider when choosing off-the shelf software</a:t>
            </a:r>
            <a:r>
              <a:rPr lang="en-US" dirty="0"/>
              <a:t>:</a:t>
            </a:r>
          </a:p>
          <a:p>
            <a:pPr lvl="1"/>
            <a:r>
              <a:rPr lang="en-US" b="1" dirty="0">
                <a:solidFill>
                  <a:srgbClr val="FF0000"/>
                </a:solidFill>
              </a:rPr>
              <a:t>Cost</a:t>
            </a:r>
            <a:r>
              <a:rPr lang="en-US" dirty="0"/>
              <a:t> (compare developing in-house v</a:t>
            </a:r>
            <a:r>
              <a:rPr lang="en-US" sz="100" dirty="0">
                <a:solidFill>
                  <a:schemeClr val="bg1"/>
                </a:solidFill>
              </a:rPr>
              <a:t>ersu</a:t>
            </a:r>
            <a:r>
              <a:rPr lang="en-US" dirty="0"/>
              <a:t>s. purchasing or licensing the software package)</a:t>
            </a:r>
          </a:p>
          <a:p>
            <a:pPr lvl="1"/>
            <a:r>
              <a:rPr lang="en-US" b="1" dirty="0">
                <a:solidFill>
                  <a:srgbClr val="FF0000"/>
                </a:solidFill>
              </a:rPr>
              <a:t>Functionality</a:t>
            </a:r>
            <a:r>
              <a:rPr lang="en-US" dirty="0"/>
              <a:t> (the tasks that the software can perform and the mandatory, essential, and desired system features)</a:t>
            </a:r>
          </a:p>
          <a:p>
            <a:pPr lvl="1"/>
            <a:r>
              <a:rPr lang="en-US" b="1" dirty="0">
                <a:solidFill>
                  <a:srgbClr val="FF0000"/>
                </a:solidFill>
              </a:rPr>
              <a:t>Vendor</a:t>
            </a:r>
            <a:r>
              <a:rPr lang="en-US" dirty="0">
                <a:solidFill>
                  <a:srgbClr val="FF0000"/>
                </a:solidFill>
              </a:rPr>
              <a:t> </a:t>
            </a:r>
            <a:r>
              <a:rPr lang="en-US" b="1" dirty="0">
                <a:solidFill>
                  <a:srgbClr val="FF0000"/>
                </a:solidFill>
              </a:rPr>
              <a:t>Support</a:t>
            </a:r>
            <a:r>
              <a:rPr lang="en-US" dirty="0">
                <a:solidFill>
                  <a:srgbClr val="FF0000"/>
                </a:solidFill>
              </a:rPr>
              <a:t> </a:t>
            </a:r>
            <a:r>
              <a:rPr lang="en-US" dirty="0"/>
              <a:t>(can vendor provide support and how much it can provide)</a:t>
            </a:r>
          </a:p>
          <a:p>
            <a:pPr lvl="1"/>
            <a:r>
              <a:rPr lang="en-US" b="1" dirty="0">
                <a:solidFill>
                  <a:srgbClr val="FF0000"/>
                </a:solidFill>
              </a:rPr>
              <a:t>Flexibility</a:t>
            </a:r>
            <a:r>
              <a:rPr lang="en-US" dirty="0">
                <a:solidFill>
                  <a:srgbClr val="FF0000"/>
                </a:solidFill>
              </a:rPr>
              <a:t> </a:t>
            </a:r>
            <a:r>
              <a:rPr lang="en-US" dirty="0"/>
              <a:t>(the ease with which software is customized)</a:t>
            </a:r>
          </a:p>
          <a:p>
            <a:pPr lvl="1"/>
            <a:r>
              <a:rPr lang="en-US" b="1" dirty="0">
                <a:solidFill>
                  <a:srgbClr val="FF0000"/>
                </a:solidFill>
              </a:rPr>
              <a:t>Documentation</a:t>
            </a:r>
            <a:r>
              <a:rPr lang="en-US" dirty="0"/>
              <a:t> (understandable and up-to-date user’s manual and technical documentation)</a:t>
            </a:r>
          </a:p>
          <a:p>
            <a:pPr lvl="1"/>
            <a:endParaRPr lang="en-US" dirty="0"/>
          </a:p>
        </p:txBody>
      </p:sp>
    </p:spTree>
    <p:extLst>
      <p:ext uri="{BB962C8B-B14F-4D97-AF65-F5344CB8AC3E}">
        <p14:creationId xmlns:p14="http://schemas.microsoft.com/office/powerpoint/2010/main" val="10475377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19DC279-FE17-4517-8618-CF38EEECC518}"/>
              </a:ext>
            </a:extLst>
          </p:cNvPr>
          <p:cNvSpPr>
            <a:spLocks noGrp="1"/>
          </p:cNvSpPr>
          <p:nvPr>
            <p:ph type="title"/>
          </p:nvPr>
        </p:nvSpPr>
        <p:spPr/>
        <p:txBody>
          <a:bodyPr/>
          <a:lstStyle/>
          <a:p>
            <a:r>
              <a:rPr lang="en-US" sz="3400" dirty="0"/>
              <a:t>Validating Purchased Software Information</a:t>
            </a:r>
            <a:endParaRPr lang="en-US" sz="3400" b="0" dirty="0"/>
          </a:p>
        </p:txBody>
      </p:sp>
      <p:sp>
        <p:nvSpPr>
          <p:cNvPr id="6" name="Content Placeholder 5">
            <a:extLst>
              <a:ext uri="{FF2B5EF4-FFF2-40B4-BE49-F238E27FC236}">
                <a16:creationId xmlns:a16="http://schemas.microsoft.com/office/drawing/2014/main" id="{112B805E-1E2A-4F0A-9634-C34F45DEAC7C}"/>
              </a:ext>
            </a:extLst>
          </p:cNvPr>
          <p:cNvSpPr>
            <a:spLocks noGrp="1"/>
          </p:cNvSpPr>
          <p:nvPr>
            <p:ph sz="quarter" idx="14"/>
          </p:nvPr>
        </p:nvSpPr>
        <p:spPr>
          <a:xfrm>
            <a:off x="457200" y="2135977"/>
            <a:ext cx="8559800" cy="3479731"/>
          </a:xfrm>
        </p:spPr>
        <p:txBody>
          <a:bodyPr/>
          <a:lstStyle/>
          <a:p>
            <a:r>
              <a:rPr lang="en-US" b="1" dirty="0">
                <a:solidFill>
                  <a:srgbClr val="FF0000"/>
                </a:solidFill>
              </a:rPr>
              <a:t>Request for Proposal (R</a:t>
            </a:r>
            <a:r>
              <a:rPr lang="en-US" sz="100" b="1" dirty="0">
                <a:solidFill>
                  <a:srgbClr val="FF0000"/>
                </a:solidFill>
              </a:rPr>
              <a:t> </a:t>
            </a:r>
            <a:r>
              <a:rPr lang="en-US" b="1" dirty="0">
                <a:solidFill>
                  <a:srgbClr val="FF0000"/>
                </a:solidFill>
              </a:rPr>
              <a:t>F</a:t>
            </a:r>
            <a:r>
              <a:rPr lang="en-US" sz="100" b="1" dirty="0">
                <a:solidFill>
                  <a:srgbClr val="FF0000"/>
                </a:solidFill>
              </a:rPr>
              <a:t> </a:t>
            </a:r>
            <a:r>
              <a:rPr lang="en-US" b="1" dirty="0">
                <a:solidFill>
                  <a:srgbClr val="FF0000"/>
                </a:solidFill>
              </a:rPr>
              <a:t>P) </a:t>
            </a:r>
            <a:r>
              <a:rPr lang="en-US" b="1" dirty="0">
                <a:solidFill>
                  <a:schemeClr val="tx1"/>
                </a:solidFill>
              </a:rPr>
              <a:t>– </a:t>
            </a:r>
            <a:r>
              <a:rPr lang="en-US" dirty="0"/>
              <a:t>document provided to vendors asking them to propose hardware and system software that will meet the requirements of a new system</a:t>
            </a:r>
          </a:p>
          <a:p>
            <a:r>
              <a:rPr lang="en-US" dirty="0"/>
              <a:t>If soliciting R</a:t>
            </a:r>
            <a:r>
              <a:rPr lang="en-US" sz="100" dirty="0"/>
              <a:t> </a:t>
            </a:r>
            <a:r>
              <a:rPr lang="en-US" dirty="0"/>
              <a:t>F</a:t>
            </a:r>
            <a:r>
              <a:rPr lang="en-US" sz="100" dirty="0"/>
              <a:t> </a:t>
            </a:r>
            <a:r>
              <a:rPr lang="en-US" dirty="0"/>
              <a:t>Ps from more than one vendor be sure to:</a:t>
            </a:r>
          </a:p>
          <a:p>
            <a:pPr lvl="1"/>
            <a:r>
              <a:rPr lang="en-US" dirty="0"/>
              <a:t>Create a scoring value for each item requested</a:t>
            </a:r>
          </a:p>
          <a:p>
            <a:pPr lvl="1"/>
            <a:r>
              <a:rPr lang="en-US" dirty="0"/>
              <a:t>Calculate a total score for each vendor after R</a:t>
            </a:r>
            <a:r>
              <a:rPr lang="en-US" sz="100" dirty="0"/>
              <a:t> </a:t>
            </a:r>
            <a:r>
              <a:rPr lang="en-US" dirty="0"/>
              <a:t>F</a:t>
            </a:r>
            <a:r>
              <a:rPr lang="en-US" sz="100" dirty="0"/>
              <a:t> </a:t>
            </a:r>
            <a:r>
              <a:rPr lang="en-US" dirty="0"/>
              <a:t>Ps are received</a:t>
            </a:r>
          </a:p>
          <a:p>
            <a:pPr lvl="1"/>
            <a:r>
              <a:rPr lang="en-US" dirty="0"/>
              <a:t>Select a vendor with a high score</a:t>
            </a:r>
          </a:p>
        </p:txBody>
      </p:sp>
    </p:spTree>
    <p:extLst>
      <p:ext uri="{BB962C8B-B14F-4D97-AF65-F5344CB8AC3E}">
        <p14:creationId xmlns:p14="http://schemas.microsoft.com/office/powerpoint/2010/main" val="18870780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BCF18-6053-47E9-ABCA-4108740E4DBF}"/>
              </a:ext>
            </a:extLst>
          </p:cNvPr>
          <p:cNvSpPr>
            <a:spLocks noGrp="1"/>
          </p:cNvSpPr>
          <p:nvPr>
            <p:ph type="title"/>
          </p:nvPr>
        </p:nvSpPr>
        <p:spPr/>
        <p:txBody>
          <a:bodyPr/>
          <a:lstStyle/>
          <a:p>
            <a:r>
              <a:rPr lang="en-US" dirty="0">
                <a:solidFill>
                  <a:srgbClr val="0070C0"/>
                </a:solidFill>
              </a:rPr>
              <a:t>Reuse</a:t>
            </a:r>
            <a:r>
              <a:rPr lang="en-US" dirty="0">
                <a:solidFill>
                  <a:srgbClr val="FF0000"/>
                </a:solidFill>
              </a:rPr>
              <a:t> </a:t>
            </a:r>
            <a:r>
              <a:rPr lang="en-US" sz="2000" b="0" dirty="0"/>
              <a:t>(1 of 2)</a:t>
            </a:r>
          </a:p>
        </p:txBody>
      </p:sp>
      <p:sp>
        <p:nvSpPr>
          <p:cNvPr id="4" name="Content Placeholder 3">
            <a:extLst>
              <a:ext uri="{FF2B5EF4-FFF2-40B4-BE49-F238E27FC236}">
                <a16:creationId xmlns:a16="http://schemas.microsoft.com/office/drawing/2014/main" id="{CA551CF0-88E1-4F90-AF03-3D350A98E228}"/>
              </a:ext>
            </a:extLst>
          </p:cNvPr>
          <p:cNvSpPr>
            <a:spLocks noGrp="1"/>
          </p:cNvSpPr>
          <p:nvPr>
            <p:ph sz="quarter" idx="14"/>
          </p:nvPr>
        </p:nvSpPr>
        <p:spPr>
          <a:xfrm>
            <a:off x="457200" y="2161377"/>
            <a:ext cx="8382000" cy="4100877"/>
          </a:xfrm>
        </p:spPr>
        <p:txBody>
          <a:bodyPr/>
          <a:lstStyle/>
          <a:p>
            <a:r>
              <a:rPr lang="en-US" sz="2200" b="1" dirty="0">
                <a:solidFill>
                  <a:srgbClr val="FF0000"/>
                </a:solidFill>
              </a:rPr>
              <a:t>Reuse</a:t>
            </a:r>
            <a:r>
              <a:rPr lang="en-US" sz="2200" dirty="0"/>
              <a:t> – the use of previously written software resources, especially objects and components, in new applications</a:t>
            </a:r>
          </a:p>
          <a:p>
            <a:r>
              <a:rPr lang="en-US" sz="2200" dirty="0"/>
              <a:t>Reuse is commonly applied to two different development technologies:</a:t>
            </a:r>
          </a:p>
          <a:p>
            <a:pPr lvl="1"/>
            <a:r>
              <a:rPr lang="en-US" sz="2200" b="1" dirty="0"/>
              <a:t>Object-oriented development</a:t>
            </a:r>
          </a:p>
          <a:p>
            <a:pPr lvl="2"/>
            <a:r>
              <a:rPr lang="en-US" sz="2200" dirty="0"/>
              <a:t>Object class encapsulates data and behavior of common organizational entities (e.g. employees)</a:t>
            </a:r>
          </a:p>
          <a:p>
            <a:pPr lvl="1"/>
            <a:r>
              <a:rPr lang="en-US" sz="2200" b="1" dirty="0"/>
              <a:t>Component-based development</a:t>
            </a:r>
          </a:p>
          <a:p>
            <a:pPr lvl="2"/>
            <a:r>
              <a:rPr lang="en-US" sz="2200" dirty="0"/>
              <a:t>Components can be as small as objects or as large as pieces of software that handle single business functions</a:t>
            </a:r>
          </a:p>
        </p:txBody>
      </p:sp>
    </p:spTree>
    <p:extLst>
      <p:ext uri="{BB962C8B-B14F-4D97-AF65-F5344CB8AC3E}">
        <p14:creationId xmlns:p14="http://schemas.microsoft.com/office/powerpoint/2010/main" val="13286229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BCF18-6053-47E9-ABCA-4108740E4DBF}"/>
              </a:ext>
            </a:extLst>
          </p:cNvPr>
          <p:cNvSpPr>
            <a:spLocks noGrp="1"/>
          </p:cNvSpPr>
          <p:nvPr>
            <p:ph type="title"/>
          </p:nvPr>
        </p:nvSpPr>
        <p:spPr/>
        <p:txBody>
          <a:bodyPr/>
          <a:lstStyle/>
          <a:p>
            <a:r>
              <a:rPr lang="en-US" dirty="0">
                <a:solidFill>
                  <a:srgbClr val="FF0000"/>
                </a:solidFill>
              </a:rPr>
              <a:t>Reuse </a:t>
            </a:r>
            <a:r>
              <a:rPr lang="en-US" sz="2000" b="0" dirty="0"/>
              <a:t>(2 of 2)</a:t>
            </a:r>
          </a:p>
        </p:txBody>
      </p:sp>
      <p:sp>
        <p:nvSpPr>
          <p:cNvPr id="4" name="Content Placeholder 3">
            <a:extLst>
              <a:ext uri="{FF2B5EF4-FFF2-40B4-BE49-F238E27FC236}">
                <a16:creationId xmlns:a16="http://schemas.microsoft.com/office/drawing/2014/main" id="{CA551CF0-88E1-4F90-AF03-3D350A98E228}"/>
              </a:ext>
            </a:extLst>
          </p:cNvPr>
          <p:cNvSpPr>
            <a:spLocks noGrp="1"/>
          </p:cNvSpPr>
          <p:nvPr>
            <p:ph sz="quarter" idx="14"/>
          </p:nvPr>
        </p:nvSpPr>
        <p:spPr>
          <a:xfrm>
            <a:off x="457199" y="2161378"/>
            <a:ext cx="8368145" cy="3833022"/>
          </a:xfrm>
        </p:spPr>
        <p:txBody>
          <a:bodyPr/>
          <a:lstStyle/>
          <a:p>
            <a:r>
              <a:rPr lang="en-US" dirty="0"/>
              <a:t>Reuse has become a standard part of corporate development</a:t>
            </a:r>
          </a:p>
          <a:p>
            <a:r>
              <a:rPr lang="en-US" dirty="0">
                <a:solidFill>
                  <a:srgbClr val="FF0000"/>
                </a:solidFill>
              </a:rPr>
              <a:t>Factors relating to successful reuse </a:t>
            </a:r>
            <a:r>
              <a:rPr lang="en-US" dirty="0"/>
              <a:t>include:</a:t>
            </a:r>
          </a:p>
          <a:p>
            <a:pPr lvl="1"/>
            <a:r>
              <a:rPr lang="en-US" dirty="0"/>
              <a:t>Knowledge of the domain in which reuse is to occur</a:t>
            </a:r>
          </a:p>
          <a:p>
            <a:pPr lvl="1"/>
            <a:r>
              <a:rPr lang="en-US" dirty="0"/>
              <a:t>Customer support</a:t>
            </a:r>
          </a:p>
          <a:p>
            <a:pPr lvl="1"/>
            <a:r>
              <a:rPr lang="en-US" dirty="0"/>
              <a:t>Commitment and understanding of senior management</a:t>
            </a:r>
          </a:p>
          <a:p>
            <a:pPr lvl="1"/>
            <a:r>
              <a:rPr lang="en-US" dirty="0"/>
              <a:t>Sound organizational processes</a:t>
            </a:r>
          </a:p>
          <a:p>
            <a:pPr lvl="1"/>
            <a:r>
              <a:rPr lang="en-US" dirty="0"/>
              <a:t>Skilled and experienced developers</a:t>
            </a:r>
          </a:p>
        </p:txBody>
      </p:sp>
    </p:spTree>
    <p:extLst>
      <p:ext uri="{BB962C8B-B14F-4D97-AF65-F5344CB8AC3E}">
        <p14:creationId xmlns:p14="http://schemas.microsoft.com/office/powerpoint/2010/main" val="4656024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D354B-3FB0-4EA7-B2F2-34E270445664}"/>
              </a:ext>
            </a:extLst>
          </p:cNvPr>
          <p:cNvSpPr>
            <a:spLocks noGrp="1"/>
          </p:cNvSpPr>
          <p:nvPr>
            <p:ph type="title"/>
          </p:nvPr>
        </p:nvSpPr>
        <p:spPr/>
        <p:txBody>
          <a:bodyPr/>
          <a:lstStyle/>
          <a:p>
            <a:r>
              <a:rPr lang="en-US" sz="3400" dirty="0"/>
              <a:t>Figure 2-4: Investments Necessary to Achieve Reusable Components</a:t>
            </a:r>
          </a:p>
        </p:txBody>
      </p:sp>
      <p:pic>
        <p:nvPicPr>
          <p:cNvPr id="7" name="Picture 6" descr="Development cost and schedule resources versus number of projects using reusable assets graph. A horizontal axis represents the number of projects using reusable assets and a vertical axis represents the development cost and schedule resources. A curve rises initially at a high steepness from the origin and then gradually reduces its steepness. Four arrows indicate the following points on the graph. 1 project solution is a point on the rising curve region at a high steepness. 2 project solution is a point on the rising curve region at a slightly reduced steepness with 50 percent more cost and 100 percent more time. 5 project solution is a point on the curve at a drastically reduced steepness region with 125 percent more cost and 150 percent more time. Many project solution is a point on the nearly flattened region of the curve with a high value per unit investment. ">
            <a:extLst>
              <a:ext uri="{FF2B5EF4-FFF2-40B4-BE49-F238E27FC236}">
                <a16:creationId xmlns:a16="http://schemas.microsoft.com/office/drawing/2014/main" id="{6F40D6ED-18F7-48DA-A572-966352E5CAB6}"/>
              </a:ext>
            </a:extLst>
          </p:cNvPr>
          <p:cNvPicPr>
            <a:picLocks noChangeAspect="1"/>
          </p:cNvPicPr>
          <p:nvPr/>
        </p:nvPicPr>
        <p:blipFill>
          <a:blip r:embed="rId2"/>
          <a:stretch>
            <a:fillRect/>
          </a:stretch>
        </p:blipFill>
        <p:spPr>
          <a:xfrm>
            <a:off x="1292067" y="1584800"/>
            <a:ext cx="6559865" cy="3688400"/>
          </a:xfrm>
          <a:prstGeom prst="rect">
            <a:avLst/>
          </a:prstGeom>
        </p:spPr>
      </p:pic>
      <p:sp>
        <p:nvSpPr>
          <p:cNvPr id="5" name="Content Placeholder 4">
            <a:extLst>
              <a:ext uri="{FF2B5EF4-FFF2-40B4-BE49-F238E27FC236}">
                <a16:creationId xmlns:a16="http://schemas.microsoft.com/office/drawing/2014/main" id="{D5FB22A4-BFFD-4F71-B499-0E481484C18A}"/>
              </a:ext>
            </a:extLst>
          </p:cNvPr>
          <p:cNvSpPr>
            <a:spLocks noGrp="1"/>
          </p:cNvSpPr>
          <p:nvPr>
            <p:ph sz="quarter" idx="13"/>
          </p:nvPr>
        </p:nvSpPr>
        <p:spPr>
          <a:xfrm>
            <a:off x="457200" y="5588000"/>
            <a:ext cx="8229600" cy="402601"/>
          </a:xfrm>
        </p:spPr>
        <p:txBody>
          <a:bodyPr/>
          <a:lstStyle/>
          <a:p>
            <a:pPr marL="432" indent="0">
              <a:buNone/>
            </a:pPr>
            <a:r>
              <a:rPr lang="en-US" sz="1200" dirty="0"/>
              <a:t>(</a:t>
            </a:r>
            <a:r>
              <a:rPr lang="en-US" sz="1200" b="1" dirty="0"/>
              <a:t>Source: </a:t>
            </a:r>
            <a:r>
              <a:rPr lang="en-US" sz="1200" dirty="0"/>
              <a:t>Royce, Walker, Software Project Management: A Unified Framework, 1</a:t>
            </a:r>
            <a:r>
              <a:rPr lang="en-US" sz="1200" baseline="30000" dirty="0"/>
              <a:t>st</a:t>
            </a:r>
            <a:r>
              <a:rPr lang="en-US" sz="1200" dirty="0"/>
              <a:t> ed., ©1998. Reprinted and Electronically reproduced by permission of Pearson Education, Inc. Upper Saddle River, New Jersey)</a:t>
            </a:r>
          </a:p>
        </p:txBody>
      </p:sp>
    </p:spTree>
    <p:extLst>
      <p:ext uri="{BB962C8B-B14F-4D97-AF65-F5344CB8AC3E}">
        <p14:creationId xmlns:p14="http://schemas.microsoft.com/office/powerpoint/2010/main" val="5359766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p:nvPr>
        </p:nvSpPr>
        <p:spPr/>
        <p:txBody>
          <a:bodyPr/>
          <a:lstStyle/>
          <a:p>
            <a:r>
              <a:rPr lang="en-US" dirty="0"/>
              <a:t>Three Basic Steps of Software Reuse</a:t>
            </a:r>
            <a:endParaRPr lang="en-AU" dirty="0"/>
          </a:p>
        </p:txBody>
      </p:sp>
      <p:sp>
        <p:nvSpPr>
          <p:cNvPr id="9" name="Content Placeholder 8"/>
          <p:cNvSpPr>
            <a:spLocks noGrp="1"/>
          </p:cNvSpPr>
          <p:nvPr>
            <p:ph sz="quarter" idx="14"/>
          </p:nvPr>
        </p:nvSpPr>
        <p:spPr>
          <a:xfrm>
            <a:off x="457200" y="2081128"/>
            <a:ext cx="2169459" cy="402649"/>
          </a:xfrm>
        </p:spPr>
        <p:txBody>
          <a:bodyPr/>
          <a:lstStyle/>
          <a:p>
            <a:pPr marL="432000" indent="-432000">
              <a:buFont typeface="+mj-lt"/>
              <a:buAutoNum type="arabicPeriod"/>
            </a:pPr>
            <a:r>
              <a:rPr lang="en-US" dirty="0"/>
              <a:t>Abstraction</a:t>
            </a:r>
          </a:p>
        </p:txBody>
      </p:sp>
      <p:sp>
        <p:nvSpPr>
          <p:cNvPr id="10" name="Content Placeholder 9"/>
          <p:cNvSpPr>
            <a:spLocks noGrp="1"/>
          </p:cNvSpPr>
          <p:nvPr>
            <p:ph sz="quarter" idx="15"/>
          </p:nvPr>
        </p:nvSpPr>
        <p:spPr>
          <a:xfrm>
            <a:off x="457199" y="2582444"/>
            <a:ext cx="5898777" cy="433357"/>
          </a:xfrm>
        </p:spPr>
        <p:txBody>
          <a:bodyPr/>
          <a:lstStyle/>
          <a:p>
            <a:pPr lvl="1" indent="-284400"/>
            <a:r>
              <a:rPr lang="en-US" dirty="0"/>
              <a:t>Involves design of reusable software</a:t>
            </a:r>
          </a:p>
        </p:txBody>
      </p:sp>
      <p:sp>
        <p:nvSpPr>
          <p:cNvPr id="11" name="Content Placeholder 10"/>
          <p:cNvSpPr>
            <a:spLocks noGrp="1"/>
          </p:cNvSpPr>
          <p:nvPr>
            <p:ph sz="quarter" idx="16"/>
          </p:nvPr>
        </p:nvSpPr>
        <p:spPr>
          <a:xfrm>
            <a:off x="457200" y="3105750"/>
            <a:ext cx="1757081" cy="411443"/>
          </a:xfrm>
        </p:spPr>
        <p:txBody>
          <a:bodyPr/>
          <a:lstStyle/>
          <a:p>
            <a:pPr marL="457632" indent="-457200">
              <a:buFont typeface="+mj-lt"/>
              <a:buAutoNum type="arabicPeriod" startAt="2"/>
            </a:pPr>
            <a:r>
              <a:rPr lang="en-US" dirty="0"/>
              <a:t>Storage</a:t>
            </a:r>
          </a:p>
        </p:txBody>
      </p:sp>
      <p:sp>
        <p:nvSpPr>
          <p:cNvPr id="12" name="Content Placeholder 11"/>
          <p:cNvSpPr>
            <a:spLocks noGrp="1"/>
          </p:cNvSpPr>
          <p:nvPr>
            <p:ph sz="quarter" idx="17"/>
          </p:nvPr>
        </p:nvSpPr>
        <p:spPr>
          <a:xfrm>
            <a:off x="457200" y="3642755"/>
            <a:ext cx="7718612" cy="463078"/>
          </a:xfrm>
        </p:spPr>
        <p:txBody>
          <a:bodyPr/>
          <a:lstStyle/>
          <a:p>
            <a:pPr lvl="1"/>
            <a:r>
              <a:rPr lang="en-US" dirty="0"/>
              <a:t>Making software assets available for others to use</a:t>
            </a:r>
          </a:p>
        </p:txBody>
      </p:sp>
      <p:sp>
        <p:nvSpPr>
          <p:cNvPr id="13" name="Content Placeholder 12"/>
          <p:cNvSpPr>
            <a:spLocks noGrp="1"/>
          </p:cNvSpPr>
          <p:nvPr>
            <p:ph sz="quarter" idx="18"/>
          </p:nvPr>
        </p:nvSpPr>
        <p:spPr>
          <a:xfrm>
            <a:off x="457200" y="4190200"/>
            <a:ext cx="3514165" cy="384225"/>
          </a:xfrm>
        </p:spPr>
        <p:txBody>
          <a:bodyPr/>
          <a:lstStyle/>
          <a:p>
            <a:pPr marL="432000" indent="-432000">
              <a:buFont typeface="+mj-lt"/>
              <a:buAutoNum type="arabicPeriod" startAt="3"/>
            </a:pPr>
            <a:r>
              <a:rPr lang="en-US" dirty="0" err="1"/>
              <a:t>Recontextualization</a:t>
            </a:r>
            <a:endParaRPr lang="en-US" dirty="0"/>
          </a:p>
        </p:txBody>
      </p:sp>
      <p:sp>
        <p:nvSpPr>
          <p:cNvPr id="16" name="Content Placeholder 15"/>
          <p:cNvSpPr>
            <a:spLocks noGrp="1"/>
          </p:cNvSpPr>
          <p:nvPr>
            <p:ph sz="quarter" idx="19"/>
          </p:nvPr>
        </p:nvSpPr>
        <p:spPr>
          <a:xfrm>
            <a:off x="457200" y="4710756"/>
            <a:ext cx="7799294" cy="451321"/>
          </a:xfrm>
        </p:spPr>
        <p:txBody>
          <a:bodyPr/>
          <a:lstStyle/>
          <a:p>
            <a:pPr lvl="1"/>
            <a:r>
              <a:rPr lang="en-US" dirty="0"/>
              <a:t>Making the software understandable to developers</a:t>
            </a:r>
          </a:p>
        </p:txBody>
      </p:sp>
      <p:sp>
        <p:nvSpPr>
          <p:cNvPr id="17" name="Content Placeholder 16"/>
          <p:cNvSpPr>
            <a:spLocks noGrp="1"/>
          </p:cNvSpPr>
          <p:nvPr>
            <p:ph sz="quarter" idx="20"/>
          </p:nvPr>
        </p:nvSpPr>
        <p:spPr>
          <a:xfrm>
            <a:off x="457201" y="5444657"/>
            <a:ext cx="1326776" cy="232697"/>
          </a:xfrm>
        </p:spPr>
        <p:txBody>
          <a:bodyPr/>
          <a:lstStyle/>
          <a:p>
            <a:pPr marL="432" indent="0">
              <a:buNone/>
            </a:pPr>
            <a:r>
              <a:rPr lang="en-US" sz="1200" dirty="0" err="1">
                <a:solidFill>
                  <a:schemeClr val="tx1"/>
                </a:solidFill>
              </a:rPr>
              <a:t>Grinter</a:t>
            </a:r>
            <a:r>
              <a:rPr lang="en-US" sz="1200" dirty="0">
                <a:solidFill>
                  <a:schemeClr val="tx1"/>
                </a:solidFill>
              </a:rPr>
              <a:t>, 2001</a:t>
            </a:r>
          </a:p>
        </p:txBody>
      </p:sp>
    </p:spTree>
    <p:extLst>
      <p:ext uri="{BB962C8B-B14F-4D97-AF65-F5344CB8AC3E}">
        <p14:creationId xmlns:p14="http://schemas.microsoft.com/office/powerpoint/2010/main" val="30108662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88465-C910-40F4-B85B-C39B9191935C}"/>
              </a:ext>
            </a:extLst>
          </p:cNvPr>
          <p:cNvSpPr>
            <a:spLocks noGrp="1"/>
          </p:cNvSpPr>
          <p:nvPr>
            <p:ph type="title"/>
          </p:nvPr>
        </p:nvSpPr>
        <p:spPr/>
        <p:txBody>
          <a:bodyPr/>
          <a:lstStyle/>
          <a:p>
            <a:r>
              <a:rPr lang="en-US" dirty="0"/>
              <a:t>Approaches to Reuse</a:t>
            </a:r>
          </a:p>
        </p:txBody>
      </p:sp>
      <p:sp>
        <p:nvSpPr>
          <p:cNvPr id="5" name="Content Placeholder 4">
            <a:extLst>
              <a:ext uri="{FF2B5EF4-FFF2-40B4-BE49-F238E27FC236}">
                <a16:creationId xmlns:a16="http://schemas.microsoft.com/office/drawing/2014/main" id="{F0C0A62C-958B-4431-A793-30DB3284C7D2}"/>
              </a:ext>
            </a:extLst>
          </p:cNvPr>
          <p:cNvSpPr>
            <a:spLocks noGrp="1"/>
          </p:cNvSpPr>
          <p:nvPr>
            <p:ph sz="quarter" idx="14"/>
          </p:nvPr>
        </p:nvSpPr>
        <p:spPr>
          <a:xfrm>
            <a:off x="457200" y="2057399"/>
            <a:ext cx="8432800" cy="3244273"/>
          </a:xfrm>
        </p:spPr>
        <p:txBody>
          <a:bodyPr/>
          <a:lstStyle/>
          <a:p>
            <a:pPr indent="-256032"/>
            <a:r>
              <a:rPr lang="en-US" b="1" dirty="0"/>
              <a:t>Ad-hoc </a:t>
            </a:r>
            <a:r>
              <a:rPr lang="en-US" dirty="0"/>
              <a:t>– Individuals are free to find or develop reusable assets on their own</a:t>
            </a:r>
          </a:p>
          <a:p>
            <a:pPr indent="-256032"/>
            <a:r>
              <a:rPr lang="en-US" b="1" dirty="0"/>
              <a:t>Facilitated</a:t>
            </a:r>
            <a:r>
              <a:rPr lang="en-US" dirty="0"/>
              <a:t> – developers are encouraged to practice reuse</a:t>
            </a:r>
          </a:p>
          <a:p>
            <a:pPr indent="-256032"/>
            <a:r>
              <a:rPr lang="en-US" b="1" dirty="0"/>
              <a:t>Managed </a:t>
            </a:r>
            <a:r>
              <a:rPr lang="en-US" dirty="0"/>
              <a:t>– the development, sharing, and adoption of reusable assets is mandated</a:t>
            </a:r>
          </a:p>
          <a:p>
            <a:pPr indent="-256032"/>
            <a:r>
              <a:rPr lang="en-US" b="1" dirty="0"/>
              <a:t>Designed </a:t>
            </a:r>
            <a:r>
              <a:rPr lang="en-US" dirty="0"/>
              <a:t>– assets mandated for reuse as they are being designed for specific applications</a:t>
            </a:r>
          </a:p>
        </p:txBody>
      </p:sp>
      <p:sp>
        <p:nvSpPr>
          <p:cNvPr id="6" name="Content Placeholder 5">
            <a:extLst>
              <a:ext uri="{FF2B5EF4-FFF2-40B4-BE49-F238E27FC236}">
                <a16:creationId xmlns:a16="http://schemas.microsoft.com/office/drawing/2014/main" id="{74F05939-D4E3-45E6-A5F6-2C08B44DFF08}"/>
              </a:ext>
            </a:extLst>
          </p:cNvPr>
          <p:cNvSpPr>
            <a:spLocks noGrp="1"/>
          </p:cNvSpPr>
          <p:nvPr>
            <p:ph sz="quarter" idx="15"/>
          </p:nvPr>
        </p:nvSpPr>
        <p:spPr>
          <a:xfrm>
            <a:off x="457200" y="5439663"/>
            <a:ext cx="8340435" cy="226725"/>
          </a:xfrm>
        </p:spPr>
        <p:txBody>
          <a:bodyPr/>
          <a:lstStyle/>
          <a:p>
            <a:pPr marL="432" indent="0">
              <a:buNone/>
            </a:pPr>
            <a:r>
              <a:rPr lang="en-US" sz="1200" dirty="0" err="1">
                <a:solidFill>
                  <a:schemeClr val="tx1"/>
                </a:solidFill>
              </a:rPr>
              <a:t>Griss</a:t>
            </a:r>
            <a:r>
              <a:rPr lang="en-US" sz="1200" dirty="0">
                <a:solidFill>
                  <a:schemeClr val="tx1"/>
                </a:solidFill>
              </a:rPr>
              <a:t>, 2003</a:t>
            </a:r>
          </a:p>
        </p:txBody>
      </p:sp>
    </p:spTree>
    <p:extLst>
      <p:ext uri="{BB962C8B-B14F-4D97-AF65-F5344CB8AC3E}">
        <p14:creationId xmlns:p14="http://schemas.microsoft.com/office/powerpoint/2010/main" val="39587852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44EC56A-BEA5-4FE3-9168-343BA9585F55}"/>
              </a:ext>
            </a:extLst>
          </p:cNvPr>
          <p:cNvSpPr>
            <a:spLocks noGrp="1"/>
          </p:cNvSpPr>
          <p:nvPr>
            <p:ph type="title"/>
          </p:nvPr>
        </p:nvSpPr>
        <p:spPr>
          <a:xfrm>
            <a:off x="457200" y="215371"/>
            <a:ext cx="8469086" cy="1097279"/>
          </a:xfrm>
        </p:spPr>
        <p:txBody>
          <a:bodyPr/>
          <a:lstStyle/>
          <a:p>
            <a:r>
              <a:rPr lang="en-US" dirty="0"/>
              <a:t>Table 2-3: Four Approaches to Reuse</a:t>
            </a:r>
          </a:p>
        </p:txBody>
      </p:sp>
      <p:graphicFrame>
        <p:nvGraphicFramePr>
          <p:cNvPr id="12" name="Table 11">
            <a:extLst>
              <a:ext uri="{FF2B5EF4-FFF2-40B4-BE49-F238E27FC236}">
                <a16:creationId xmlns:a16="http://schemas.microsoft.com/office/drawing/2014/main" id="{22C30C21-32EA-46A5-8C97-424A0DF64AB4}"/>
              </a:ext>
            </a:extLst>
          </p:cNvPr>
          <p:cNvGraphicFramePr>
            <a:graphicFrameLocks noGrp="1"/>
          </p:cNvGraphicFramePr>
          <p:nvPr>
            <p:extLst>
              <p:ext uri="{D42A27DB-BD31-4B8C-83A1-F6EECF244321}">
                <p14:modId xmlns:p14="http://schemas.microsoft.com/office/powerpoint/2010/main" val="2530008442"/>
              </p:ext>
            </p:extLst>
          </p:nvPr>
        </p:nvGraphicFramePr>
        <p:xfrm>
          <a:off x="539750" y="1625600"/>
          <a:ext cx="8229600" cy="3576320"/>
        </p:xfrm>
        <a:graphic>
          <a:graphicData uri="http://schemas.openxmlformats.org/drawingml/2006/table">
            <a:tbl>
              <a:tblPr firstRow="1" bandRow="1">
                <a:tableStyleId>{2D5ABB26-0587-4C30-8999-92F81FD0307C}</a:tableStyleId>
              </a:tblPr>
              <a:tblGrid>
                <a:gridCol w="1454150">
                  <a:extLst>
                    <a:ext uri="{9D8B030D-6E8A-4147-A177-3AD203B41FA5}">
                      <a16:colId xmlns:a16="http://schemas.microsoft.com/office/drawing/2014/main" val="3545058981"/>
                    </a:ext>
                  </a:extLst>
                </a:gridCol>
                <a:gridCol w="1765300">
                  <a:extLst>
                    <a:ext uri="{9D8B030D-6E8A-4147-A177-3AD203B41FA5}">
                      <a16:colId xmlns:a16="http://schemas.microsoft.com/office/drawing/2014/main" val="918021476"/>
                    </a:ext>
                  </a:extLst>
                </a:gridCol>
                <a:gridCol w="1244600">
                  <a:extLst>
                    <a:ext uri="{9D8B030D-6E8A-4147-A177-3AD203B41FA5}">
                      <a16:colId xmlns:a16="http://schemas.microsoft.com/office/drawing/2014/main" val="2336828418"/>
                    </a:ext>
                  </a:extLst>
                </a:gridCol>
                <a:gridCol w="3765550">
                  <a:extLst>
                    <a:ext uri="{9D8B030D-6E8A-4147-A177-3AD203B41FA5}">
                      <a16:colId xmlns:a16="http://schemas.microsoft.com/office/drawing/2014/main" val="1303123283"/>
                    </a:ext>
                  </a:extLst>
                </a:gridCol>
              </a:tblGrid>
              <a:tr h="370840">
                <a:tc>
                  <a:txBody>
                    <a:bodyPr/>
                    <a:lstStyle/>
                    <a:p>
                      <a:r>
                        <a:rPr lang="en-US" b="1" dirty="0"/>
                        <a:t>Approach</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t>Reuse Level</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t>Cost</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t>Policies and Procedures</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1964551"/>
                  </a:ext>
                </a:extLst>
              </a:tr>
              <a:tr h="370840">
                <a:tc>
                  <a:txBody>
                    <a:bodyPr/>
                    <a:lstStyle/>
                    <a:p>
                      <a:r>
                        <a:rPr lang="en-US" dirty="0"/>
                        <a:t>Ad hoc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None to low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Low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None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9869569"/>
                  </a:ext>
                </a:extLst>
              </a:tr>
              <a:tr h="370840">
                <a:tc>
                  <a:txBody>
                    <a:bodyPr/>
                    <a:lstStyle/>
                    <a:p>
                      <a:r>
                        <a:rPr lang="en-US" dirty="0"/>
                        <a:t>Facilitated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Low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Low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Developers are encouraged to reuse but are not required to do so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1793195"/>
                  </a:ext>
                </a:extLst>
              </a:tr>
              <a:tr h="370840">
                <a:tc>
                  <a:txBody>
                    <a:bodyPr/>
                    <a:lstStyle/>
                    <a:p>
                      <a:r>
                        <a:rPr lang="en-US" dirty="0"/>
                        <a:t>Managed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Moderate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Moderate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Developers, sharing, and adoption of reusable assets are mandated; organizational policies are established for documentation, packaging, and certification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2902594"/>
                  </a:ext>
                </a:extLst>
              </a:tr>
              <a:tr h="370840">
                <a:tc>
                  <a:txBody>
                    <a:bodyPr/>
                    <a:lstStyle/>
                    <a:p>
                      <a:r>
                        <a:rPr lang="en-US" dirty="0"/>
                        <a:t>Designed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High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High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Reuse is mandated; policies are put into place so that reuse effectiveness can be measured; code must be designed for reuse during initial development, regardless of the application it is originally designed for; there may be a corporate office for reuse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8595152"/>
                  </a:ext>
                </a:extLst>
              </a:tr>
            </a:tbl>
          </a:graphicData>
        </a:graphic>
      </p:graphicFrame>
      <p:sp>
        <p:nvSpPr>
          <p:cNvPr id="10" name="Content Placeholder 9">
            <a:extLst>
              <a:ext uri="{FF2B5EF4-FFF2-40B4-BE49-F238E27FC236}">
                <a16:creationId xmlns:a16="http://schemas.microsoft.com/office/drawing/2014/main" id="{6BAD782C-C9B2-4A3B-9233-DFE7142B572C}"/>
              </a:ext>
            </a:extLst>
          </p:cNvPr>
          <p:cNvSpPr>
            <a:spLocks noGrp="1"/>
          </p:cNvSpPr>
          <p:nvPr>
            <p:ph sz="quarter" idx="13"/>
          </p:nvPr>
        </p:nvSpPr>
        <p:spPr>
          <a:xfrm>
            <a:off x="457200" y="5842000"/>
            <a:ext cx="8229600" cy="317260"/>
          </a:xfrm>
        </p:spPr>
        <p:txBody>
          <a:bodyPr/>
          <a:lstStyle/>
          <a:p>
            <a:pPr marL="432" indent="0">
              <a:buNone/>
            </a:pPr>
            <a:r>
              <a:rPr lang="en-US" sz="1200" dirty="0"/>
              <a:t>(</a:t>
            </a:r>
            <a:r>
              <a:rPr lang="en-US" sz="1200" b="1" dirty="0"/>
              <a:t>Source: </a:t>
            </a:r>
            <a:r>
              <a:rPr lang="en-US" sz="1200" dirty="0"/>
              <a:t>Based on </a:t>
            </a:r>
            <a:r>
              <a:rPr lang="en-US" sz="1200" dirty="0" err="1"/>
              <a:t>Griss</a:t>
            </a:r>
            <a:r>
              <a:rPr lang="en-US" sz="1200" dirty="0"/>
              <a:t>, 2003.)</a:t>
            </a:r>
          </a:p>
        </p:txBody>
      </p:sp>
    </p:spTree>
    <p:extLst>
      <p:ext uri="{BB962C8B-B14F-4D97-AF65-F5344CB8AC3E}">
        <p14:creationId xmlns:p14="http://schemas.microsoft.com/office/powerpoint/2010/main" val="18362145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5A2E1-8ABB-4B56-AA42-50CDB127D8C2}"/>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2349383B-8B8E-4436-A6B5-D97F7CFC7C4B}"/>
              </a:ext>
            </a:extLst>
          </p:cNvPr>
          <p:cNvSpPr>
            <a:spLocks noGrp="1"/>
          </p:cNvSpPr>
          <p:nvPr>
            <p:ph sz="quarter" idx="13"/>
          </p:nvPr>
        </p:nvSpPr>
        <p:spPr>
          <a:xfrm>
            <a:off x="457200" y="1556327"/>
            <a:ext cx="8229600" cy="2289960"/>
          </a:xfrm>
        </p:spPr>
        <p:txBody>
          <a:bodyPr/>
          <a:lstStyle/>
          <a:p>
            <a:r>
              <a:rPr lang="en-US" dirty="0"/>
              <a:t>In this chapter you learned how to:</a:t>
            </a:r>
          </a:p>
          <a:p>
            <a:pPr lvl="1"/>
            <a:r>
              <a:rPr lang="en-US" dirty="0"/>
              <a:t>Explain outsourcing</a:t>
            </a:r>
          </a:p>
          <a:p>
            <a:pPr lvl="1"/>
            <a:r>
              <a:rPr lang="en-US" dirty="0"/>
              <a:t>Describe six different sources of software</a:t>
            </a:r>
          </a:p>
          <a:p>
            <a:pPr lvl="1"/>
            <a:r>
              <a:rPr lang="en-US" dirty="0"/>
              <a:t>Discuss how to evaluate off-the-shelf software</a:t>
            </a:r>
          </a:p>
          <a:p>
            <a:pPr lvl="1"/>
            <a:r>
              <a:rPr lang="en-US" dirty="0"/>
              <a:t>Explain reuse and its role in software development</a:t>
            </a:r>
          </a:p>
        </p:txBody>
      </p:sp>
    </p:spTree>
    <p:extLst>
      <p:ext uri="{BB962C8B-B14F-4D97-AF65-F5344CB8AC3E}">
        <p14:creationId xmlns:p14="http://schemas.microsoft.com/office/powerpoint/2010/main" val="1336799705"/>
      </p:ext>
    </p:extLst>
  </p:cSld>
  <p:clrMapOvr>
    <a:masterClrMapping/>
  </p:clrMapOvr>
</p:sld>
</file>

<file path=ppt/theme/theme1.xml><?xml version="1.0" encoding="utf-8"?>
<a:theme xmlns:a="http://schemas.openxmlformats.org/drawingml/2006/main" name="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0BA1030BB8DA842A1A6EF47C837AC3C" ma:contentTypeVersion="3" ma:contentTypeDescription="Create a new document." ma:contentTypeScope="" ma:versionID="79f43c9b2765b59ecbb9ea6e38107db2">
  <xsd:schema xmlns:xsd="http://www.w3.org/2001/XMLSchema" xmlns:xs="http://www.w3.org/2001/XMLSchema" xmlns:p="http://schemas.microsoft.com/office/2006/metadata/properties" xmlns:ns2="b7c65582-7211-4a32-bcd8-a5eda553f8d9" targetNamespace="http://schemas.microsoft.com/office/2006/metadata/properties" ma:root="true" ma:fieldsID="b0f4179d87694b6bf5c570e4a3686a38" ns2:_="">
    <xsd:import namespace="b7c65582-7211-4a32-bcd8-a5eda553f8d9"/>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7c65582-7211-4a32-bcd8-a5eda553f8d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DB5584D-7821-49C2-9532-B0AC00990E0C}">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E073ABE4-1541-4B7B-9152-7185F57DEB81}">
  <ds:schemaRefs>
    <ds:schemaRef ds:uri="http://schemas.microsoft.com/sharepoint/v3/contenttype/forms"/>
  </ds:schemaRefs>
</ds:datastoreItem>
</file>

<file path=customXml/itemProps3.xml><?xml version="1.0" encoding="utf-8"?>
<ds:datastoreItem xmlns:ds="http://schemas.openxmlformats.org/officeDocument/2006/customXml" ds:itemID="{6517E53E-DFAE-4E07-99D6-B744309223D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7c65582-7211-4a32-bcd8-a5eda553f8d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10393</TotalTime>
  <Words>1443</Words>
  <Application>Microsoft Office PowerPoint</Application>
  <PresentationFormat>On-screen Show (4:3)</PresentationFormat>
  <Paragraphs>196</Paragraphs>
  <Slides>26</Slides>
  <Notes>0</Notes>
  <HiddenSlides>0</HiddenSlides>
  <MMClips>0</MMClips>
  <ScaleCrop>false</ScaleCrop>
  <HeadingPairs>
    <vt:vector size="4" baseType="variant">
      <vt:variant>
        <vt:lpstr>Theme</vt:lpstr>
      </vt:variant>
      <vt:variant>
        <vt:i4>2</vt:i4>
      </vt:variant>
      <vt:variant>
        <vt:lpstr>Slide Titles</vt:lpstr>
      </vt:variant>
      <vt:variant>
        <vt:i4>26</vt:i4>
      </vt:variant>
    </vt:vector>
  </HeadingPairs>
  <TitlesOfParts>
    <vt:vector size="28" baseType="lpstr">
      <vt:lpstr>508 Lecture</vt:lpstr>
      <vt:lpstr>1_508 Lecture</vt:lpstr>
      <vt:lpstr>ISP550 INFORMATION SYSTEMS ENGINEERING</vt:lpstr>
      <vt:lpstr>Learning Objectives</vt:lpstr>
      <vt:lpstr>Introduction</vt:lpstr>
      <vt:lpstr>Outsourcing</vt:lpstr>
      <vt:lpstr>Sources of Software</vt:lpstr>
      <vt:lpstr>Figure 2-1: Sources of Application Software</vt:lpstr>
      <vt:lpstr>Information Technology Service Firms</vt:lpstr>
      <vt:lpstr>Table 2-1: Leading Software Firms and Their Development Specializations</vt:lpstr>
      <vt:lpstr>Package Software Producers</vt:lpstr>
      <vt:lpstr>Figure 2-2: Document Created in Microsoft Word</vt:lpstr>
      <vt:lpstr>Enterprise Solutions Software</vt:lpstr>
      <vt:lpstr>Cloud Computing (1 of 2)</vt:lpstr>
      <vt:lpstr>Cloud Computing (2 of 2)</vt:lpstr>
      <vt:lpstr>Figure 2-3: Presentation Edited in Google Slides</vt:lpstr>
      <vt:lpstr>Open-Source Software</vt:lpstr>
      <vt:lpstr>In-House Development</vt:lpstr>
      <vt:lpstr>Table 2-2: Comparison of Six Different Sources of Software Components</vt:lpstr>
      <vt:lpstr>Choosing Off-the-Shelf Software (1 of 2)</vt:lpstr>
      <vt:lpstr>Validating Purchased Software Information</vt:lpstr>
      <vt:lpstr>Reuse (1 of 2)</vt:lpstr>
      <vt:lpstr>Reuse (2 of 2)</vt:lpstr>
      <vt:lpstr>Figure 2-4: Investments Necessary to Achieve Reusable Components</vt:lpstr>
      <vt:lpstr>Three Basic Steps of Software Reuse</vt:lpstr>
      <vt:lpstr>Approaches to Reuse</vt:lpstr>
      <vt:lpstr>Table 2-3: Four Approaches to Reuse</vt:lpstr>
      <vt:lpstr>Summary</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Modern Systems Analysis and Design, Ninth Edition, Chapter 2, The Origins of Software</dc:title>
  <dc:subject>MIS/IT</dc:subject>
  <dc:creator>Suriyati Razali</dc:creator>
  <cp:keywords>Modern Systems Analysis and Design</cp:keywords>
  <cp:lastModifiedBy>SURIYATI BINTI RAZALI (DR)</cp:lastModifiedBy>
  <cp:revision>1337</cp:revision>
  <dcterms:modified xsi:type="dcterms:W3CDTF">2026-04-15T22:07:40Z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UniqueId">
    <vt:lpwstr>682739</vt:lpwstr>
  </property>
  <property fmtid="{D5CDD505-2E9C-101B-9397-08002B2CF9AE}" pid="3" name="Offisync_ServerID">
    <vt:lpwstr>7e960520-0e88-4f05-9fa0-24079b61e486</vt:lpwstr>
  </property>
  <property fmtid="{D5CDD505-2E9C-101B-9397-08002B2CF9AE}" pid="4" name="Offisync_UpdateToken">
    <vt:lpwstr>2</vt:lpwstr>
  </property>
  <property fmtid="{D5CDD505-2E9C-101B-9397-08002B2CF9AE}" pid="5" name="Jive_VersionGuid">
    <vt:lpwstr>2e874262-9747-49d3-bf1e-677aeb587663</vt:lpwstr>
  </property>
  <property fmtid="{D5CDD505-2E9C-101B-9397-08002B2CF9AE}" pid="6" name="Offisync_ProviderInitializationData">
    <vt:lpwstr>https://neo.pearson.com</vt:lpwstr>
  </property>
  <property fmtid="{D5CDD505-2E9C-101B-9397-08002B2CF9AE}" pid="7" name="Jive_LatestUserAccountName">
    <vt:lpwstr>joel</vt:lpwstr>
  </property>
  <property fmtid="{D5CDD505-2E9C-101B-9397-08002B2CF9AE}" pid="8" name="ContentTypeId">
    <vt:lpwstr>0x01010020BA1030BB8DA842A1A6EF47C837AC3C</vt:lpwstr>
  </property>
</Properties>
</file>