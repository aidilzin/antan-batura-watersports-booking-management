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entation.xml" ContentType="application/vnd.openxmlformats-officedocument.presentationml.presentation.main+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Masters/slideMaster2.xml" ContentType="application/vnd.openxmlformats-officedocument.presentationml.slideMaster+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702" r:id="rId2"/>
  </p:sldMasterIdLst>
  <p:notesMasterIdLst>
    <p:notesMasterId r:id="rId31"/>
  </p:notesMasterIdLst>
  <p:handoutMasterIdLst>
    <p:handoutMasterId r:id="rId32"/>
  </p:handoutMasterIdLst>
  <p:sldIdLst>
    <p:sldId id="266" r:id="rId3"/>
    <p:sldId id="407" r:id="rId4"/>
    <p:sldId id="325" r:id="rId5"/>
    <p:sldId id="408" r:id="rId6"/>
    <p:sldId id="356" r:id="rId7"/>
    <p:sldId id="438" r:id="rId8"/>
    <p:sldId id="436" r:id="rId9"/>
    <p:sldId id="358" r:id="rId10"/>
    <p:sldId id="359" r:id="rId11"/>
    <p:sldId id="361" r:id="rId12"/>
    <p:sldId id="362" r:id="rId13"/>
    <p:sldId id="363" r:id="rId14"/>
    <p:sldId id="357" r:id="rId15"/>
    <p:sldId id="440" r:id="rId16"/>
    <p:sldId id="441" r:id="rId17"/>
    <p:sldId id="355" r:id="rId18"/>
    <p:sldId id="447" r:id="rId19"/>
    <p:sldId id="449" r:id="rId20"/>
    <p:sldId id="366" r:id="rId21"/>
    <p:sldId id="380" r:id="rId22"/>
    <p:sldId id="383" r:id="rId23"/>
    <p:sldId id="451" r:id="rId24"/>
    <p:sldId id="389" r:id="rId25"/>
    <p:sldId id="390" r:id="rId26"/>
    <p:sldId id="391" r:id="rId27"/>
    <p:sldId id="392" r:id="rId28"/>
    <p:sldId id="452" r:id="rId29"/>
    <p:sldId id="435" r:id="rId3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56" userDrawn="1">
          <p15:clr>
            <a:srgbClr val="A4A3A4"/>
          </p15:clr>
        </p15:guide>
        <p15:guide id="2" pos="272" userDrawn="1">
          <p15:clr>
            <a:srgbClr val="A4A3A4"/>
          </p15:clr>
        </p15:guide>
        <p15:guide id="3" orient="horz" pos="3974" userDrawn="1">
          <p15:clr>
            <a:srgbClr val="A4A3A4"/>
          </p15:clr>
        </p15:guide>
        <p15:guide id="4" orient="horz" pos="4319">
          <p15:clr>
            <a:srgbClr val="A4A3A4"/>
          </p15:clr>
        </p15:guide>
        <p15:guide id="5">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85600" autoAdjust="0"/>
  </p:normalViewPr>
  <p:slideViewPr>
    <p:cSldViewPr snapToGrid="0" snapToObjects="1">
      <p:cViewPr varScale="1">
        <p:scale>
          <a:sx n="91" d="100"/>
          <a:sy n="91" d="100"/>
        </p:scale>
        <p:origin x="1136" y="184"/>
      </p:cViewPr>
      <p:guideLst>
        <p:guide orient="horz" pos="4156"/>
        <p:guide pos="272"/>
        <p:guide orient="horz" pos="3974"/>
        <p:guide orient="horz" pos="4319"/>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5" d="100"/>
          <a:sy n="85" d="100"/>
        </p:scale>
        <p:origin x="305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ustomXml" Target="../customXml/item2.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38" Type="http://schemas.openxmlformats.org/officeDocument/2006/relationships/customXml" Target="../customXml/item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tableStyles" Target="tableStyles.xml"/><Relationship Id="rId40" Type="http://schemas.openxmlformats.org/officeDocument/2006/relationships/customXml" Target="../customXml/item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10/27/25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Shape 41"/>
          <p:cNvSpPr txBox="1">
            <a:spLocks noGrp="1"/>
          </p:cNvSpPr>
          <p:nvPr>
            <p:ph type="body" idx="3"/>
          </p:nvPr>
        </p:nvSpPr>
        <p:spPr>
          <a:xfrm>
            <a:off x="5029200" y="3200401"/>
            <a:ext cx="3657600" cy="602738"/>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Content Placeholder 2"/>
          <p:cNvSpPr>
            <a:spLocks noGrp="1"/>
          </p:cNvSpPr>
          <p:nvPr>
            <p:ph sz="quarter" idx="14"/>
          </p:nvPr>
        </p:nvSpPr>
        <p:spPr>
          <a:xfrm>
            <a:off x="5029200" y="4640263"/>
            <a:ext cx="3675063" cy="1050925"/>
          </a:xfrm>
        </p:spPr>
        <p:txBody>
          <a:bodyPr/>
          <a:lstStyle>
            <a:lvl1pPr marL="101600" indent="0">
              <a:buNone/>
              <a:defRPr/>
            </a:lvl1pPr>
          </a:lstStyle>
          <a:p>
            <a:pPr lvl="0"/>
            <a:endParaRPr lang="en-US" dirty="0"/>
          </a:p>
        </p:txBody>
      </p:sp>
    </p:spTree>
    <p:extLst>
      <p:ext uri="{BB962C8B-B14F-4D97-AF65-F5344CB8AC3E}">
        <p14:creationId xmlns:p14="http://schemas.microsoft.com/office/powerpoint/2010/main" val="3068857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US"/>
          </a:p>
        </p:txBody>
      </p:sp>
      <p:sp>
        <p:nvSpPr>
          <p:cNvPr id="3" name="Date Placeholder 2"/>
          <p:cNvSpPr>
            <a:spLocks noGrp="1"/>
          </p:cNvSpPr>
          <p:nvPr>
            <p:ph type="dt" idx="1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11768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MY"/>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DA80213A-763B-445F-BA73-EF818675B602}"/>
              </a:ext>
            </a:extLst>
          </p:cNvPr>
          <p:cNvSpPr>
            <a:spLocks noGrp="1"/>
          </p:cNvSpPr>
          <p:nvPr>
            <p:ph type="dt" sz="half" idx="10"/>
          </p:nvPr>
        </p:nvSpPr>
        <p:spPr/>
        <p:txBody>
          <a:bodyPr/>
          <a:lstStyle>
            <a:lvl1pPr>
              <a:defRPr/>
            </a:lvl1pPr>
          </a:lstStyle>
          <a:p>
            <a:pPr>
              <a:defRPr/>
            </a:pPr>
            <a:fld id="{F987325E-D9A1-4860-9027-9FADEC19BC8A}" type="datetime1">
              <a:rPr lang="ms-MY"/>
              <a:pPr>
                <a:defRPr/>
              </a:pPr>
              <a:t>27/10/25</a:t>
            </a:fld>
            <a:endParaRPr lang="ms-MY"/>
          </a:p>
        </p:txBody>
      </p:sp>
      <p:sp>
        <p:nvSpPr>
          <p:cNvPr id="5" name="Footer Placeholder 4">
            <a:extLst>
              <a:ext uri="{FF2B5EF4-FFF2-40B4-BE49-F238E27FC236}">
                <a16:creationId xmlns:a16="http://schemas.microsoft.com/office/drawing/2014/main" id="{3EEB0FC4-C2F6-4648-820F-CA633A92CB39}"/>
              </a:ext>
            </a:extLst>
          </p:cNvPr>
          <p:cNvSpPr>
            <a:spLocks noGrp="1"/>
          </p:cNvSpPr>
          <p:nvPr>
            <p:ph type="ftr" sz="quarter" idx="11"/>
          </p:nvPr>
        </p:nvSpPr>
        <p:spPr/>
        <p:txBody>
          <a:bodyPr/>
          <a:lstStyle>
            <a:lvl1pPr>
              <a:defRPr/>
            </a:lvl1pPr>
          </a:lstStyle>
          <a:p>
            <a:pPr>
              <a:defRPr/>
            </a:pPr>
            <a:r>
              <a:rPr lang="en-US"/>
              <a:t>ITS572 Lectture 1 - NSMY 2012</a:t>
            </a:r>
            <a:endParaRPr lang="ms-MY"/>
          </a:p>
        </p:txBody>
      </p:sp>
      <p:sp>
        <p:nvSpPr>
          <p:cNvPr id="6" name="Slide Number Placeholder 5">
            <a:extLst>
              <a:ext uri="{FF2B5EF4-FFF2-40B4-BE49-F238E27FC236}">
                <a16:creationId xmlns:a16="http://schemas.microsoft.com/office/drawing/2014/main" id="{D51ED083-82A8-4E58-9E95-4E1CE0ABACD9}"/>
              </a:ext>
            </a:extLst>
          </p:cNvPr>
          <p:cNvSpPr>
            <a:spLocks noGrp="1"/>
          </p:cNvSpPr>
          <p:nvPr>
            <p:ph type="sldNum" sz="quarter" idx="12"/>
          </p:nvPr>
        </p:nvSpPr>
        <p:spPr/>
        <p:txBody>
          <a:bodyPr/>
          <a:lstStyle>
            <a:lvl1pPr>
              <a:defRPr/>
            </a:lvl1pPr>
          </a:lstStyle>
          <a:p>
            <a:pPr>
              <a:defRPr/>
            </a:pPr>
            <a:fld id="{6BA1D8BF-858A-41FB-A8C7-BF10CE857046}" type="slidenum">
              <a:rPr lang="ms-MY" altLang="en-US"/>
              <a:pPr>
                <a:defRPr/>
              </a:pPr>
              <a:t>‹#›</a:t>
            </a:fld>
            <a:endParaRPr lang="ms-MY" altLang="en-US"/>
          </a:p>
        </p:txBody>
      </p:sp>
    </p:spTree>
    <p:extLst>
      <p:ext uri="{BB962C8B-B14F-4D97-AF65-F5344CB8AC3E}">
        <p14:creationId xmlns:p14="http://schemas.microsoft.com/office/powerpoint/2010/main" val="205043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6B8A2BFE-84C7-4818-8AFA-5C3D80001310}"/>
              </a:ext>
            </a:extLst>
          </p:cNvPr>
          <p:cNvSpPr>
            <a:spLocks noGrp="1"/>
          </p:cNvSpPr>
          <p:nvPr>
            <p:ph type="dt" sz="half" idx="10"/>
          </p:nvPr>
        </p:nvSpPr>
        <p:spPr/>
        <p:txBody>
          <a:bodyPr/>
          <a:lstStyle>
            <a:lvl1pPr>
              <a:defRPr/>
            </a:lvl1pPr>
          </a:lstStyle>
          <a:p>
            <a:pPr>
              <a:defRPr/>
            </a:pPr>
            <a:fld id="{F51D4EDC-14FE-40E3-9CFE-F1579F40D05E}" type="datetime1">
              <a:rPr lang="ms-MY"/>
              <a:pPr>
                <a:defRPr/>
              </a:pPr>
              <a:t>27/10/25</a:t>
            </a:fld>
            <a:endParaRPr lang="ms-MY"/>
          </a:p>
        </p:txBody>
      </p:sp>
      <p:sp>
        <p:nvSpPr>
          <p:cNvPr id="5" name="Footer Placeholder 4">
            <a:extLst>
              <a:ext uri="{FF2B5EF4-FFF2-40B4-BE49-F238E27FC236}">
                <a16:creationId xmlns:a16="http://schemas.microsoft.com/office/drawing/2014/main" id="{5DAF90B4-9D26-4638-88B2-BBA68DBF81C6}"/>
              </a:ext>
            </a:extLst>
          </p:cNvPr>
          <p:cNvSpPr>
            <a:spLocks noGrp="1"/>
          </p:cNvSpPr>
          <p:nvPr>
            <p:ph type="ftr" sz="quarter" idx="11"/>
          </p:nvPr>
        </p:nvSpPr>
        <p:spPr/>
        <p:txBody>
          <a:bodyPr/>
          <a:lstStyle>
            <a:lvl1pPr>
              <a:defRPr/>
            </a:lvl1pPr>
          </a:lstStyle>
          <a:p>
            <a:pPr>
              <a:defRPr/>
            </a:pPr>
            <a:r>
              <a:rPr lang="en-US"/>
              <a:t>ITS572 Lectture 1 - NSMY 2012</a:t>
            </a:r>
            <a:endParaRPr lang="ms-MY"/>
          </a:p>
        </p:txBody>
      </p:sp>
      <p:sp>
        <p:nvSpPr>
          <p:cNvPr id="6" name="Slide Number Placeholder 5">
            <a:extLst>
              <a:ext uri="{FF2B5EF4-FFF2-40B4-BE49-F238E27FC236}">
                <a16:creationId xmlns:a16="http://schemas.microsoft.com/office/drawing/2014/main" id="{FE0406B7-3674-481F-B50A-8ECC27FC054F}"/>
              </a:ext>
            </a:extLst>
          </p:cNvPr>
          <p:cNvSpPr>
            <a:spLocks noGrp="1"/>
          </p:cNvSpPr>
          <p:nvPr>
            <p:ph type="sldNum" sz="quarter" idx="12"/>
          </p:nvPr>
        </p:nvSpPr>
        <p:spPr/>
        <p:txBody>
          <a:bodyPr/>
          <a:lstStyle>
            <a:lvl1pPr>
              <a:defRPr/>
            </a:lvl1pPr>
          </a:lstStyle>
          <a:p>
            <a:pPr>
              <a:defRPr/>
            </a:pPr>
            <a:fld id="{CF698202-1D7A-4F83-964B-BDDA9F0E4B5D}" type="slidenum">
              <a:rPr lang="ms-MY" altLang="en-US"/>
              <a:pPr>
                <a:defRPr/>
              </a:pPr>
              <a:t>‹#›</a:t>
            </a:fld>
            <a:endParaRPr lang="ms-MY" altLang="en-US"/>
          </a:p>
        </p:txBody>
      </p:sp>
    </p:spTree>
    <p:extLst>
      <p:ext uri="{BB962C8B-B14F-4D97-AF65-F5344CB8AC3E}">
        <p14:creationId xmlns:p14="http://schemas.microsoft.com/office/powerpoint/2010/main" val="970876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MY"/>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3BB8B2-3B89-48A6-A4D2-9D904F528A24}"/>
              </a:ext>
            </a:extLst>
          </p:cNvPr>
          <p:cNvSpPr>
            <a:spLocks noGrp="1"/>
          </p:cNvSpPr>
          <p:nvPr>
            <p:ph type="dt" sz="half" idx="10"/>
          </p:nvPr>
        </p:nvSpPr>
        <p:spPr/>
        <p:txBody>
          <a:bodyPr/>
          <a:lstStyle>
            <a:lvl1pPr>
              <a:defRPr/>
            </a:lvl1pPr>
          </a:lstStyle>
          <a:p>
            <a:pPr>
              <a:defRPr/>
            </a:pPr>
            <a:fld id="{76B3516F-B404-4085-A262-9DE41D35AC16}" type="datetime1">
              <a:rPr lang="ms-MY"/>
              <a:pPr>
                <a:defRPr/>
              </a:pPr>
              <a:t>27/10/25</a:t>
            </a:fld>
            <a:endParaRPr lang="ms-MY"/>
          </a:p>
        </p:txBody>
      </p:sp>
      <p:sp>
        <p:nvSpPr>
          <p:cNvPr id="5" name="Footer Placeholder 4">
            <a:extLst>
              <a:ext uri="{FF2B5EF4-FFF2-40B4-BE49-F238E27FC236}">
                <a16:creationId xmlns:a16="http://schemas.microsoft.com/office/drawing/2014/main" id="{3C31E4B6-8F37-417F-8160-2E7D2556E630}"/>
              </a:ext>
            </a:extLst>
          </p:cNvPr>
          <p:cNvSpPr>
            <a:spLocks noGrp="1"/>
          </p:cNvSpPr>
          <p:nvPr>
            <p:ph type="ftr" sz="quarter" idx="11"/>
          </p:nvPr>
        </p:nvSpPr>
        <p:spPr/>
        <p:txBody>
          <a:bodyPr/>
          <a:lstStyle>
            <a:lvl1pPr>
              <a:defRPr/>
            </a:lvl1pPr>
          </a:lstStyle>
          <a:p>
            <a:pPr>
              <a:defRPr/>
            </a:pPr>
            <a:r>
              <a:rPr lang="en-US"/>
              <a:t>ITS572 Lectture 1 - NSMY 2012</a:t>
            </a:r>
            <a:endParaRPr lang="ms-MY"/>
          </a:p>
        </p:txBody>
      </p:sp>
      <p:sp>
        <p:nvSpPr>
          <p:cNvPr id="6" name="Slide Number Placeholder 5">
            <a:extLst>
              <a:ext uri="{FF2B5EF4-FFF2-40B4-BE49-F238E27FC236}">
                <a16:creationId xmlns:a16="http://schemas.microsoft.com/office/drawing/2014/main" id="{C9C5DCDB-F330-46F1-BC1E-2DE2ED3B3F78}"/>
              </a:ext>
            </a:extLst>
          </p:cNvPr>
          <p:cNvSpPr>
            <a:spLocks noGrp="1"/>
          </p:cNvSpPr>
          <p:nvPr>
            <p:ph type="sldNum" sz="quarter" idx="12"/>
          </p:nvPr>
        </p:nvSpPr>
        <p:spPr/>
        <p:txBody>
          <a:bodyPr/>
          <a:lstStyle>
            <a:lvl1pPr>
              <a:defRPr/>
            </a:lvl1pPr>
          </a:lstStyle>
          <a:p>
            <a:pPr>
              <a:defRPr/>
            </a:pPr>
            <a:fld id="{0BFEDFF7-3580-4C56-BC62-591E37429EC1}" type="slidenum">
              <a:rPr lang="ms-MY" altLang="en-US"/>
              <a:pPr>
                <a:defRPr/>
              </a:pPr>
              <a:t>‹#›</a:t>
            </a:fld>
            <a:endParaRPr lang="ms-MY" altLang="en-US"/>
          </a:p>
        </p:txBody>
      </p:sp>
    </p:spTree>
    <p:extLst>
      <p:ext uri="{BB962C8B-B14F-4D97-AF65-F5344CB8AC3E}">
        <p14:creationId xmlns:p14="http://schemas.microsoft.com/office/powerpoint/2010/main" val="4072589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3">
            <a:extLst>
              <a:ext uri="{FF2B5EF4-FFF2-40B4-BE49-F238E27FC236}">
                <a16:creationId xmlns:a16="http://schemas.microsoft.com/office/drawing/2014/main" id="{596B207F-79AD-42F7-BF52-102A1209709C}"/>
              </a:ext>
            </a:extLst>
          </p:cNvPr>
          <p:cNvSpPr>
            <a:spLocks noGrp="1"/>
          </p:cNvSpPr>
          <p:nvPr>
            <p:ph type="dt" sz="half" idx="10"/>
          </p:nvPr>
        </p:nvSpPr>
        <p:spPr/>
        <p:txBody>
          <a:bodyPr/>
          <a:lstStyle>
            <a:lvl1pPr>
              <a:defRPr/>
            </a:lvl1pPr>
          </a:lstStyle>
          <a:p>
            <a:pPr>
              <a:defRPr/>
            </a:pPr>
            <a:fld id="{F29A8DDF-48E0-4160-AFCB-EE406D3BE5EB}" type="datetime1">
              <a:rPr lang="ms-MY"/>
              <a:pPr>
                <a:defRPr/>
              </a:pPr>
              <a:t>27/10/25</a:t>
            </a:fld>
            <a:endParaRPr lang="ms-MY"/>
          </a:p>
        </p:txBody>
      </p:sp>
      <p:sp>
        <p:nvSpPr>
          <p:cNvPr id="6" name="Footer Placeholder 4">
            <a:extLst>
              <a:ext uri="{FF2B5EF4-FFF2-40B4-BE49-F238E27FC236}">
                <a16:creationId xmlns:a16="http://schemas.microsoft.com/office/drawing/2014/main" id="{7AAE96E5-BA06-46D8-9F6C-E1308D2F6057}"/>
              </a:ext>
            </a:extLst>
          </p:cNvPr>
          <p:cNvSpPr>
            <a:spLocks noGrp="1"/>
          </p:cNvSpPr>
          <p:nvPr>
            <p:ph type="ftr" sz="quarter" idx="11"/>
          </p:nvPr>
        </p:nvSpPr>
        <p:spPr/>
        <p:txBody>
          <a:bodyPr/>
          <a:lstStyle>
            <a:lvl1pPr>
              <a:defRPr/>
            </a:lvl1pPr>
          </a:lstStyle>
          <a:p>
            <a:pPr>
              <a:defRPr/>
            </a:pPr>
            <a:r>
              <a:rPr lang="en-US"/>
              <a:t>ITS572 Lectture 1 - NSMY 2012</a:t>
            </a:r>
            <a:endParaRPr lang="ms-MY"/>
          </a:p>
        </p:txBody>
      </p:sp>
      <p:sp>
        <p:nvSpPr>
          <p:cNvPr id="7" name="Slide Number Placeholder 5">
            <a:extLst>
              <a:ext uri="{FF2B5EF4-FFF2-40B4-BE49-F238E27FC236}">
                <a16:creationId xmlns:a16="http://schemas.microsoft.com/office/drawing/2014/main" id="{D33E2D5E-397D-4D13-81A1-C9EBC4DA3C13}"/>
              </a:ext>
            </a:extLst>
          </p:cNvPr>
          <p:cNvSpPr>
            <a:spLocks noGrp="1"/>
          </p:cNvSpPr>
          <p:nvPr>
            <p:ph type="sldNum" sz="quarter" idx="12"/>
          </p:nvPr>
        </p:nvSpPr>
        <p:spPr/>
        <p:txBody>
          <a:bodyPr/>
          <a:lstStyle>
            <a:lvl1pPr>
              <a:defRPr/>
            </a:lvl1pPr>
          </a:lstStyle>
          <a:p>
            <a:pPr>
              <a:defRPr/>
            </a:pPr>
            <a:fld id="{ADF5B14D-A139-4EA6-9583-4EE964FF3C2C}" type="slidenum">
              <a:rPr lang="ms-MY" altLang="en-US"/>
              <a:pPr>
                <a:defRPr/>
              </a:pPr>
              <a:t>‹#›</a:t>
            </a:fld>
            <a:endParaRPr lang="ms-MY" altLang="en-US"/>
          </a:p>
        </p:txBody>
      </p:sp>
    </p:spTree>
    <p:extLst>
      <p:ext uri="{BB962C8B-B14F-4D97-AF65-F5344CB8AC3E}">
        <p14:creationId xmlns:p14="http://schemas.microsoft.com/office/powerpoint/2010/main" val="1060604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MY"/>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3">
            <a:extLst>
              <a:ext uri="{FF2B5EF4-FFF2-40B4-BE49-F238E27FC236}">
                <a16:creationId xmlns:a16="http://schemas.microsoft.com/office/drawing/2014/main" id="{824AAC5D-C56D-42D5-BF6D-2B5F3117E61E}"/>
              </a:ext>
            </a:extLst>
          </p:cNvPr>
          <p:cNvSpPr>
            <a:spLocks noGrp="1"/>
          </p:cNvSpPr>
          <p:nvPr>
            <p:ph type="dt" sz="half" idx="10"/>
          </p:nvPr>
        </p:nvSpPr>
        <p:spPr/>
        <p:txBody>
          <a:bodyPr/>
          <a:lstStyle>
            <a:lvl1pPr>
              <a:defRPr/>
            </a:lvl1pPr>
          </a:lstStyle>
          <a:p>
            <a:pPr>
              <a:defRPr/>
            </a:pPr>
            <a:fld id="{9C50F7D3-3F59-46BE-8DC7-0E29678C5725}" type="datetime1">
              <a:rPr lang="ms-MY"/>
              <a:pPr>
                <a:defRPr/>
              </a:pPr>
              <a:t>27/10/25</a:t>
            </a:fld>
            <a:endParaRPr lang="ms-MY"/>
          </a:p>
        </p:txBody>
      </p:sp>
      <p:sp>
        <p:nvSpPr>
          <p:cNvPr id="8" name="Footer Placeholder 4">
            <a:extLst>
              <a:ext uri="{FF2B5EF4-FFF2-40B4-BE49-F238E27FC236}">
                <a16:creationId xmlns:a16="http://schemas.microsoft.com/office/drawing/2014/main" id="{33BD47F8-FE9F-4BF1-A86D-63D4A0B60BB5}"/>
              </a:ext>
            </a:extLst>
          </p:cNvPr>
          <p:cNvSpPr>
            <a:spLocks noGrp="1"/>
          </p:cNvSpPr>
          <p:nvPr>
            <p:ph type="ftr" sz="quarter" idx="11"/>
          </p:nvPr>
        </p:nvSpPr>
        <p:spPr/>
        <p:txBody>
          <a:bodyPr/>
          <a:lstStyle>
            <a:lvl1pPr>
              <a:defRPr/>
            </a:lvl1pPr>
          </a:lstStyle>
          <a:p>
            <a:pPr>
              <a:defRPr/>
            </a:pPr>
            <a:r>
              <a:rPr lang="en-US"/>
              <a:t>ITS572 Lectture 1 - NSMY 2012</a:t>
            </a:r>
            <a:endParaRPr lang="ms-MY"/>
          </a:p>
        </p:txBody>
      </p:sp>
      <p:sp>
        <p:nvSpPr>
          <p:cNvPr id="9" name="Slide Number Placeholder 5">
            <a:extLst>
              <a:ext uri="{FF2B5EF4-FFF2-40B4-BE49-F238E27FC236}">
                <a16:creationId xmlns:a16="http://schemas.microsoft.com/office/drawing/2014/main" id="{A7D1AE97-B656-41F2-901D-A7B296C3E17B}"/>
              </a:ext>
            </a:extLst>
          </p:cNvPr>
          <p:cNvSpPr>
            <a:spLocks noGrp="1"/>
          </p:cNvSpPr>
          <p:nvPr>
            <p:ph type="sldNum" sz="quarter" idx="12"/>
          </p:nvPr>
        </p:nvSpPr>
        <p:spPr/>
        <p:txBody>
          <a:bodyPr/>
          <a:lstStyle>
            <a:lvl1pPr>
              <a:defRPr/>
            </a:lvl1pPr>
          </a:lstStyle>
          <a:p>
            <a:pPr>
              <a:defRPr/>
            </a:pPr>
            <a:fld id="{2B8280EC-5498-4B3C-BC62-A055E92E509B}" type="slidenum">
              <a:rPr lang="ms-MY" altLang="en-US"/>
              <a:pPr>
                <a:defRPr/>
              </a:pPr>
              <a:t>‹#›</a:t>
            </a:fld>
            <a:endParaRPr lang="ms-MY" altLang="en-US"/>
          </a:p>
        </p:txBody>
      </p:sp>
    </p:spTree>
    <p:extLst>
      <p:ext uri="{BB962C8B-B14F-4D97-AF65-F5344CB8AC3E}">
        <p14:creationId xmlns:p14="http://schemas.microsoft.com/office/powerpoint/2010/main" val="3376130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Date Placeholder 3">
            <a:extLst>
              <a:ext uri="{FF2B5EF4-FFF2-40B4-BE49-F238E27FC236}">
                <a16:creationId xmlns:a16="http://schemas.microsoft.com/office/drawing/2014/main" id="{EBC06CDC-6BB0-47DA-B344-3DE7A95FE252}"/>
              </a:ext>
            </a:extLst>
          </p:cNvPr>
          <p:cNvSpPr>
            <a:spLocks noGrp="1"/>
          </p:cNvSpPr>
          <p:nvPr>
            <p:ph type="dt" sz="half" idx="10"/>
          </p:nvPr>
        </p:nvSpPr>
        <p:spPr/>
        <p:txBody>
          <a:bodyPr/>
          <a:lstStyle>
            <a:lvl1pPr>
              <a:defRPr/>
            </a:lvl1pPr>
          </a:lstStyle>
          <a:p>
            <a:pPr>
              <a:defRPr/>
            </a:pPr>
            <a:fld id="{A1A73BD4-4F72-4D55-BC54-D9F2D6B9D549}" type="datetime1">
              <a:rPr lang="ms-MY"/>
              <a:pPr>
                <a:defRPr/>
              </a:pPr>
              <a:t>27/10/25</a:t>
            </a:fld>
            <a:endParaRPr lang="ms-MY"/>
          </a:p>
        </p:txBody>
      </p:sp>
      <p:sp>
        <p:nvSpPr>
          <p:cNvPr id="4" name="Footer Placeholder 4">
            <a:extLst>
              <a:ext uri="{FF2B5EF4-FFF2-40B4-BE49-F238E27FC236}">
                <a16:creationId xmlns:a16="http://schemas.microsoft.com/office/drawing/2014/main" id="{59D485F2-4C12-4556-9AA1-3D14464DEC92}"/>
              </a:ext>
            </a:extLst>
          </p:cNvPr>
          <p:cNvSpPr>
            <a:spLocks noGrp="1"/>
          </p:cNvSpPr>
          <p:nvPr>
            <p:ph type="ftr" sz="quarter" idx="11"/>
          </p:nvPr>
        </p:nvSpPr>
        <p:spPr/>
        <p:txBody>
          <a:bodyPr/>
          <a:lstStyle>
            <a:lvl1pPr>
              <a:defRPr/>
            </a:lvl1pPr>
          </a:lstStyle>
          <a:p>
            <a:pPr>
              <a:defRPr/>
            </a:pPr>
            <a:r>
              <a:rPr lang="en-US"/>
              <a:t>ITS572 Lectture 1 - NSMY 2012</a:t>
            </a:r>
            <a:endParaRPr lang="ms-MY"/>
          </a:p>
        </p:txBody>
      </p:sp>
      <p:sp>
        <p:nvSpPr>
          <p:cNvPr id="5" name="Slide Number Placeholder 5">
            <a:extLst>
              <a:ext uri="{FF2B5EF4-FFF2-40B4-BE49-F238E27FC236}">
                <a16:creationId xmlns:a16="http://schemas.microsoft.com/office/drawing/2014/main" id="{BC8A6E73-D813-42B3-B357-89989029E40F}"/>
              </a:ext>
            </a:extLst>
          </p:cNvPr>
          <p:cNvSpPr>
            <a:spLocks noGrp="1"/>
          </p:cNvSpPr>
          <p:nvPr>
            <p:ph type="sldNum" sz="quarter" idx="12"/>
          </p:nvPr>
        </p:nvSpPr>
        <p:spPr/>
        <p:txBody>
          <a:bodyPr/>
          <a:lstStyle>
            <a:lvl1pPr>
              <a:defRPr/>
            </a:lvl1pPr>
          </a:lstStyle>
          <a:p>
            <a:pPr>
              <a:defRPr/>
            </a:pPr>
            <a:fld id="{2F462DF8-60DD-4C95-AF13-3214137D81A3}" type="slidenum">
              <a:rPr lang="ms-MY" altLang="en-US"/>
              <a:pPr>
                <a:defRPr/>
              </a:pPr>
              <a:t>‹#›</a:t>
            </a:fld>
            <a:endParaRPr lang="ms-MY" altLang="en-US"/>
          </a:p>
        </p:txBody>
      </p:sp>
    </p:spTree>
    <p:extLst>
      <p:ext uri="{BB962C8B-B14F-4D97-AF65-F5344CB8AC3E}">
        <p14:creationId xmlns:p14="http://schemas.microsoft.com/office/powerpoint/2010/main" val="468028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ACFA229-44E7-4FA9-897C-F791045B7829}"/>
              </a:ext>
            </a:extLst>
          </p:cNvPr>
          <p:cNvSpPr>
            <a:spLocks noGrp="1"/>
          </p:cNvSpPr>
          <p:nvPr>
            <p:ph type="dt" sz="half" idx="10"/>
          </p:nvPr>
        </p:nvSpPr>
        <p:spPr/>
        <p:txBody>
          <a:bodyPr/>
          <a:lstStyle>
            <a:lvl1pPr>
              <a:defRPr/>
            </a:lvl1pPr>
          </a:lstStyle>
          <a:p>
            <a:pPr>
              <a:defRPr/>
            </a:pPr>
            <a:fld id="{5D5DE62E-20D9-4EEA-83B2-066E43027CF3}" type="datetime1">
              <a:rPr lang="ms-MY"/>
              <a:pPr>
                <a:defRPr/>
              </a:pPr>
              <a:t>27/10/25</a:t>
            </a:fld>
            <a:endParaRPr lang="ms-MY"/>
          </a:p>
        </p:txBody>
      </p:sp>
      <p:sp>
        <p:nvSpPr>
          <p:cNvPr id="3" name="Footer Placeholder 4">
            <a:extLst>
              <a:ext uri="{FF2B5EF4-FFF2-40B4-BE49-F238E27FC236}">
                <a16:creationId xmlns:a16="http://schemas.microsoft.com/office/drawing/2014/main" id="{8051AC2F-98E5-443E-B378-7983FEB6FB69}"/>
              </a:ext>
            </a:extLst>
          </p:cNvPr>
          <p:cNvSpPr>
            <a:spLocks noGrp="1"/>
          </p:cNvSpPr>
          <p:nvPr>
            <p:ph type="ftr" sz="quarter" idx="11"/>
          </p:nvPr>
        </p:nvSpPr>
        <p:spPr/>
        <p:txBody>
          <a:bodyPr/>
          <a:lstStyle>
            <a:lvl1pPr>
              <a:defRPr/>
            </a:lvl1pPr>
          </a:lstStyle>
          <a:p>
            <a:pPr>
              <a:defRPr/>
            </a:pPr>
            <a:r>
              <a:rPr lang="en-US"/>
              <a:t>ITS572 Lectture 1 - NSMY 2012</a:t>
            </a:r>
            <a:endParaRPr lang="ms-MY"/>
          </a:p>
        </p:txBody>
      </p:sp>
      <p:sp>
        <p:nvSpPr>
          <p:cNvPr id="4" name="Slide Number Placeholder 5">
            <a:extLst>
              <a:ext uri="{FF2B5EF4-FFF2-40B4-BE49-F238E27FC236}">
                <a16:creationId xmlns:a16="http://schemas.microsoft.com/office/drawing/2014/main" id="{C8528CA7-989D-4ABC-85EE-9AF0FB694CB4}"/>
              </a:ext>
            </a:extLst>
          </p:cNvPr>
          <p:cNvSpPr>
            <a:spLocks noGrp="1"/>
          </p:cNvSpPr>
          <p:nvPr>
            <p:ph type="sldNum" sz="quarter" idx="12"/>
          </p:nvPr>
        </p:nvSpPr>
        <p:spPr/>
        <p:txBody>
          <a:bodyPr/>
          <a:lstStyle>
            <a:lvl1pPr>
              <a:defRPr/>
            </a:lvl1pPr>
          </a:lstStyle>
          <a:p>
            <a:pPr>
              <a:defRPr/>
            </a:pPr>
            <a:fld id="{2ABA95B6-84C1-47F8-9A27-8649BA527C33}" type="slidenum">
              <a:rPr lang="ms-MY" altLang="en-US"/>
              <a:pPr>
                <a:defRPr/>
              </a:pPr>
              <a:t>‹#›</a:t>
            </a:fld>
            <a:endParaRPr lang="ms-MY" altLang="en-US"/>
          </a:p>
        </p:txBody>
      </p:sp>
    </p:spTree>
    <p:extLst>
      <p:ext uri="{BB962C8B-B14F-4D97-AF65-F5344CB8AC3E}">
        <p14:creationId xmlns:p14="http://schemas.microsoft.com/office/powerpoint/2010/main" val="239766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7C4E26D4-898B-4BF2-9899-9FA5F53ED57A}"/>
              </a:ext>
            </a:extLst>
          </p:cNvPr>
          <p:cNvSpPr>
            <a:spLocks noGrp="1"/>
          </p:cNvSpPr>
          <p:nvPr>
            <p:ph type="dt" sz="half" idx="10"/>
          </p:nvPr>
        </p:nvSpPr>
        <p:spPr/>
        <p:txBody>
          <a:bodyPr/>
          <a:lstStyle>
            <a:lvl1pPr>
              <a:defRPr/>
            </a:lvl1pPr>
          </a:lstStyle>
          <a:p>
            <a:pPr>
              <a:defRPr/>
            </a:pPr>
            <a:fld id="{B480D62A-EB1E-4169-90AC-D6930592EA11}" type="datetime1">
              <a:rPr lang="ms-MY"/>
              <a:pPr>
                <a:defRPr/>
              </a:pPr>
              <a:t>27/10/25</a:t>
            </a:fld>
            <a:endParaRPr lang="ms-MY"/>
          </a:p>
        </p:txBody>
      </p:sp>
      <p:sp>
        <p:nvSpPr>
          <p:cNvPr id="6" name="Footer Placeholder 4">
            <a:extLst>
              <a:ext uri="{FF2B5EF4-FFF2-40B4-BE49-F238E27FC236}">
                <a16:creationId xmlns:a16="http://schemas.microsoft.com/office/drawing/2014/main" id="{425C5D26-3231-40FA-9FBD-5DFB92D3EDFC}"/>
              </a:ext>
            </a:extLst>
          </p:cNvPr>
          <p:cNvSpPr>
            <a:spLocks noGrp="1"/>
          </p:cNvSpPr>
          <p:nvPr>
            <p:ph type="ftr" sz="quarter" idx="11"/>
          </p:nvPr>
        </p:nvSpPr>
        <p:spPr/>
        <p:txBody>
          <a:bodyPr/>
          <a:lstStyle>
            <a:lvl1pPr>
              <a:defRPr/>
            </a:lvl1pPr>
          </a:lstStyle>
          <a:p>
            <a:pPr>
              <a:defRPr/>
            </a:pPr>
            <a:r>
              <a:rPr lang="en-US"/>
              <a:t>ITS572 Lectture 1 - NSMY 2012</a:t>
            </a:r>
            <a:endParaRPr lang="ms-MY"/>
          </a:p>
        </p:txBody>
      </p:sp>
      <p:sp>
        <p:nvSpPr>
          <p:cNvPr id="7" name="Slide Number Placeholder 5">
            <a:extLst>
              <a:ext uri="{FF2B5EF4-FFF2-40B4-BE49-F238E27FC236}">
                <a16:creationId xmlns:a16="http://schemas.microsoft.com/office/drawing/2014/main" id="{EE0F9786-C391-4187-8935-8F7AE25E5000}"/>
              </a:ext>
            </a:extLst>
          </p:cNvPr>
          <p:cNvSpPr>
            <a:spLocks noGrp="1"/>
          </p:cNvSpPr>
          <p:nvPr>
            <p:ph type="sldNum" sz="quarter" idx="12"/>
          </p:nvPr>
        </p:nvSpPr>
        <p:spPr/>
        <p:txBody>
          <a:bodyPr/>
          <a:lstStyle>
            <a:lvl1pPr>
              <a:defRPr/>
            </a:lvl1pPr>
          </a:lstStyle>
          <a:p>
            <a:pPr>
              <a:defRPr/>
            </a:pPr>
            <a:fld id="{608BEA79-BD30-4384-ACA6-8BB30FA614B4}" type="slidenum">
              <a:rPr lang="ms-MY" altLang="en-US"/>
              <a:pPr>
                <a:defRPr/>
              </a:pPr>
              <a:t>‹#›</a:t>
            </a:fld>
            <a:endParaRPr lang="ms-MY" altLang="en-US"/>
          </a:p>
        </p:txBody>
      </p:sp>
    </p:spTree>
    <p:extLst>
      <p:ext uri="{BB962C8B-B14F-4D97-AF65-F5344CB8AC3E}">
        <p14:creationId xmlns:p14="http://schemas.microsoft.com/office/powerpoint/2010/main" val="86413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Picture Placeholder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MY" noProof="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979AD2DA-B501-4ACE-B506-15D4F97EDFA2}"/>
              </a:ext>
            </a:extLst>
          </p:cNvPr>
          <p:cNvSpPr>
            <a:spLocks noGrp="1"/>
          </p:cNvSpPr>
          <p:nvPr>
            <p:ph type="dt" sz="half" idx="10"/>
          </p:nvPr>
        </p:nvSpPr>
        <p:spPr/>
        <p:txBody>
          <a:bodyPr/>
          <a:lstStyle>
            <a:lvl1pPr>
              <a:defRPr/>
            </a:lvl1pPr>
          </a:lstStyle>
          <a:p>
            <a:pPr>
              <a:defRPr/>
            </a:pPr>
            <a:fld id="{688BEAC8-4031-4F17-83A3-88C2DCC44433}" type="datetime1">
              <a:rPr lang="ms-MY"/>
              <a:pPr>
                <a:defRPr/>
              </a:pPr>
              <a:t>27/10/25</a:t>
            </a:fld>
            <a:endParaRPr lang="ms-MY"/>
          </a:p>
        </p:txBody>
      </p:sp>
      <p:sp>
        <p:nvSpPr>
          <p:cNvPr id="6" name="Footer Placeholder 4">
            <a:extLst>
              <a:ext uri="{FF2B5EF4-FFF2-40B4-BE49-F238E27FC236}">
                <a16:creationId xmlns:a16="http://schemas.microsoft.com/office/drawing/2014/main" id="{98F835B4-D0B7-400A-A46D-AEC05B867599}"/>
              </a:ext>
            </a:extLst>
          </p:cNvPr>
          <p:cNvSpPr>
            <a:spLocks noGrp="1"/>
          </p:cNvSpPr>
          <p:nvPr>
            <p:ph type="ftr" sz="quarter" idx="11"/>
          </p:nvPr>
        </p:nvSpPr>
        <p:spPr/>
        <p:txBody>
          <a:bodyPr/>
          <a:lstStyle>
            <a:lvl1pPr>
              <a:defRPr/>
            </a:lvl1pPr>
          </a:lstStyle>
          <a:p>
            <a:pPr>
              <a:defRPr/>
            </a:pPr>
            <a:r>
              <a:rPr lang="en-US"/>
              <a:t>ITS572 Lectture 1 - NSMY 2012</a:t>
            </a:r>
            <a:endParaRPr lang="ms-MY"/>
          </a:p>
        </p:txBody>
      </p:sp>
      <p:sp>
        <p:nvSpPr>
          <p:cNvPr id="7" name="Slide Number Placeholder 5">
            <a:extLst>
              <a:ext uri="{FF2B5EF4-FFF2-40B4-BE49-F238E27FC236}">
                <a16:creationId xmlns:a16="http://schemas.microsoft.com/office/drawing/2014/main" id="{14537177-282F-4CD7-BE18-F6155EC4DED5}"/>
              </a:ext>
            </a:extLst>
          </p:cNvPr>
          <p:cNvSpPr>
            <a:spLocks noGrp="1"/>
          </p:cNvSpPr>
          <p:nvPr>
            <p:ph type="sldNum" sz="quarter" idx="12"/>
          </p:nvPr>
        </p:nvSpPr>
        <p:spPr/>
        <p:txBody>
          <a:bodyPr/>
          <a:lstStyle>
            <a:lvl1pPr>
              <a:defRPr/>
            </a:lvl1pPr>
          </a:lstStyle>
          <a:p>
            <a:pPr>
              <a:defRPr/>
            </a:pPr>
            <a:fld id="{53D63BD8-C295-4280-89A1-5206B6860D91}" type="slidenum">
              <a:rPr lang="ms-MY" altLang="en-US"/>
              <a:pPr>
                <a:defRPr/>
              </a:pPr>
              <a:t>‹#›</a:t>
            </a:fld>
            <a:endParaRPr lang="ms-MY" altLang="en-US"/>
          </a:p>
        </p:txBody>
      </p:sp>
    </p:spTree>
    <p:extLst>
      <p:ext uri="{BB962C8B-B14F-4D97-AF65-F5344CB8AC3E}">
        <p14:creationId xmlns:p14="http://schemas.microsoft.com/office/powerpoint/2010/main" val="2460569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EBE6727-1482-45ED-BBCA-A1FC4652BE02}"/>
              </a:ext>
            </a:extLst>
          </p:cNvPr>
          <p:cNvSpPr>
            <a:spLocks noGrp="1"/>
          </p:cNvSpPr>
          <p:nvPr>
            <p:ph type="dt" sz="half" idx="10"/>
          </p:nvPr>
        </p:nvSpPr>
        <p:spPr/>
        <p:txBody>
          <a:bodyPr/>
          <a:lstStyle>
            <a:lvl1pPr>
              <a:defRPr/>
            </a:lvl1pPr>
          </a:lstStyle>
          <a:p>
            <a:pPr>
              <a:defRPr/>
            </a:pPr>
            <a:fld id="{310CDCE4-D4D2-42A9-9E91-343ADED7F2CF}" type="datetime1">
              <a:rPr lang="ms-MY"/>
              <a:pPr>
                <a:defRPr/>
              </a:pPr>
              <a:t>27/10/25</a:t>
            </a:fld>
            <a:endParaRPr lang="ms-MY"/>
          </a:p>
        </p:txBody>
      </p:sp>
      <p:sp>
        <p:nvSpPr>
          <p:cNvPr id="5" name="Footer Placeholder 4">
            <a:extLst>
              <a:ext uri="{FF2B5EF4-FFF2-40B4-BE49-F238E27FC236}">
                <a16:creationId xmlns:a16="http://schemas.microsoft.com/office/drawing/2014/main" id="{46FABB1D-1183-45A6-8911-97A87CC52AFC}"/>
              </a:ext>
            </a:extLst>
          </p:cNvPr>
          <p:cNvSpPr>
            <a:spLocks noGrp="1"/>
          </p:cNvSpPr>
          <p:nvPr>
            <p:ph type="ftr" sz="quarter" idx="11"/>
          </p:nvPr>
        </p:nvSpPr>
        <p:spPr/>
        <p:txBody>
          <a:bodyPr/>
          <a:lstStyle>
            <a:lvl1pPr>
              <a:defRPr/>
            </a:lvl1pPr>
          </a:lstStyle>
          <a:p>
            <a:pPr>
              <a:defRPr/>
            </a:pPr>
            <a:r>
              <a:rPr lang="en-US"/>
              <a:t>ITS572 Lectture 1 - NSMY 2012</a:t>
            </a:r>
            <a:endParaRPr lang="ms-MY"/>
          </a:p>
        </p:txBody>
      </p:sp>
      <p:sp>
        <p:nvSpPr>
          <p:cNvPr id="6" name="Slide Number Placeholder 5">
            <a:extLst>
              <a:ext uri="{FF2B5EF4-FFF2-40B4-BE49-F238E27FC236}">
                <a16:creationId xmlns:a16="http://schemas.microsoft.com/office/drawing/2014/main" id="{4CB67469-E573-44B0-BC64-A432982B9129}"/>
              </a:ext>
            </a:extLst>
          </p:cNvPr>
          <p:cNvSpPr>
            <a:spLocks noGrp="1"/>
          </p:cNvSpPr>
          <p:nvPr>
            <p:ph type="sldNum" sz="quarter" idx="12"/>
          </p:nvPr>
        </p:nvSpPr>
        <p:spPr/>
        <p:txBody>
          <a:bodyPr/>
          <a:lstStyle>
            <a:lvl1pPr>
              <a:defRPr/>
            </a:lvl1pPr>
          </a:lstStyle>
          <a:p>
            <a:pPr>
              <a:defRPr/>
            </a:pPr>
            <a:fld id="{7E551CDB-7E19-411D-BC0D-CF897E3F59AF}" type="slidenum">
              <a:rPr lang="ms-MY" altLang="en-US"/>
              <a:pPr>
                <a:defRPr/>
              </a:pPr>
              <a:t>‹#›</a:t>
            </a:fld>
            <a:endParaRPr lang="ms-MY" altLang="en-US"/>
          </a:p>
        </p:txBody>
      </p:sp>
    </p:spTree>
    <p:extLst>
      <p:ext uri="{BB962C8B-B14F-4D97-AF65-F5344CB8AC3E}">
        <p14:creationId xmlns:p14="http://schemas.microsoft.com/office/powerpoint/2010/main" val="6645505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2A79C465-D293-4DFB-A081-0E7C9A68E914}"/>
              </a:ext>
            </a:extLst>
          </p:cNvPr>
          <p:cNvSpPr>
            <a:spLocks noGrp="1"/>
          </p:cNvSpPr>
          <p:nvPr>
            <p:ph type="dt" sz="half" idx="10"/>
          </p:nvPr>
        </p:nvSpPr>
        <p:spPr/>
        <p:txBody>
          <a:bodyPr/>
          <a:lstStyle>
            <a:lvl1pPr>
              <a:defRPr/>
            </a:lvl1pPr>
          </a:lstStyle>
          <a:p>
            <a:pPr>
              <a:defRPr/>
            </a:pPr>
            <a:fld id="{3B0A761C-11CB-40B6-89ED-EEC098D16DCA}" type="datetime1">
              <a:rPr lang="ms-MY"/>
              <a:pPr>
                <a:defRPr/>
              </a:pPr>
              <a:t>27/10/25</a:t>
            </a:fld>
            <a:endParaRPr lang="ms-MY"/>
          </a:p>
        </p:txBody>
      </p:sp>
      <p:sp>
        <p:nvSpPr>
          <p:cNvPr id="5" name="Footer Placeholder 4">
            <a:extLst>
              <a:ext uri="{FF2B5EF4-FFF2-40B4-BE49-F238E27FC236}">
                <a16:creationId xmlns:a16="http://schemas.microsoft.com/office/drawing/2014/main" id="{FEA19489-749F-4701-B1C2-AF75DF3EFCC0}"/>
              </a:ext>
            </a:extLst>
          </p:cNvPr>
          <p:cNvSpPr>
            <a:spLocks noGrp="1"/>
          </p:cNvSpPr>
          <p:nvPr>
            <p:ph type="ftr" sz="quarter" idx="11"/>
          </p:nvPr>
        </p:nvSpPr>
        <p:spPr/>
        <p:txBody>
          <a:bodyPr/>
          <a:lstStyle>
            <a:lvl1pPr>
              <a:defRPr/>
            </a:lvl1pPr>
          </a:lstStyle>
          <a:p>
            <a:pPr>
              <a:defRPr/>
            </a:pPr>
            <a:r>
              <a:rPr lang="en-US"/>
              <a:t>ITS572 Lectture 1 - NSMY 2012</a:t>
            </a:r>
            <a:endParaRPr lang="ms-MY"/>
          </a:p>
        </p:txBody>
      </p:sp>
      <p:sp>
        <p:nvSpPr>
          <p:cNvPr id="6" name="Slide Number Placeholder 5">
            <a:extLst>
              <a:ext uri="{FF2B5EF4-FFF2-40B4-BE49-F238E27FC236}">
                <a16:creationId xmlns:a16="http://schemas.microsoft.com/office/drawing/2014/main" id="{09719809-71F9-4AA8-8B94-CEF6D38A5EFD}"/>
              </a:ext>
            </a:extLst>
          </p:cNvPr>
          <p:cNvSpPr>
            <a:spLocks noGrp="1"/>
          </p:cNvSpPr>
          <p:nvPr>
            <p:ph type="sldNum" sz="quarter" idx="12"/>
          </p:nvPr>
        </p:nvSpPr>
        <p:spPr/>
        <p:txBody>
          <a:bodyPr/>
          <a:lstStyle>
            <a:lvl1pPr>
              <a:defRPr/>
            </a:lvl1pPr>
          </a:lstStyle>
          <a:p>
            <a:pPr>
              <a:defRPr/>
            </a:pPr>
            <a:fld id="{0878B809-8BA6-4A20-8709-7F0D8724BE64}" type="slidenum">
              <a:rPr lang="ms-MY" altLang="en-US"/>
              <a:pPr>
                <a:defRPr/>
              </a:pPr>
              <a:t>‹#›</a:t>
            </a:fld>
            <a:endParaRPr lang="ms-MY" altLang="en-US"/>
          </a:p>
        </p:txBody>
      </p:sp>
    </p:spTree>
    <p:extLst>
      <p:ext uri="{BB962C8B-B14F-4D97-AF65-F5344CB8AC3E}">
        <p14:creationId xmlns:p14="http://schemas.microsoft.com/office/powerpoint/2010/main" val="35307358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Four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89505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760292"/>
            <a:ext cx="8229600" cy="10767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4016772"/>
            <a:ext cx="8229600" cy="1016701"/>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5155500"/>
            <a:ext cx="8232775" cy="9119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23487288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On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6"/>
            <a:ext cx="8229600" cy="44342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Tree>
    <p:extLst>
      <p:ext uri="{BB962C8B-B14F-4D97-AF65-F5344CB8AC3E}">
        <p14:creationId xmlns:p14="http://schemas.microsoft.com/office/powerpoint/2010/main" val="3965852715"/>
      </p:ext>
    </p:extLst>
  </p:cSld>
  <p:clrMapOvr>
    <a:masterClrMapping/>
  </p:clrMapOvr>
  <p:extLst>
    <p:ext uri="{DCECCB84-F9BA-43D5-87BE-67443E8EF086}">
      <p15:sldGuideLst xmlns:p15="http://schemas.microsoft.com/office/powerpoint/2012/main">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1836354"/>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3632200"/>
            <a:ext cx="8229600" cy="17938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99770063"/>
      </p:ext>
    </p:extLst>
  </p:cSld>
  <p:clrMapOvr>
    <a:masterClrMapping/>
  </p:clrMapOvr>
  <p:extLst>
    <p:ext uri="{DCECCB84-F9BA-43D5-87BE-67443E8EF086}">
      <p15:sldGuideLst xmlns:p15="http://schemas.microsoft.com/office/powerpoint/2012/main">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theme" Target="../theme/theme2.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254CA6FF-0341-4841-BC0A-B536F565575C}"/>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MY" altLang="en-US"/>
          </a:p>
        </p:txBody>
      </p:sp>
      <p:sp>
        <p:nvSpPr>
          <p:cNvPr id="1027" name="Text Placeholder 2">
            <a:extLst>
              <a:ext uri="{FF2B5EF4-FFF2-40B4-BE49-F238E27FC236}">
                <a16:creationId xmlns:a16="http://schemas.microsoft.com/office/drawing/2014/main" id="{CACF99A4-F6BC-4830-B03D-5773026FBB6E}"/>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MY" altLang="en-US"/>
          </a:p>
        </p:txBody>
      </p:sp>
      <p:sp>
        <p:nvSpPr>
          <p:cNvPr id="4" name="Date Placeholder 3">
            <a:extLst>
              <a:ext uri="{FF2B5EF4-FFF2-40B4-BE49-F238E27FC236}">
                <a16:creationId xmlns:a16="http://schemas.microsoft.com/office/drawing/2014/main" id="{238AEA76-E566-446A-8219-66EE2A3CF952}"/>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BDEF840F-1076-4601-A7A0-3CAD84472B24}" type="datetime1">
              <a:rPr lang="ms-MY"/>
              <a:pPr>
                <a:defRPr/>
              </a:pPr>
              <a:t>27/10/25</a:t>
            </a:fld>
            <a:endParaRPr lang="ms-MY"/>
          </a:p>
        </p:txBody>
      </p:sp>
      <p:sp>
        <p:nvSpPr>
          <p:cNvPr id="5" name="Footer Placeholder 4">
            <a:extLst>
              <a:ext uri="{FF2B5EF4-FFF2-40B4-BE49-F238E27FC236}">
                <a16:creationId xmlns:a16="http://schemas.microsoft.com/office/drawing/2014/main" id="{7CCE6718-D118-4DE0-9F5F-A2A8FD1332E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US"/>
              <a:t>ITS572 Lectture 1 - NSMY 2012</a:t>
            </a:r>
            <a:endParaRPr lang="ms-MY"/>
          </a:p>
        </p:txBody>
      </p:sp>
      <p:sp>
        <p:nvSpPr>
          <p:cNvPr id="6" name="Slide Number Placeholder 5">
            <a:extLst>
              <a:ext uri="{FF2B5EF4-FFF2-40B4-BE49-F238E27FC236}">
                <a16:creationId xmlns:a16="http://schemas.microsoft.com/office/drawing/2014/main" id="{4449C8BA-9938-43C9-9281-D912C9F3D1D6}"/>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900" smtClean="0">
                <a:solidFill>
                  <a:srgbClr val="898989"/>
                </a:solidFill>
              </a:defRPr>
            </a:lvl1pPr>
          </a:lstStyle>
          <a:p>
            <a:pPr>
              <a:defRPr/>
            </a:pPr>
            <a:fld id="{F2DBCC9D-1623-4C82-B1BE-EC486679E549}" type="slidenum">
              <a:rPr lang="ms-MY" altLang="en-US"/>
              <a:pPr>
                <a:defRPr/>
              </a:pPr>
              <a:t>‹#›</a:t>
            </a:fld>
            <a:endParaRPr lang="ms-MY" altLang="en-US"/>
          </a:p>
        </p:txBody>
      </p:sp>
    </p:spTree>
    <p:extLst>
      <p:ext uri="{BB962C8B-B14F-4D97-AF65-F5344CB8AC3E}">
        <p14:creationId xmlns:p14="http://schemas.microsoft.com/office/powerpoint/2010/main" val="329588345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Lst>
  <p:hf sldNum="0" hd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4760728" y="3957666"/>
            <a:ext cx="4290237" cy="534500"/>
          </a:xfrm>
        </p:spPr>
        <p:txBody>
          <a:bodyPr>
            <a:normAutofit lnSpcReduction="10000"/>
          </a:bodyPr>
          <a:lstStyle/>
          <a:p>
            <a:pPr algn="r"/>
            <a:r>
              <a:rPr lang="en-US" dirty="0">
                <a:latin typeface="Arial" panose="020B0604020202020204" pitchFamily="34" charset="0"/>
                <a:cs typeface="Arial" panose="020B0604020202020204" pitchFamily="34" charset="0"/>
              </a:rPr>
              <a:t>Topic 4: </a:t>
            </a:r>
            <a:r>
              <a:rPr kumimoji="0" lang="en-US" sz="1800" b="0" i="0" u="none" strike="noStrike" kern="1200" cap="none" spc="0" normalizeH="0" baseline="0" noProof="0" dirty="0">
                <a:ln>
                  <a:noFill/>
                </a:ln>
                <a:effectLst/>
                <a:uLnTx/>
                <a:uFillTx/>
                <a:latin typeface="Arial Rounded MT Bold" pitchFamily="34" charset="0"/>
                <a:cs typeface="Arial" panose="020B0604020202020204" pitchFamily="34" charset="0"/>
                <a:sym typeface="Arial"/>
              </a:rPr>
              <a:t>Project Planning and Initiation</a:t>
            </a:r>
            <a:endParaRPr lang="en-US"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857257"/>
            <a:ext cx="4572000" cy="5143493"/>
          </a:xfrm>
          <a:prstGeom prst="rect">
            <a:avLst/>
          </a:prstGeom>
        </p:spPr>
      </p:pic>
      <p:sp>
        <p:nvSpPr>
          <p:cNvPr id="4" name="Subtitle 2">
            <a:extLst>
              <a:ext uri="{FF2B5EF4-FFF2-40B4-BE49-F238E27FC236}">
                <a16:creationId xmlns:a16="http://schemas.microsoft.com/office/drawing/2014/main" id="{5442734F-1AD7-E7D8-5BDE-9461EC366C5F}"/>
              </a:ext>
            </a:extLst>
          </p:cNvPr>
          <p:cNvSpPr txBox="1">
            <a:spLocks/>
          </p:cNvSpPr>
          <p:nvPr/>
        </p:nvSpPr>
        <p:spPr>
          <a:xfrm>
            <a:off x="4760729" y="4733468"/>
            <a:ext cx="4170621" cy="940331"/>
          </a:xfrm>
          <a:prstGeom prst="rect">
            <a:avLst/>
          </a:prstGeom>
        </p:spPr>
        <p:txBody>
          <a:bodyPr vert="horz" lIns="68580" tIns="34290" rIns="68580" bIns="34290" rtlCol="0">
            <a:normAutofit/>
          </a:bodyPr>
          <a:lstStyle>
            <a:lvl1pPr marL="0" indent="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1"/>
                </a:solidFill>
                <a:latin typeface="+mn-lt"/>
                <a:ea typeface="+mn-ea"/>
                <a:cs typeface="+mn-cs"/>
              </a:defRPr>
            </a:lvl1pPr>
            <a:lvl2pPr marL="457200" indent="0" algn="ctr" defTabSz="914400" rtl="0" eaLnBrk="1" latinLnBrk="0" hangingPunct="1">
              <a:lnSpc>
                <a:spcPct val="100000"/>
              </a:lnSpc>
              <a:spcBef>
                <a:spcPts val="200"/>
              </a:spcBef>
              <a:spcAft>
                <a:spcPts val="400"/>
              </a:spcAft>
              <a:buClrTx/>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100000"/>
              </a:lnSpc>
              <a:spcBef>
                <a:spcPts val="200"/>
              </a:spcBef>
              <a:spcAft>
                <a:spcPts val="400"/>
              </a:spcAft>
              <a:buClrTx/>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100000"/>
              </a:lnSpc>
              <a:spcBef>
                <a:spcPts val="200"/>
              </a:spcBef>
              <a:spcAft>
                <a:spcPts val="400"/>
              </a:spcAft>
              <a:buClrTx/>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100000"/>
              </a:lnSpc>
              <a:spcBef>
                <a:spcPts val="200"/>
              </a:spcBef>
              <a:spcAft>
                <a:spcPts val="400"/>
              </a:spcAft>
              <a:buClrTx/>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a:r>
              <a:rPr lang="en-US" sz="1800" b="1" dirty="0"/>
              <a:t>Oktober 2025 – February 2026</a:t>
            </a: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3296265" y="1336573"/>
            <a:ext cx="5483570" cy="2621093"/>
          </a:xfrm>
          <a:solidFill>
            <a:schemeClr val="bg1"/>
          </a:solidFill>
        </p:spPr>
        <p:txBody>
          <a:bodyPr>
            <a:noAutofit/>
          </a:bodyPr>
          <a:lstStyle/>
          <a:p>
            <a:pPr algn="r"/>
            <a:r>
              <a:rPr lang="en-US" sz="3600" dirty="0">
                <a:latin typeface="+mj-lt"/>
              </a:rPr>
              <a:t>ISP550</a:t>
            </a:r>
            <a:br>
              <a:rPr lang="en-US" sz="3600" dirty="0">
                <a:latin typeface="+mj-lt"/>
              </a:rPr>
            </a:br>
            <a:r>
              <a:rPr lang="en-US" sz="3600" dirty="0">
                <a:latin typeface="+mj-lt"/>
              </a:rPr>
              <a:t>INFORMATION SYSTEMS ENGINEERING</a:t>
            </a:r>
          </a:p>
        </p:txBody>
      </p: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8">
            <a:extLst>
              <a:ext uri="{FF2B5EF4-FFF2-40B4-BE49-F238E27FC236}">
                <a16:creationId xmlns:a16="http://schemas.microsoft.com/office/drawing/2014/main" id="{2096B714-CDCA-4C18-BC66-0D21CBD31075}"/>
              </a:ext>
            </a:extLst>
          </p:cNvPr>
          <p:cNvSpPr txBox="1">
            <a:spLocks/>
          </p:cNvSpPr>
          <p:nvPr/>
        </p:nvSpPr>
        <p:spPr>
          <a:xfrm>
            <a:off x="457200" y="215371"/>
            <a:ext cx="8229600" cy="1097279"/>
          </a:xfrm>
          <a:prstGeom prst="rect">
            <a:avLst/>
          </a:prstGeom>
          <a:noFill/>
          <a:ln>
            <a:noFill/>
          </a:ln>
        </p:spPr>
        <p:txBody>
          <a:bodyPr lIns="0" tIns="0" rIns="0" bIns="0" anchor="b"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marL="0" marR="0" lvl="0" indent="0" algn="l" defTabSz="914400" rtl="0" eaLnBrk="1" fontAlgn="auto" latinLnBrk="0" hangingPunct="1">
              <a:lnSpc>
                <a:spcPct val="100000"/>
              </a:lnSpc>
              <a:spcBef>
                <a:spcPts val="0"/>
              </a:spcBef>
              <a:spcAft>
                <a:spcPts val="0"/>
              </a:spcAft>
              <a:buClr>
                <a:srgbClr val="007FA3"/>
              </a:buClr>
              <a:buSzTx/>
              <a:buFont typeface="Times New Roman"/>
              <a:buNone/>
              <a:tabLst/>
              <a:defRPr/>
            </a:pPr>
            <a:r>
              <a:rPr kumimoji="0" lang="en-US" sz="3600" b="1" i="0" u="none" strike="noStrike" kern="0" cap="none" spc="0" normalizeH="0" baseline="0" noProof="0">
                <a:ln>
                  <a:noFill/>
                </a:ln>
                <a:solidFill>
                  <a:srgbClr val="007FA3"/>
                </a:solidFill>
                <a:effectLst/>
                <a:uLnTx/>
                <a:uFillTx/>
                <a:latin typeface="Arial"/>
                <a:ea typeface="Verdana" panose="020B0604030504040204" pitchFamily="34" charset="0"/>
                <a:cs typeface="Calibri" panose="020F0502020204030204" pitchFamily="34" charset="0"/>
                <a:sym typeface="Times New Roman"/>
              </a:rPr>
              <a:t>Learning Objectives</a:t>
            </a:r>
            <a:endParaRPr kumimoji="0" lang="en-IN" sz="3600" b="1" i="0" u="none" strike="noStrike" kern="0" cap="none" spc="0" normalizeH="0" baseline="0" noProof="0" dirty="0">
              <a:ln>
                <a:noFill/>
              </a:ln>
              <a:solidFill>
                <a:srgbClr val="007FA3"/>
              </a:solidFill>
              <a:effectLst/>
              <a:uLnTx/>
              <a:uFillTx/>
              <a:latin typeface="Arial"/>
              <a:cs typeface="Times New Roman"/>
              <a:sym typeface="Times New Roman"/>
            </a:endParaRPr>
          </a:p>
        </p:txBody>
      </p:sp>
      <p:sp>
        <p:nvSpPr>
          <p:cNvPr id="4" name="Content Placeholder 19">
            <a:extLst>
              <a:ext uri="{FF2B5EF4-FFF2-40B4-BE49-F238E27FC236}">
                <a16:creationId xmlns:a16="http://schemas.microsoft.com/office/drawing/2014/main" id="{0341156F-1588-474D-B53D-A49A38A2A378}"/>
              </a:ext>
            </a:extLst>
          </p:cNvPr>
          <p:cNvSpPr txBox="1">
            <a:spLocks/>
          </p:cNvSpPr>
          <p:nvPr/>
        </p:nvSpPr>
        <p:spPr>
          <a:xfrm>
            <a:off x="457199" y="1556326"/>
            <a:ext cx="8377881" cy="4434275"/>
          </a:xfrm>
          <a:prstGeom prst="rect">
            <a:avLst/>
          </a:prstGeom>
          <a:noFill/>
          <a:ln>
            <a:noFill/>
          </a:ln>
        </p:spPr>
        <p:txBody>
          <a:bodyPr lIns="0" tIns="0" rIns="0" bIns="0" anchor="t" anchorCtr="0"/>
          <a:lstStyle>
            <a:defPPr marR="0" lvl="0" algn="l" rtl="0">
              <a:lnSpc>
                <a:spcPct val="100000"/>
              </a:lnSpc>
              <a:spcBef>
                <a:spcPts val="0"/>
              </a:spcBef>
              <a:spcAft>
                <a:spcPts val="0"/>
              </a:spcAft>
            </a:defPPr>
            <a:lvl1pPr marL="256032" marR="0" lvl="0" indent="-255600" algn="l" rtl="0">
              <a:lnSpc>
                <a:spcPct val="100000"/>
              </a:lnSpc>
              <a:spcBef>
                <a:spcPts val="15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2950" marR="0" lvl="1" indent="-284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230400" algn="l" rtl="0">
              <a:lnSpc>
                <a:spcPct val="100000"/>
              </a:lnSpc>
              <a:spcBef>
                <a:spcPts val="600"/>
              </a:spcBef>
              <a:spcAft>
                <a:spcPts val="0"/>
              </a:spcAft>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230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4pPr>
            <a:lvl5pPr marL="2057400" marR="0" lvl="4" indent="-230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a:buFont typeface="Wingdings" panose="05000000000000000000" pitchFamily="2" charset="2"/>
              <a:buChar char="§"/>
            </a:pPr>
            <a:r>
              <a:rPr lang="en-US" sz="2800" dirty="0"/>
              <a:t>Describe the </a:t>
            </a:r>
            <a:r>
              <a:rPr lang="en-US" sz="2800" dirty="0">
                <a:solidFill>
                  <a:srgbClr val="FF0000"/>
                </a:solidFill>
              </a:rPr>
              <a:t>project identification </a:t>
            </a:r>
            <a:r>
              <a:rPr lang="en-US" sz="2800" dirty="0"/>
              <a:t>and </a:t>
            </a:r>
            <a:r>
              <a:rPr lang="en-US" sz="2800" dirty="0">
                <a:solidFill>
                  <a:srgbClr val="FF0000"/>
                </a:solidFill>
              </a:rPr>
              <a:t>selection process</a:t>
            </a:r>
          </a:p>
          <a:p>
            <a:pPr>
              <a:buFont typeface="Wingdings" panose="05000000000000000000" pitchFamily="2" charset="2"/>
              <a:buChar char="§"/>
            </a:pPr>
            <a:r>
              <a:rPr lang="en-US" sz="2800" dirty="0"/>
              <a:t>Describe </a:t>
            </a:r>
            <a:r>
              <a:rPr lang="en-US" sz="2800" dirty="0">
                <a:solidFill>
                  <a:srgbClr val="FF0000"/>
                </a:solidFill>
              </a:rPr>
              <a:t>the steps </a:t>
            </a:r>
            <a:r>
              <a:rPr lang="en-US" sz="2800" dirty="0"/>
              <a:t>involved in the project initiation and planning process</a:t>
            </a:r>
          </a:p>
          <a:p>
            <a:pPr>
              <a:buFont typeface="Wingdings" panose="05000000000000000000" pitchFamily="2" charset="2"/>
              <a:buChar char="§"/>
            </a:pPr>
            <a:r>
              <a:rPr lang="en-US" sz="2800" dirty="0">
                <a:solidFill>
                  <a:schemeClr val="tx1"/>
                </a:solidFill>
              </a:rPr>
              <a:t>List and describe various methods for </a:t>
            </a:r>
            <a:r>
              <a:rPr lang="en-US" sz="2800" dirty="0">
                <a:solidFill>
                  <a:srgbClr val="FF0000"/>
                </a:solidFill>
              </a:rPr>
              <a:t>assessing project feasibility</a:t>
            </a:r>
          </a:p>
          <a:p>
            <a:pPr>
              <a:buFont typeface="Wingdings" panose="05000000000000000000" pitchFamily="2" charset="2"/>
              <a:buChar char="§"/>
            </a:pPr>
            <a:r>
              <a:rPr lang="en-US" sz="2800" dirty="0"/>
              <a:t>Describe the </a:t>
            </a:r>
            <a:r>
              <a:rPr lang="en-US" sz="2800" dirty="0">
                <a:solidFill>
                  <a:srgbClr val="FF0000"/>
                </a:solidFill>
              </a:rPr>
              <a:t>classes of Internet electronic commerce applications:</a:t>
            </a:r>
            <a:r>
              <a:rPr lang="en-US" sz="2800" dirty="0"/>
              <a:t> business-to-consumer, business-to-employee, and business-to-business</a:t>
            </a:r>
          </a:p>
          <a:p>
            <a:pPr marL="432" indent="0">
              <a:buNone/>
            </a:pPr>
            <a:endParaRPr lang="en-US" sz="2800" dirty="0">
              <a:solidFill>
                <a:schemeClr val="tx1"/>
              </a:solidFill>
            </a:endParaRPr>
          </a:p>
          <a:p>
            <a:pPr marL="432" indent="0">
              <a:buNone/>
            </a:pPr>
            <a:endParaRPr lang="en-IN" dirty="0"/>
          </a:p>
          <a:p>
            <a:pPr marL="256032" marR="0" lvl="0" indent="-255600" algn="l" defTabSz="914400" rtl="0" eaLnBrk="1" fontAlgn="auto" latinLnBrk="0" hangingPunct="1">
              <a:lnSpc>
                <a:spcPct val="100000"/>
              </a:lnSpc>
              <a:spcBef>
                <a:spcPts val="1500"/>
              </a:spcBef>
              <a:spcAft>
                <a:spcPts val="0"/>
              </a:spcAft>
              <a:buClr>
                <a:srgbClr val="007FA3"/>
              </a:buClr>
              <a:buSzPct val="100000"/>
              <a:buFont typeface="Wingdings" panose="05000000000000000000" pitchFamily="2" charset="2"/>
              <a:buChar char="§"/>
              <a:tabLst/>
              <a:defRPr/>
            </a:pPr>
            <a:endParaRPr kumimoji="0" lang="en-US" sz="2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57400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457200" y="256082"/>
            <a:ext cx="8229600" cy="1143000"/>
          </a:xfrm>
        </p:spPr>
        <p:txBody>
          <a:bodyPr/>
          <a:lstStyle/>
          <a:p>
            <a:r>
              <a:rPr lang="en-US" sz="2800" b="1" dirty="0">
                <a:solidFill>
                  <a:schemeClr val="accent1"/>
                </a:solidFill>
                <a:latin typeface="Arial" panose="020B0604020202020204" pitchFamily="34" charset="0"/>
                <a:ea typeface="ＭＳ Ｐゴシック" pitchFamily="-103" charset="-128"/>
                <a:cs typeface="Arial" panose="020B0604020202020204" pitchFamily="34" charset="0"/>
              </a:rPr>
              <a:t>Figure 3.6 – The Project Life Cycle (PLC) and the Systems Development Life Cycle (SDLC)</a:t>
            </a:r>
          </a:p>
        </p:txBody>
      </p:sp>
      <p:pic>
        <p:nvPicPr>
          <p:cNvPr id="46085" name="Picture 7"/>
          <p:cNvPicPr>
            <a:picLocks noChangeAspect="1"/>
          </p:cNvPicPr>
          <p:nvPr/>
        </p:nvPicPr>
        <p:blipFill>
          <a:blip r:embed="rId2"/>
          <a:srcRect/>
          <a:stretch>
            <a:fillRect/>
          </a:stretch>
        </p:blipFill>
        <p:spPr bwMode="auto">
          <a:xfrm>
            <a:off x="1588770" y="1320102"/>
            <a:ext cx="5737860" cy="5281816"/>
          </a:xfrm>
          <a:prstGeom prst="rect">
            <a:avLst/>
          </a:prstGeom>
          <a:noFill/>
          <a:ln w="9525">
            <a:noFill/>
            <a:miter lim="800000"/>
            <a:headEnd/>
            <a:tailEnd/>
          </a:ln>
        </p:spPr>
      </p:pic>
      <p:sp>
        <p:nvSpPr>
          <p:cNvPr id="2" name="TextBox 1">
            <a:extLst>
              <a:ext uri="{FF2B5EF4-FFF2-40B4-BE49-F238E27FC236}">
                <a16:creationId xmlns:a16="http://schemas.microsoft.com/office/drawing/2014/main" id="{95C21751-90FD-CAE4-95BB-503BB8FB6AA3}"/>
              </a:ext>
            </a:extLst>
          </p:cNvPr>
          <p:cNvSpPr txBox="1"/>
          <p:nvPr/>
        </p:nvSpPr>
        <p:spPr>
          <a:xfrm>
            <a:off x="210312" y="3429000"/>
            <a:ext cx="1847088" cy="1015663"/>
          </a:xfrm>
          <a:prstGeom prst="rect">
            <a:avLst/>
          </a:prstGeom>
          <a:noFill/>
        </p:spPr>
        <p:txBody>
          <a:bodyPr wrap="square" rtlCol="0">
            <a:spAutoFit/>
          </a:bodyPr>
          <a:lstStyle/>
          <a:p>
            <a:r>
              <a:rPr lang="en-SG" sz="2000" b="1" dirty="0">
                <a:solidFill>
                  <a:srgbClr val="FF0000"/>
                </a:solidFill>
                <a:effectLst>
                  <a:outerShdw blurRad="38100" dist="38100" dir="2700000" algn="tl">
                    <a:srgbClr val="000000">
                      <a:alpha val="43137"/>
                    </a:srgbClr>
                  </a:outerShdw>
                </a:effectLst>
              </a:rPr>
              <a:t>Figure From the previous topic</a:t>
            </a:r>
            <a:endParaRPr lang="en-MY" sz="2000" b="1" dirty="0">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8">
            <a:extLst>
              <a:ext uri="{FF2B5EF4-FFF2-40B4-BE49-F238E27FC236}">
                <a16:creationId xmlns:a16="http://schemas.microsoft.com/office/drawing/2014/main" id="{2096B714-CDCA-4C18-BC66-0D21CBD31075}"/>
              </a:ext>
            </a:extLst>
          </p:cNvPr>
          <p:cNvSpPr txBox="1">
            <a:spLocks/>
          </p:cNvSpPr>
          <p:nvPr/>
        </p:nvSpPr>
        <p:spPr>
          <a:xfrm>
            <a:off x="457200" y="215371"/>
            <a:ext cx="8229600" cy="1097279"/>
          </a:xfrm>
          <a:prstGeom prst="rect">
            <a:avLst/>
          </a:prstGeom>
          <a:noFill/>
          <a:ln>
            <a:noFill/>
          </a:ln>
        </p:spPr>
        <p:txBody>
          <a:bodyPr lIns="0" tIns="0" rIns="0" bIns="0" anchor="b"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marL="0" marR="0" lvl="0" indent="0" algn="l" defTabSz="914400" rtl="0" eaLnBrk="1" fontAlgn="auto" latinLnBrk="0" hangingPunct="1">
              <a:lnSpc>
                <a:spcPct val="100000"/>
              </a:lnSpc>
              <a:spcBef>
                <a:spcPts val="0"/>
              </a:spcBef>
              <a:spcAft>
                <a:spcPts val="0"/>
              </a:spcAft>
              <a:buClr>
                <a:srgbClr val="007FA3"/>
              </a:buClr>
              <a:buSzTx/>
              <a:buFont typeface="Times New Roman"/>
              <a:buNone/>
              <a:tabLst/>
              <a:defRPr/>
            </a:pPr>
            <a:r>
              <a:rPr lang="en-US" dirty="0">
                <a:latin typeface="Arial"/>
                <a:ea typeface="Verdana" panose="020B0604030504040204" pitchFamily="34" charset="0"/>
                <a:cs typeface="Calibri" panose="020F0502020204030204" pitchFamily="34" charset="0"/>
              </a:rPr>
              <a:t>Introduction</a:t>
            </a:r>
            <a:endParaRPr kumimoji="0" lang="en-IN" sz="3600" b="1" i="0" u="none" strike="noStrike" kern="0" cap="none" spc="0" normalizeH="0" baseline="0" noProof="0" dirty="0">
              <a:ln>
                <a:noFill/>
              </a:ln>
              <a:solidFill>
                <a:srgbClr val="007FA3"/>
              </a:solidFill>
              <a:effectLst/>
              <a:uLnTx/>
              <a:uFillTx/>
              <a:latin typeface="Arial"/>
              <a:cs typeface="Times New Roman"/>
              <a:sym typeface="Times New Roman"/>
            </a:endParaRPr>
          </a:p>
        </p:txBody>
      </p:sp>
      <p:sp>
        <p:nvSpPr>
          <p:cNvPr id="4" name="Content Placeholder 2">
            <a:extLst>
              <a:ext uri="{FF2B5EF4-FFF2-40B4-BE49-F238E27FC236}">
                <a16:creationId xmlns:a16="http://schemas.microsoft.com/office/drawing/2014/main" id="{2A0D2BFF-0CAD-4E69-A63B-CF43DF7645AD}"/>
              </a:ext>
            </a:extLst>
          </p:cNvPr>
          <p:cNvSpPr txBox="1">
            <a:spLocks/>
          </p:cNvSpPr>
          <p:nvPr/>
        </p:nvSpPr>
        <p:spPr>
          <a:xfrm>
            <a:off x="457200" y="1556326"/>
            <a:ext cx="8229600" cy="4434275"/>
          </a:xfrm>
          <a:prstGeom prst="rect">
            <a:avLst/>
          </a:prstGeom>
          <a:noFill/>
          <a:ln>
            <a:noFill/>
          </a:ln>
        </p:spPr>
        <p:txBody>
          <a:bodyPr lIns="0" tIns="0" rIns="0" bIns="0" anchor="t" anchorCtr="0"/>
          <a:lstStyle>
            <a:defPPr marR="0" lvl="0" algn="l" rtl="0">
              <a:lnSpc>
                <a:spcPct val="100000"/>
              </a:lnSpc>
              <a:spcBef>
                <a:spcPts val="0"/>
              </a:spcBef>
              <a:spcAft>
                <a:spcPts val="0"/>
              </a:spcAft>
            </a:defPPr>
            <a:lvl1pPr marL="256032" marR="0" lvl="0" indent="-255600" algn="l" rtl="0">
              <a:lnSpc>
                <a:spcPct val="100000"/>
              </a:lnSpc>
              <a:spcBef>
                <a:spcPts val="15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2950" marR="0" lvl="1" indent="-284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230400" algn="l" rtl="0">
              <a:lnSpc>
                <a:spcPct val="100000"/>
              </a:lnSpc>
              <a:spcBef>
                <a:spcPts val="600"/>
              </a:spcBef>
              <a:spcAft>
                <a:spcPts val="0"/>
              </a:spcAft>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230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4pPr>
            <a:lvl5pPr marL="2057400" marR="0" lvl="4" indent="-230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256032" marR="0" lvl="0" indent="-255600"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Obtaining </a:t>
            </a:r>
            <a:r>
              <a:rPr kumimoji="0" lang="en-US" sz="2400" b="0" i="0" u="none" strike="noStrike" kern="0" cap="none" spc="0" normalizeH="0" baseline="0" noProof="0" dirty="0">
                <a:ln>
                  <a:noFill/>
                </a:ln>
                <a:solidFill>
                  <a:srgbClr val="FF0000"/>
                </a:solidFill>
                <a:effectLst/>
                <a:uLnTx/>
                <a:uFillTx/>
                <a:latin typeface="Arial"/>
                <a:cs typeface="Arial"/>
                <a:sym typeface="Arial"/>
              </a:rPr>
              <a:t>integrated</a:t>
            </a:r>
            <a:r>
              <a:rPr kumimoji="0" lang="en-US" sz="2400" b="0" i="0" u="none" strike="noStrike" kern="0" cap="none" spc="0" normalizeH="0" baseline="0" noProof="0" dirty="0">
                <a:ln>
                  <a:noFill/>
                </a:ln>
                <a:solidFill>
                  <a:srgbClr val="000000"/>
                </a:solidFill>
                <a:effectLst/>
                <a:uLnTx/>
                <a:uFillTx/>
                <a:latin typeface="Arial"/>
                <a:cs typeface="Arial"/>
                <a:sym typeface="Arial"/>
              </a:rPr>
              <a:t>, </a:t>
            </a:r>
            <a:r>
              <a:rPr kumimoji="0" lang="en-US" sz="2400" b="0" i="0" u="none" strike="noStrike" kern="0" cap="none" spc="0" normalizeH="0" baseline="0" noProof="0" dirty="0">
                <a:ln>
                  <a:noFill/>
                </a:ln>
                <a:solidFill>
                  <a:srgbClr val="FF0000"/>
                </a:solidFill>
                <a:effectLst/>
                <a:uLnTx/>
                <a:uFillTx/>
                <a:latin typeface="Arial"/>
                <a:cs typeface="Arial"/>
                <a:sym typeface="Arial"/>
              </a:rPr>
              <a:t>enterprise-wide computing </a:t>
            </a:r>
            <a:r>
              <a:rPr kumimoji="0" lang="en-US" sz="2400" b="0" i="0" u="none" strike="noStrike" kern="0" cap="none" spc="0" normalizeH="0" baseline="0" noProof="0" dirty="0">
                <a:ln>
                  <a:noFill/>
                </a:ln>
                <a:solidFill>
                  <a:srgbClr val="000000"/>
                </a:solidFill>
                <a:effectLst/>
                <a:uLnTx/>
                <a:uFillTx/>
                <a:latin typeface="Arial"/>
                <a:cs typeface="Arial"/>
                <a:sym typeface="Arial"/>
              </a:rPr>
              <a:t>presents significant challenges for both corporate and information system management</a:t>
            </a:r>
          </a:p>
          <a:p>
            <a:pPr marL="256032" marR="0" lvl="0" indent="-255600"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The </a:t>
            </a:r>
            <a:r>
              <a:rPr kumimoji="0" lang="en-US" sz="2400" b="0" i="0" u="none" strike="noStrike" kern="0" cap="none" spc="0" normalizeH="0" baseline="0" noProof="0" dirty="0">
                <a:ln>
                  <a:noFill/>
                </a:ln>
                <a:solidFill>
                  <a:srgbClr val="FF0000"/>
                </a:solidFill>
                <a:effectLst/>
                <a:uLnTx/>
                <a:uFillTx/>
                <a:latin typeface="Arial"/>
                <a:cs typeface="Arial"/>
                <a:sym typeface="Arial"/>
              </a:rPr>
              <a:t>acquisition</a:t>
            </a:r>
            <a:r>
              <a:rPr kumimoji="0" lang="en-US" sz="2400" b="0" i="0" u="none" strike="noStrike" kern="0" cap="none" spc="0" normalizeH="0" baseline="0" noProof="0" dirty="0">
                <a:ln>
                  <a:noFill/>
                </a:ln>
                <a:solidFill>
                  <a:srgbClr val="000000"/>
                </a:solidFill>
                <a:effectLst/>
                <a:uLnTx/>
                <a:uFillTx/>
                <a:latin typeface="Arial"/>
                <a:cs typeface="Arial"/>
                <a:sym typeface="Arial"/>
              </a:rPr>
              <a:t>, </a:t>
            </a:r>
            <a:r>
              <a:rPr kumimoji="0" lang="en-US" sz="2400" b="0" i="0" u="none" strike="noStrike" kern="0" cap="none" spc="0" normalizeH="0" baseline="0" noProof="0" dirty="0">
                <a:ln>
                  <a:noFill/>
                </a:ln>
                <a:solidFill>
                  <a:srgbClr val="FF0000"/>
                </a:solidFill>
                <a:effectLst/>
                <a:uLnTx/>
                <a:uFillTx/>
                <a:latin typeface="Arial"/>
                <a:cs typeface="Arial"/>
                <a:sym typeface="Arial"/>
              </a:rPr>
              <a:t>development</a:t>
            </a:r>
            <a:r>
              <a:rPr kumimoji="0" lang="en-US" sz="2400" b="0" i="0" u="none" strike="noStrike" kern="0" cap="none" spc="0" normalizeH="0" baseline="0" noProof="0" dirty="0">
                <a:ln>
                  <a:noFill/>
                </a:ln>
                <a:solidFill>
                  <a:srgbClr val="000000"/>
                </a:solidFill>
                <a:effectLst/>
                <a:uLnTx/>
                <a:uFillTx/>
                <a:latin typeface="Arial"/>
                <a:cs typeface="Arial"/>
                <a:sym typeface="Arial"/>
              </a:rPr>
              <a:t>, and </a:t>
            </a:r>
            <a:r>
              <a:rPr kumimoji="0" lang="en-US" sz="2400" b="0" i="0" u="none" strike="noStrike" kern="0" cap="none" spc="0" normalizeH="0" baseline="0" noProof="0" dirty="0">
                <a:ln>
                  <a:noFill/>
                </a:ln>
                <a:solidFill>
                  <a:srgbClr val="FF0000"/>
                </a:solidFill>
                <a:effectLst/>
                <a:uLnTx/>
                <a:uFillTx/>
                <a:latin typeface="Arial"/>
                <a:cs typeface="Arial"/>
                <a:sym typeface="Arial"/>
              </a:rPr>
              <a:t>maintenance</a:t>
            </a:r>
            <a:r>
              <a:rPr kumimoji="0" lang="en-US" sz="2400" b="0" i="0" u="none" strike="noStrike" kern="0" cap="none" spc="0" normalizeH="0" baseline="0" noProof="0" dirty="0">
                <a:ln>
                  <a:noFill/>
                </a:ln>
                <a:solidFill>
                  <a:srgbClr val="000000"/>
                </a:solidFill>
                <a:effectLst/>
                <a:uLnTx/>
                <a:uFillTx/>
                <a:latin typeface="Arial"/>
                <a:cs typeface="Arial"/>
                <a:sym typeface="Arial"/>
              </a:rPr>
              <a:t> of information systems consume resources for most organizations</a:t>
            </a:r>
          </a:p>
          <a:p>
            <a:pPr marL="256032" marR="0" lvl="0" indent="-255600"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This leads to the need to have a formal process for identifying and selecting projects</a:t>
            </a:r>
          </a:p>
        </p:txBody>
      </p:sp>
    </p:spTree>
    <p:extLst>
      <p:ext uri="{BB962C8B-B14F-4D97-AF65-F5344CB8AC3E}">
        <p14:creationId xmlns:p14="http://schemas.microsoft.com/office/powerpoint/2010/main" val="2113823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0D38B-29F1-4975-914C-C56FD857288E}"/>
              </a:ext>
            </a:extLst>
          </p:cNvPr>
          <p:cNvSpPr>
            <a:spLocks noGrp="1"/>
          </p:cNvSpPr>
          <p:nvPr>
            <p:ph type="title"/>
          </p:nvPr>
        </p:nvSpPr>
        <p:spPr>
          <a:xfrm>
            <a:off x="457200" y="209884"/>
            <a:ext cx="8229600" cy="1360588"/>
          </a:xfrm>
        </p:spPr>
        <p:txBody>
          <a:bodyPr/>
          <a:lstStyle/>
          <a:p>
            <a:r>
              <a:rPr lang="en-US" sz="2800" dirty="0"/>
              <a:t>Figure 4-1: Systems Development Life Cycle with Project Identification and Selection Highlighted</a:t>
            </a:r>
          </a:p>
        </p:txBody>
      </p:sp>
      <p:pic>
        <p:nvPicPr>
          <p:cNvPr id="8" name="Picture 7" descr="The S D L C diagram consists of five following phases starting at the top. Planning, analysis, design, implementation, and maintenance. Arrows indicate transitions between these phases. Planning phase consists of project identification and selection, and project initiation and planning. Project identification and selection is highlighted with a checkmark next to it. ">
            <a:extLst>
              <a:ext uri="{FF2B5EF4-FFF2-40B4-BE49-F238E27FC236}">
                <a16:creationId xmlns:a16="http://schemas.microsoft.com/office/drawing/2014/main" id="{4C8CE714-9559-4057-9EB4-6002ACAFB903}"/>
              </a:ext>
            </a:extLst>
          </p:cNvPr>
          <p:cNvPicPr>
            <a:picLocks noChangeAspect="1"/>
          </p:cNvPicPr>
          <p:nvPr/>
        </p:nvPicPr>
        <p:blipFill>
          <a:blip r:embed="rId2"/>
          <a:stretch>
            <a:fillRect/>
          </a:stretch>
        </p:blipFill>
        <p:spPr>
          <a:xfrm>
            <a:off x="2547050" y="1865062"/>
            <a:ext cx="4049900" cy="4229193"/>
          </a:xfrm>
          <a:prstGeom prst="rect">
            <a:avLst/>
          </a:prstGeom>
        </p:spPr>
      </p:pic>
    </p:spTree>
    <p:extLst>
      <p:ext uri="{BB962C8B-B14F-4D97-AF65-F5344CB8AC3E}">
        <p14:creationId xmlns:p14="http://schemas.microsoft.com/office/powerpoint/2010/main" val="1045686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45A8BF2-C8BD-415B-B848-E40B2BBBF97D}"/>
              </a:ext>
            </a:extLst>
          </p:cNvPr>
          <p:cNvSpPr txBox="1">
            <a:spLocks/>
          </p:cNvSpPr>
          <p:nvPr/>
        </p:nvSpPr>
        <p:spPr>
          <a:xfrm>
            <a:off x="457200" y="215371"/>
            <a:ext cx="8229600" cy="1097279"/>
          </a:xfrm>
          <a:prstGeom prst="rect">
            <a:avLst/>
          </a:prstGeom>
          <a:noFill/>
          <a:ln>
            <a:noFill/>
          </a:ln>
        </p:spPr>
        <p:txBody>
          <a:bodyPr lIns="0" tIns="0" rIns="0" bIns="0" anchor="b"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marL="0" marR="0" lvl="0" indent="0" algn="l" defTabSz="914400" rtl="0" eaLnBrk="1" fontAlgn="auto" latinLnBrk="0" hangingPunct="1">
              <a:lnSpc>
                <a:spcPct val="100000"/>
              </a:lnSpc>
              <a:spcBef>
                <a:spcPts val="0"/>
              </a:spcBef>
              <a:spcAft>
                <a:spcPts val="0"/>
              </a:spcAft>
              <a:buClr>
                <a:srgbClr val="007FA3"/>
              </a:buClr>
              <a:buSzTx/>
              <a:buFont typeface="Times New Roman"/>
              <a:buNone/>
              <a:tabLst/>
              <a:defRPr/>
            </a:pPr>
            <a:r>
              <a:rPr kumimoji="0" lang="en-US" sz="3400" b="1" i="0" u="none" strike="noStrike" kern="0" cap="none" spc="0" normalizeH="0" baseline="0" noProof="0" dirty="0">
                <a:ln>
                  <a:noFill/>
                </a:ln>
                <a:solidFill>
                  <a:srgbClr val="007FA3"/>
                </a:solidFill>
                <a:effectLst/>
                <a:uLnTx/>
                <a:uFillTx/>
                <a:latin typeface="Arial"/>
                <a:cs typeface="Times New Roman"/>
                <a:sym typeface="Times New Roman"/>
              </a:rPr>
              <a:t>1.</a:t>
            </a:r>
            <a:r>
              <a:rPr kumimoji="0" lang="en-US" sz="3400" b="1" i="0" u="none" strike="noStrike" kern="0" cap="none" spc="0" normalizeH="0" baseline="0" noProof="0" dirty="0">
                <a:ln>
                  <a:noFill/>
                </a:ln>
                <a:solidFill>
                  <a:srgbClr val="007FA3"/>
                </a:solidFill>
                <a:effectLst>
                  <a:outerShdw blurRad="38100" dist="38100" dir="2700000" algn="tl">
                    <a:srgbClr val="000000">
                      <a:alpha val="43137"/>
                    </a:srgbClr>
                  </a:outerShdw>
                </a:effectLst>
                <a:uLnTx/>
                <a:uFillTx/>
                <a:latin typeface="Arial"/>
                <a:cs typeface="Times New Roman"/>
                <a:sym typeface="Times New Roman"/>
              </a:rPr>
              <a:t>Identifying and Selecting Systems Development Projects</a:t>
            </a:r>
          </a:p>
        </p:txBody>
      </p:sp>
      <p:sp>
        <p:nvSpPr>
          <p:cNvPr id="6" name="Content Placeholder 3">
            <a:extLst>
              <a:ext uri="{FF2B5EF4-FFF2-40B4-BE49-F238E27FC236}">
                <a16:creationId xmlns:a16="http://schemas.microsoft.com/office/drawing/2014/main" id="{3A5B4D9F-459E-42F1-A8F5-28A7BCF268CB}"/>
              </a:ext>
            </a:extLst>
          </p:cNvPr>
          <p:cNvSpPr txBox="1">
            <a:spLocks/>
          </p:cNvSpPr>
          <p:nvPr/>
        </p:nvSpPr>
        <p:spPr>
          <a:xfrm>
            <a:off x="457200" y="2103475"/>
            <a:ext cx="8229600" cy="4143257"/>
          </a:xfrm>
          <a:prstGeom prst="rect">
            <a:avLst/>
          </a:prstGeom>
          <a:noFill/>
          <a:ln>
            <a:noFill/>
          </a:ln>
        </p:spPr>
        <p:txBody>
          <a:bodyPr lIns="0" tIns="0" rIns="0" bIns="0" anchor="t" anchorCtr="0"/>
          <a:lstStyle>
            <a:defPPr marR="0" lvl="0" algn="l" rtl="0">
              <a:lnSpc>
                <a:spcPct val="100000"/>
              </a:lnSpc>
              <a:spcBef>
                <a:spcPts val="0"/>
              </a:spcBef>
              <a:spcAft>
                <a:spcPts val="0"/>
              </a:spcAft>
            </a:defPPr>
            <a:lvl1pPr marL="256032" marR="0" lvl="0" indent="-255600" algn="l" rtl="0">
              <a:lnSpc>
                <a:spcPct val="100000"/>
              </a:lnSpc>
              <a:spcBef>
                <a:spcPts val="15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2950" marR="0" lvl="1" indent="-284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230400" algn="l" rtl="0">
              <a:lnSpc>
                <a:spcPct val="100000"/>
              </a:lnSpc>
              <a:spcBef>
                <a:spcPts val="600"/>
              </a:spcBef>
              <a:spcAft>
                <a:spcPts val="0"/>
              </a:spcAft>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230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4pPr>
            <a:lvl5pPr marL="2057400" marR="0" lvl="4" indent="-230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256032" marR="0" lvl="0" indent="-255600"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Identifying and selecting systems development projects is part of the </a:t>
            </a:r>
            <a:r>
              <a:rPr kumimoji="0" lang="en-US" sz="2400" b="0" i="0" u="none" strike="noStrike" kern="0" cap="none" spc="0" normalizeH="0" baseline="0" noProof="0" dirty="0">
                <a:ln>
                  <a:noFill/>
                </a:ln>
                <a:solidFill>
                  <a:srgbClr val="FF0000"/>
                </a:solidFill>
                <a:effectLst/>
                <a:uLnTx/>
                <a:uFillTx/>
                <a:latin typeface="Arial"/>
                <a:cs typeface="Arial"/>
                <a:sym typeface="Arial"/>
              </a:rPr>
              <a:t>first phase (Planning) </a:t>
            </a:r>
            <a:r>
              <a:rPr kumimoji="0" lang="en-US" sz="2400" b="0" i="0" u="none" strike="noStrike" kern="0" cap="none" spc="0" normalizeH="0" baseline="0" noProof="0" dirty="0">
                <a:ln>
                  <a:noFill/>
                </a:ln>
                <a:solidFill>
                  <a:srgbClr val="000000"/>
                </a:solidFill>
                <a:effectLst/>
                <a:uLnTx/>
                <a:uFillTx/>
                <a:latin typeface="Arial"/>
                <a:cs typeface="Arial"/>
                <a:sym typeface="Arial"/>
              </a:rPr>
              <a:t>of the S</a:t>
            </a:r>
            <a:r>
              <a:rPr kumimoji="0" lang="en-US" sz="100" b="0" i="0" u="none" strike="noStrike" kern="0" cap="none" spc="0" normalizeH="0" baseline="0" noProof="0" dirty="0">
                <a:ln>
                  <a:noFill/>
                </a:ln>
                <a:solidFill>
                  <a:srgbClr val="000000"/>
                </a:solidFill>
                <a:effectLst/>
                <a:uLnTx/>
                <a:uFillTx/>
                <a:latin typeface="Arial"/>
                <a:cs typeface="Arial"/>
                <a:sym typeface="Arial"/>
              </a:rPr>
              <a:t> </a:t>
            </a:r>
            <a:r>
              <a:rPr kumimoji="0" lang="en-US" sz="2400" b="0" i="0" u="none" strike="noStrike" kern="0" cap="none" spc="0" normalizeH="0" baseline="0" noProof="0" dirty="0">
                <a:ln>
                  <a:noFill/>
                </a:ln>
                <a:solidFill>
                  <a:srgbClr val="000000"/>
                </a:solidFill>
                <a:effectLst/>
                <a:uLnTx/>
                <a:uFillTx/>
                <a:latin typeface="Arial"/>
                <a:cs typeface="Arial"/>
                <a:sym typeface="Arial"/>
              </a:rPr>
              <a:t>D</a:t>
            </a:r>
            <a:r>
              <a:rPr kumimoji="0" lang="en-US" sz="100" b="0" i="0" u="none" strike="noStrike" kern="0" cap="none" spc="0" normalizeH="0" baseline="0" noProof="0" dirty="0">
                <a:ln>
                  <a:noFill/>
                </a:ln>
                <a:solidFill>
                  <a:srgbClr val="000000"/>
                </a:solidFill>
                <a:effectLst/>
                <a:uLnTx/>
                <a:uFillTx/>
                <a:latin typeface="Arial"/>
                <a:cs typeface="Arial"/>
                <a:sym typeface="Arial"/>
              </a:rPr>
              <a:t> </a:t>
            </a:r>
            <a:r>
              <a:rPr kumimoji="0" lang="en-US" sz="2400" b="0" i="0" u="none" strike="noStrike" kern="0" cap="none" spc="0" normalizeH="0" baseline="0" noProof="0" dirty="0">
                <a:ln>
                  <a:noFill/>
                </a:ln>
                <a:solidFill>
                  <a:srgbClr val="000000"/>
                </a:solidFill>
                <a:effectLst/>
                <a:uLnTx/>
                <a:uFillTx/>
                <a:latin typeface="Arial"/>
                <a:cs typeface="Arial"/>
                <a:sym typeface="Arial"/>
              </a:rPr>
              <a:t>L</a:t>
            </a:r>
            <a:r>
              <a:rPr kumimoji="0" lang="en-US" sz="100" b="0" i="0" u="none" strike="noStrike" kern="0" cap="none" spc="0" normalizeH="0" baseline="0" noProof="0" dirty="0">
                <a:ln>
                  <a:noFill/>
                </a:ln>
                <a:solidFill>
                  <a:srgbClr val="000000"/>
                </a:solidFill>
                <a:effectLst/>
                <a:uLnTx/>
                <a:uFillTx/>
                <a:latin typeface="Arial"/>
                <a:cs typeface="Arial"/>
                <a:sym typeface="Arial"/>
              </a:rPr>
              <a:t> </a:t>
            </a:r>
            <a:r>
              <a:rPr kumimoji="0" lang="en-US" sz="2400" b="0" i="0" u="none" strike="noStrike" kern="0" cap="none" spc="0" normalizeH="0" baseline="0" noProof="0" dirty="0">
                <a:ln>
                  <a:noFill/>
                </a:ln>
                <a:solidFill>
                  <a:srgbClr val="000000"/>
                </a:solidFill>
                <a:effectLst/>
                <a:uLnTx/>
                <a:uFillTx/>
                <a:latin typeface="Arial"/>
                <a:cs typeface="Arial"/>
                <a:sym typeface="Arial"/>
              </a:rPr>
              <a:t>C</a:t>
            </a:r>
          </a:p>
          <a:p>
            <a:pPr marL="256032" marR="0" lvl="0" indent="-255600"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Many firms follow a very </a:t>
            </a:r>
            <a:r>
              <a:rPr kumimoji="0" lang="en-US" sz="2400" b="0" i="0" u="none" strike="noStrike" kern="0" cap="none" spc="0" normalizeH="0" baseline="0" noProof="0" dirty="0">
                <a:ln>
                  <a:noFill/>
                </a:ln>
                <a:solidFill>
                  <a:srgbClr val="FF0000"/>
                </a:solidFill>
                <a:effectLst/>
                <a:uLnTx/>
                <a:uFillTx/>
                <a:latin typeface="Arial"/>
                <a:cs typeface="Arial"/>
                <a:sym typeface="Arial"/>
              </a:rPr>
              <a:t>formal process </a:t>
            </a:r>
            <a:r>
              <a:rPr kumimoji="0" lang="en-US" sz="2400" b="0" i="0" u="none" strike="noStrike" kern="0" cap="none" spc="0" normalizeH="0" baseline="0" noProof="0" dirty="0">
                <a:ln>
                  <a:noFill/>
                </a:ln>
                <a:solidFill>
                  <a:srgbClr val="000000"/>
                </a:solidFill>
                <a:effectLst/>
                <a:uLnTx/>
                <a:uFillTx/>
                <a:latin typeface="Arial"/>
                <a:cs typeface="Arial"/>
                <a:sym typeface="Arial"/>
              </a:rPr>
              <a:t>for selecting projects</a:t>
            </a:r>
          </a:p>
          <a:p>
            <a:pPr marL="256032" marR="0" lvl="0" indent="-255600"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kumimoji="0" lang="en-US" sz="2400" b="0" i="0" u="none" strike="noStrike" kern="0" cap="none" spc="0" normalizeH="0" baseline="0" noProof="0" dirty="0">
                <a:ln>
                  <a:noFill/>
                </a:ln>
                <a:solidFill>
                  <a:srgbClr val="FF0000"/>
                </a:solidFill>
                <a:effectLst/>
                <a:uLnTx/>
                <a:uFillTx/>
                <a:latin typeface="Arial"/>
                <a:cs typeface="Arial"/>
                <a:sym typeface="Arial"/>
              </a:rPr>
              <a:t>Requests come from </a:t>
            </a:r>
            <a:r>
              <a:rPr kumimoji="0" lang="en-US" sz="2400" b="0" i="0" u="none" strike="noStrike" kern="0" cap="none" spc="0" normalizeH="0" baseline="0" noProof="0" dirty="0">
                <a:ln>
                  <a:noFill/>
                </a:ln>
                <a:solidFill>
                  <a:srgbClr val="000000"/>
                </a:solidFill>
                <a:effectLst/>
                <a:uLnTx/>
                <a:uFillTx/>
                <a:latin typeface="Arial"/>
                <a:cs typeface="Arial"/>
                <a:sym typeface="Arial"/>
              </a:rPr>
              <a:t>a variety of sources:</a:t>
            </a:r>
          </a:p>
          <a:p>
            <a:pPr marL="742950" marR="0" lvl="1" indent="-284400" algn="l" defTabSz="914400" rtl="0" eaLnBrk="1" fontAlgn="auto" latinLnBrk="0" hangingPunct="1">
              <a:lnSpc>
                <a:spcPct val="100000"/>
              </a:lnSpc>
              <a:spcBef>
                <a:spcPts val="600"/>
              </a:spcBef>
              <a:spcAft>
                <a:spcPts val="0"/>
              </a:spcAft>
              <a:buClr>
                <a:srgbClr val="007FA3"/>
              </a:buClr>
              <a:buSzPct val="100000"/>
              <a:buFont typeface="Arial"/>
              <a:buChar char="–"/>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By </a:t>
            </a:r>
            <a:r>
              <a:rPr kumimoji="0" lang="en-US" sz="2400" b="0" i="0" u="none" strike="noStrike" kern="0" cap="none" spc="0" normalizeH="0" baseline="0" noProof="0" dirty="0">
                <a:ln>
                  <a:noFill/>
                </a:ln>
                <a:solidFill>
                  <a:schemeClr val="tx1"/>
                </a:solidFill>
                <a:effectLst/>
                <a:uLnTx/>
                <a:uFillTx/>
                <a:latin typeface="Arial"/>
                <a:cs typeface="Arial"/>
                <a:sym typeface="Arial"/>
              </a:rPr>
              <a:t>managers </a:t>
            </a:r>
            <a:r>
              <a:rPr kumimoji="0" lang="en-US" sz="2400" b="0" i="0" u="none" strike="noStrike" kern="0" cap="none" spc="0" normalizeH="0" baseline="0" noProof="0" dirty="0">
                <a:ln>
                  <a:noFill/>
                </a:ln>
                <a:solidFill>
                  <a:srgbClr val="000000"/>
                </a:solidFill>
                <a:effectLst/>
                <a:uLnTx/>
                <a:uFillTx/>
                <a:latin typeface="Arial"/>
                <a:cs typeface="Arial"/>
                <a:sym typeface="Arial"/>
              </a:rPr>
              <a:t>needing to </a:t>
            </a:r>
            <a:r>
              <a:rPr kumimoji="0" lang="en-US" sz="2400" b="0" i="0" u="none" strike="noStrike" kern="0" cap="none" spc="0" normalizeH="0" baseline="0" noProof="0" dirty="0">
                <a:ln>
                  <a:noFill/>
                </a:ln>
                <a:solidFill>
                  <a:srgbClr val="FF0000"/>
                </a:solidFill>
                <a:effectLst/>
                <a:uLnTx/>
                <a:uFillTx/>
                <a:latin typeface="Arial"/>
                <a:cs typeface="Arial"/>
                <a:sym typeface="Arial"/>
              </a:rPr>
              <a:t>replace aging existing systems</a:t>
            </a:r>
          </a:p>
          <a:p>
            <a:pPr marL="742950" marR="0" lvl="1" indent="-284400" algn="l" defTabSz="914400" rtl="0" eaLnBrk="1" fontAlgn="auto" latinLnBrk="0" hangingPunct="1">
              <a:lnSpc>
                <a:spcPct val="100000"/>
              </a:lnSpc>
              <a:spcBef>
                <a:spcPts val="600"/>
              </a:spcBef>
              <a:spcAft>
                <a:spcPts val="0"/>
              </a:spcAft>
              <a:buClr>
                <a:srgbClr val="007FA3"/>
              </a:buClr>
              <a:buSzPct val="100000"/>
              <a:buFont typeface="Arial"/>
              <a:buChar char="–"/>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By managers wanting to </a:t>
            </a:r>
            <a:r>
              <a:rPr kumimoji="0" lang="en-US" sz="2400" b="0" i="0" u="none" strike="noStrike" kern="0" cap="none" spc="0" normalizeH="0" baseline="0" noProof="0" dirty="0">
                <a:ln>
                  <a:noFill/>
                </a:ln>
                <a:solidFill>
                  <a:srgbClr val="FF0000"/>
                </a:solidFill>
                <a:effectLst/>
                <a:uLnTx/>
                <a:uFillTx/>
                <a:latin typeface="Arial"/>
                <a:cs typeface="Arial"/>
                <a:sym typeface="Arial"/>
              </a:rPr>
              <a:t>make a system more efficient</a:t>
            </a:r>
          </a:p>
          <a:p>
            <a:pPr marL="742950" marR="0" lvl="1" indent="-284400" algn="l" defTabSz="914400" rtl="0" eaLnBrk="1" fontAlgn="auto" latinLnBrk="0" hangingPunct="1">
              <a:lnSpc>
                <a:spcPct val="100000"/>
              </a:lnSpc>
              <a:spcBef>
                <a:spcPts val="600"/>
              </a:spcBef>
              <a:spcAft>
                <a:spcPts val="0"/>
              </a:spcAft>
              <a:buClr>
                <a:srgbClr val="007FA3"/>
              </a:buClr>
              <a:buSzPct val="100000"/>
              <a:buFont typeface="Arial"/>
              <a:buChar char="–"/>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By managers </a:t>
            </a:r>
            <a:r>
              <a:rPr kumimoji="0" lang="en-US" sz="2400" b="0" i="0" u="none" strike="noStrike" kern="0" cap="none" spc="0" normalizeH="0" baseline="0" noProof="0" dirty="0">
                <a:ln>
                  <a:noFill/>
                </a:ln>
                <a:solidFill>
                  <a:srgbClr val="FF0000"/>
                </a:solidFill>
                <a:effectLst/>
                <a:uLnTx/>
                <a:uFillTx/>
                <a:latin typeface="Arial"/>
                <a:cs typeface="Arial"/>
                <a:sym typeface="Arial"/>
              </a:rPr>
              <a:t>needing a new system</a:t>
            </a:r>
          </a:p>
        </p:txBody>
      </p:sp>
    </p:spTree>
    <p:extLst>
      <p:ext uri="{BB962C8B-B14F-4D97-AF65-F5344CB8AC3E}">
        <p14:creationId xmlns:p14="http://schemas.microsoft.com/office/powerpoint/2010/main" val="92284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FFA3E60-EC78-4946-9C6D-A01676F50AB9}"/>
              </a:ext>
            </a:extLst>
          </p:cNvPr>
          <p:cNvSpPr txBox="1">
            <a:spLocks/>
          </p:cNvSpPr>
          <p:nvPr/>
        </p:nvSpPr>
        <p:spPr>
          <a:xfrm>
            <a:off x="457200" y="2043817"/>
            <a:ext cx="8229600" cy="797411"/>
          </a:xfrm>
          <a:prstGeom prst="rect">
            <a:avLst/>
          </a:prstGeom>
          <a:noFill/>
          <a:ln>
            <a:noFill/>
          </a:ln>
        </p:spPr>
        <p:txBody>
          <a:bodyPr lIns="0" tIns="0" rIns="0" bIns="0" anchor="t" anchorCtr="0"/>
          <a:lstStyle>
            <a:defPPr marR="0" lvl="0" algn="l" rtl="0">
              <a:lnSpc>
                <a:spcPct val="100000"/>
              </a:lnSpc>
              <a:spcBef>
                <a:spcPts val="0"/>
              </a:spcBef>
              <a:spcAft>
                <a:spcPts val="0"/>
              </a:spcAft>
            </a:defPPr>
            <a:lvl1pPr marL="256032" marR="0" lvl="0" indent="-255600" algn="l" rtl="0">
              <a:lnSpc>
                <a:spcPct val="100000"/>
              </a:lnSpc>
              <a:spcBef>
                <a:spcPts val="15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2950" marR="0" lvl="1" indent="-284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230400" algn="l" rtl="0">
              <a:lnSpc>
                <a:spcPct val="100000"/>
              </a:lnSpc>
              <a:spcBef>
                <a:spcPts val="600"/>
              </a:spcBef>
              <a:spcAft>
                <a:spcPts val="0"/>
              </a:spcAft>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230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4pPr>
            <a:lvl5pPr marL="2057400" marR="0" lvl="4" indent="-230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256032" marR="0" lvl="0" indent="-255600"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kumimoji="0" lang="en-US" sz="2400" b="0" i="0" u="none" strike="noStrike" kern="0" cap="none" spc="0" normalizeH="0" baseline="0" noProof="0">
                <a:ln>
                  <a:noFill/>
                </a:ln>
                <a:solidFill>
                  <a:srgbClr val="000000"/>
                </a:solidFill>
                <a:effectLst/>
                <a:uLnTx/>
                <a:uFillTx/>
                <a:latin typeface="Arial"/>
                <a:cs typeface="Arial"/>
                <a:sym typeface="Arial"/>
              </a:rPr>
              <a:t>Project identification and selection consists of three primary activities:</a:t>
            </a:r>
            <a:endParaRPr kumimoji="0" lang="en-US" sz="2400" b="0" i="0" u="none" strike="noStrike" kern="0" cap="none" spc="0" normalizeH="0" baseline="0" noProof="0" dirty="0">
              <a:ln>
                <a:noFill/>
              </a:ln>
              <a:solidFill>
                <a:srgbClr val="000000"/>
              </a:solidFill>
              <a:effectLst/>
              <a:uLnTx/>
              <a:uFillTx/>
              <a:latin typeface="Arial"/>
              <a:cs typeface="Arial"/>
              <a:sym typeface="Arial"/>
            </a:endParaRPr>
          </a:p>
        </p:txBody>
      </p:sp>
      <p:sp>
        <p:nvSpPr>
          <p:cNvPr id="5" name="Content Placeholder 4">
            <a:extLst>
              <a:ext uri="{FF2B5EF4-FFF2-40B4-BE49-F238E27FC236}">
                <a16:creationId xmlns:a16="http://schemas.microsoft.com/office/drawing/2014/main" id="{02E44BB9-DDE8-4EAE-8229-A808B61E0E0A}"/>
              </a:ext>
            </a:extLst>
          </p:cNvPr>
          <p:cNvSpPr txBox="1">
            <a:spLocks/>
          </p:cNvSpPr>
          <p:nvPr/>
        </p:nvSpPr>
        <p:spPr>
          <a:xfrm>
            <a:off x="457200" y="2963255"/>
            <a:ext cx="8229600" cy="463081"/>
          </a:xfrm>
          <a:prstGeom prst="rect">
            <a:avLst/>
          </a:prstGeom>
          <a:noFill/>
          <a:ln>
            <a:noFill/>
          </a:ln>
        </p:spPr>
        <p:txBody>
          <a:bodyPr lIns="0" tIns="0" rIns="0" bIns="0" anchor="t" anchorCtr="0"/>
          <a:lstStyle>
            <a:defPPr marR="0" lvl="0" algn="l" rtl="0">
              <a:lnSpc>
                <a:spcPct val="100000"/>
              </a:lnSpc>
              <a:spcBef>
                <a:spcPts val="0"/>
              </a:spcBef>
              <a:spcAft>
                <a:spcPts val="0"/>
              </a:spcAft>
            </a:defPPr>
            <a:lvl1pPr marL="256032" marR="0" lvl="0" indent="-255600" algn="l" rtl="0">
              <a:lnSpc>
                <a:spcPct val="100000"/>
              </a:lnSpc>
              <a:spcBef>
                <a:spcPts val="15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2950" marR="0" lvl="1" indent="-284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230400" algn="l" rtl="0">
              <a:lnSpc>
                <a:spcPct val="100000"/>
              </a:lnSpc>
              <a:spcBef>
                <a:spcPts val="600"/>
              </a:spcBef>
              <a:spcAft>
                <a:spcPts val="0"/>
              </a:spcAft>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230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4pPr>
            <a:lvl5pPr marL="2057400" marR="0" lvl="4" indent="-230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741600" marR="0" lvl="1" indent="-429768" algn="l" defTabSz="914400" rtl="0" eaLnBrk="1" fontAlgn="auto" latinLnBrk="0" hangingPunct="1">
              <a:lnSpc>
                <a:spcPct val="100000"/>
              </a:lnSpc>
              <a:spcBef>
                <a:spcPts val="600"/>
              </a:spcBef>
              <a:spcAft>
                <a:spcPts val="0"/>
              </a:spcAft>
              <a:buClr>
                <a:srgbClr val="007FA3"/>
              </a:buClr>
              <a:buSzPct val="100000"/>
              <a:buFont typeface="+mj-lt"/>
              <a:buAutoNum type="arabicPeriod"/>
              <a:tabLst/>
              <a:defRPr/>
            </a:pPr>
            <a:r>
              <a:rPr kumimoji="0" lang="en-US" sz="2400" b="0" i="0" u="none" strike="noStrike" kern="0" cap="none" spc="0" normalizeH="0" baseline="0" noProof="0" dirty="0">
                <a:ln>
                  <a:noFill/>
                </a:ln>
                <a:solidFill>
                  <a:srgbClr val="FF0000"/>
                </a:solidFill>
                <a:effectLst/>
                <a:uLnTx/>
                <a:uFillTx/>
                <a:latin typeface="Arial"/>
                <a:cs typeface="Arial"/>
                <a:sym typeface="Arial"/>
              </a:rPr>
              <a:t>Identifying potential development projects</a:t>
            </a:r>
          </a:p>
        </p:txBody>
      </p:sp>
      <p:sp>
        <p:nvSpPr>
          <p:cNvPr id="6" name="Content Placeholder 5">
            <a:extLst>
              <a:ext uri="{FF2B5EF4-FFF2-40B4-BE49-F238E27FC236}">
                <a16:creationId xmlns:a16="http://schemas.microsoft.com/office/drawing/2014/main" id="{01E40EAA-E2D9-4817-B1E0-E927586EDB27}"/>
              </a:ext>
            </a:extLst>
          </p:cNvPr>
          <p:cNvSpPr txBox="1">
            <a:spLocks/>
          </p:cNvSpPr>
          <p:nvPr/>
        </p:nvSpPr>
        <p:spPr>
          <a:xfrm>
            <a:off x="457200" y="3426337"/>
            <a:ext cx="8232775" cy="1750644"/>
          </a:xfrm>
          <a:prstGeom prst="rect">
            <a:avLst/>
          </a:prstGeom>
          <a:noFill/>
          <a:ln>
            <a:noFill/>
          </a:ln>
        </p:spPr>
        <p:txBody>
          <a:bodyPr lIns="0" tIns="0" rIns="0" bIns="0" anchor="t" anchorCtr="0"/>
          <a:lstStyle>
            <a:defPPr marR="0" lvl="0" algn="l" rtl="0">
              <a:lnSpc>
                <a:spcPct val="100000"/>
              </a:lnSpc>
              <a:spcBef>
                <a:spcPts val="0"/>
              </a:spcBef>
              <a:spcAft>
                <a:spcPts val="0"/>
              </a:spcAft>
            </a:defPPr>
            <a:lvl1pPr marL="256032" marR="0" lvl="0" indent="-255600" algn="l" rtl="0">
              <a:lnSpc>
                <a:spcPct val="100000"/>
              </a:lnSpc>
              <a:spcBef>
                <a:spcPts val="1500"/>
              </a:spcBef>
              <a:spcAft>
                <a:spcPts val="0"/>
              </a:spcAft>
              <a:buClr>
                <a:srgbClr val="007FA3"/>
              </a:buClr>
              <a:buSzPct val="100000"/>
              <a:buFont typeface="Arial"/>
              <a:buChar char="•"/>
              <a:defRPr lang="en-US" sz="2400" b="0" i="0" u="none" strike="noStrike" cap="none" dirty="0" smtClean="0">
                <a:solidFill>
                  <a:schemeClr val="dk1"/>
                </a:solidFill>
                <a:latin typeface="+mn-lt"/>
                <a:ea typeface="Arial"/>
                <a:cs typeface="Arial"/>
                <a:sym typeface="Arial"/>
              </a:defRPr>
            </a:lvl1pPr>
            <a:lvl2pPr marL="742950" marR="0" lvl="1" indent="-284400" algn="l" rtl="0">
              <a:lnSpc>
                <a:spcPct val="100000"/>
              </a:lnSpc>
              <a:spcBef>
                <a:spcPts val="600"/>
              </a:spcBef>
              <a:spcAft>
                <a:spcPts val="0"/>
              </a:spcAft>
              <a:buClr>
                <a:srgbClr val="007FA3"/>
              </a:buClr>
              <a:buSzPct val="100000"/>
              <a:buFont typeface="Arial"/>
              <a:buChar char="–"/>
              <a:defRPr lang="en-US" sz="2400" b="0" i="0" u="none" strike="noStrike" cap="none" dirty="0" smtClean="0">
                <a:solidFill>
                  <a:schemeClr val="dk1"/>
                </a:solidFill>
                <a:latin typeface="+mn-lt"/>
                <a:ea typeface="Arial"/>
                <a:cs typeface="Arial"/>
                <a:sym typeface="Arial"/>
              </a:defRPr>
            </a:lvl2pPr>
            <a:lvl3pPr marL="1143000" marR="0" lvl="2" indent="-230400" algn="l" rtl="0">
              <a:lnSpc>
                <a:spcPct val="100000"/>
              </a:lnSpc>
              <a:spcBef>
                <a:spcPts val="600"/>
              </a:spcBef>
              <a:spcAft>
                <a:spcPts val="0"/>
              </a:spcAft>
              <a:buClr>
                <a:srgbClr val="007FA3"/>
              </a:buClr>
              <a:buSzPct val="100000"/>
              <a:buFont typeface="Noto Sans Symbols"/>
              <a:buChar char="▪"/>
              <a:defRPr lang="en-US" sz="2400" b="0" i="0" u="none" strike="noStrike" cap="none" dirty="0" smtClean="0">
                <a:solidFill>
                  <a:schemeClr val="dk1"/>
                </a:solidFill>
                <a:latin typeface="+mn-lt"/>
                <a:ea typeface="Arial"/>
                <a:cs typeface="Arial"/>
                <a:sym typeface="Arial"/>
              </a:defRPr>
            </a:lvl3pPr>
            <a:lvl4pPr marL="1600200" marR="0" lvl="3" indent="-230400" algn="l" rtl="0">
              <a:lnSpc>
                <a:spcPct val="100000"/>
              </a:lnSpc>
              <a:spcBef>
                <a:spcPts val="600"/>
              </a:spcBef>
              <a:spcAft>
                <a:spcPts val="0"/>
              </a:spcAft>
              <a:buClr>
                <a:srgbClr val="007FA3"/>
              </a:buClr>
              <a:buSzPct val="100000"/>
              <a:buFont typeface="Arial"/>
              <a:buChar char="–"/>
              <a:defRPr lang="en-US" sz="2400" b="0" i="0" u="none" strike="noStrike" cap="none" dirty="0" smtClean="0">
                <a:solidFill>
                  <a:schemeClr val="dk1"/>
                </a:solidFill>
                <a:latin typeface="+mn-lt"/>
                <a:ea typeface="Arial"/>
                <a:cs typeface="Arial"/>
                <a:sym typeface="Arial"/>
              </a:defRPr>
            </a:lvl4pPr>
            <a:lvl5pPr marL="2057400" marR="0" lvl="4" indent="-127000" algn="l" rtl="0">
              <a:lnSpc>
                <a:spcPct val="100000"/>
              </a:lnSpc>
              <a:spcBef>
                <a:spcPts val="600"/>
              </a:spcBef>
              <a:spcAft>
                <a:spcPts val="0"/>
              </a:spcAft>
              <a:buClr>
                <a:srgbClr val="007FA3"/>
              </a:buClr>
              <a:buSzPct val="100000"/>
              <a:buFont typeface="Arial"/>
              <a:buChar char="•"/>
              <a:defRPr lang="en-IN" sz="2400" b="0" i="0" u="none" strike="noStrike" cap="none" dirty="0">
                <a:solidFill>
                  <a:schemeClr val="dk1"/>
                </a:solidFill>
                <a:latin typeface="+mn-lt"/>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1143000" marR="0" lvl="2" indent="-228600" algn="l" defTabSz="914400" rtl="0" eaLnBrk="1" fontAlgn="auto" latinLnBrk="0" hangingPunct="1">
              <a:lnSpc>
                <a:spcPct val="100000"/>
              </a:lnSpc>
              <a:spcBef>
                <a:spcPts val="600"/>
              </a:spcBef>
              <a:spcAft>
                <a:spcPts val="0"/>
              </a:spcAft>
              <a:buClr>
                <a:srgbClr val="007FA3"/>
              </a:buClr>
              <a:buSzPct val="100000"/>
              <a:buFont typeface="Noto Sans Symbols"/>
              <a:buChar char="▪"/>
              <a:tabLst/>
              <a:defRPr/>
            </a:pPr>
            <a:r>
              <a:rPr kumimoji="0" lang="en-US" sz="2400" b="0" i="0" u="none" strike="noStrike" kern="0" cap="none" spc="0" normalizeH="0" baseline="0" noProof="0">
                <a:ln>
                  <a:noFill/>
                </a:ln>
                <a:solidFill>
                  <a:srgbClr val="000000"/>
                </a:solidFill>
                <a:effectLst/>
                <a:uLnTx/>
                <a:uFillTx/>
                <a:latin typeface="Arial"/>
                <a:cs typeface="Arial"/>
                <a:sym typeface="Arial"/>
              </a:rPr>
              <a:t>By key member of top management</a:t>
            </a:r>
          </a:p>
          <a:p>
            <a:pPr marL="1143000" marR="0" lvl="2" indent="-228600" algn="l" defTabSz="914400" rtl="0" eaLnBrk="1" fontAlgn="auto" latinLnBrk="0" hangingPunct="1">
              <a:lnSpc>
                <a:spcPct val="100000"/>
              </a:lnSpc>
              <a:spcBef>
                <a:spcPts val="600"/>
              </a:spcBef>
              <a:spcAft>
                <a:spcPts val="0"/>
              </a:spcAft>
              <a:buClr>
                <a:srgbClr val="007FA3"/>
              </a:buClr>
              <a:buSzPct val="100000"/>
              <a:buFont typeface="Noto Sans Symbols"/>
              <a:buChar char="▪"/>
              <a:tabLst/>
              <a:defRPr/>
            </a:pPr>
            <a:r>
              <a:rPr kumimoji="0" lang="en-US" sz="2400" b="0" i="0" u="none" strike="noStrike" kern="0" cap="none" spc="0" normalizeH="0" baseline="0" noProof="0">
                <a:ln>
                  <a:noFill/>
                </a:ln>
                <a:solidFill>
                  <a:srgbClr val="000000"/>
                </a:solidFill>
                <a:effectLst/>
                <a:uLnTx/>
                <a:uFillTx/>
                <a:latin typeface="Arial"/>
                <a:cs typeface="Arial"/>
                <a:sym typeface="Arial"/>
              </a:rPr>
              <a:t>By steering committee (</a:t>
            </a:r>
            <a:r>
              <a:rPr kumimoji="0" lang="en-US" sz="2400" b="1" i="0" u="none" strike="noStrike" kern="0" cap="none" spc="0" normalizeH="0" baseline="0" noProof="0">
                <a:ln>
                  <a:noFill/>
                </a:ln>
                <a:solidFill>
                  <a:srgbClr val="000000"/>
                </a:solidFill>
                <a:effectLst/>
                <a:uLnTx/>
                <a:uFillTx/>
                <a:latin typeface="Arial"/>
                <a:cs typeface="Arial"/>
                <a:sym typeface="Arial"/>
              </a:rPr>
              <a:t>top-down source</a:t>
            </a:r>
            <a:r>
              <a:rPr kumimoji="0" lang="en-US" sz="2400" b="0" i="0" u="none" strike="noStrike" kern="0" cap="none" spc="0" normalizeH="0" baseline="0" noProof="0">
                <a:ln>
                  <a:noFill/>
                </a:ln>
                <a:solidFill>
                  <a:srgbClr val="000000"/>
                </a:solidFill>
                <a:effectLst/>
                <a:uLnTx/>
                <a:uFillTx/>
                <a:latin typeface="Arial"/>
                <a:cs typeface="Arial"/>
                <a:sym typeface="Arial"/>
              </a:rPr>
              <a:t>)</a:t>
            </a:r>
          </a:p>
          <a:p>
            <a:pPr marL="1143000" marR="0" lvl="2" indent="-228600" algn="l" defTabSz="914400" rtl="0" eaLnBrk="1" fontAlgn="auto" latinLnBrk="0" hangingPunct="1">
              <a:lnSpc>
                <a:spcPct val="100000"/>
              </a:lnSpc>
              <a:spcBef>
                <a:spcPts val="600"/>
              </a:spcBef>
              <a:spcAft>
                <a:spcPts val="0"/>
              </a:spcAft>
              <a:buClr>
                <a:srgbClr val="007FA3"/>
              </a:buClr>
              <a:buSzPct val="100000"/>
              <a:buFont typeface="Noto Sans Symbols"/>
              <a:buChar char="▪"/>
              <a:tabLst/>
              <a:defRPr/>
            </a:pPr>
            <a:r>
              <a:rPr kumimoji="0" lang="en-US" sz="2400" b="0" i="0" u="none" strike="noStrike" kern="0" cap="none" spc="0" normalizeH="0" baseline="0" noProof="0">
                <a:ln>
                  <a:noFill/>
                </a:ln>
                <a:solidFill>
                  <a:srgbClr val="000000"/>
                </a:solidFill>
                <a:effectLst/>
                <a:uLnTx/>
                <a:uFillTx/>
                <a:latin typeface="Arial"/>
                <a:cs typeface="Arial"/>
                <a:sym typeface="Arial"/>
              </a:rPr>
              <a:t>By user departments (</a:t>
            </a:r>
            <a:r>
              <a:rPr kumimoji="0" lang="en-US" sz="2400" b="1" i="0" u="none" strike="noStrike" kern="0" cap="none" spc="0" normalizeH="0" baseline="0" noProof="0">
                <a:ln>
                  <a:noFill/>
                </a:ln>
                <a:solidFill>
                  <a:srgbClr val="000000"/>
                </a:solidFill>
                <a:effectLst/>
                <a:uLnTx/>
                <a:uFillTx/>
                <a:latin typeface="Arial"/>
                <a:cs typeface="Arial"/>
                <a:sym typeface="Arial"/>
              </a:rPr>
              <a:t>bottom-up source</a:t>
            </a:r>
            <a:r>
              <a:rPr kumimoji="0" lang="en-US" sz="2400" b="0" i="0" u="none" strike="noStrike" kern="0" cap="none" spc="0" normalizeH="0" baseline="0" noProof="0">
                <a:ln>
                  <a:noFill/>
                </a:ln>
                <a:solidFill>
                  <a:srgbClr val="000000"/>
                </a:solidFill>
                <a:effectLst/>
                <a:uLnTx/>
                <a:uFillTx/>
                <a:latin typeface="Arial"/>
                <a:cs typeface="Arial"/>
                <a:sym typeface="Arial"/>
              </a:rPr>
              <a:t>)</a:t>
            </a:r>
          </a:p>
          <a:p>
            <a:pPr marL="1143000" marR="0" lvl="2" indent="-228600" algn="l" defTabSz="914400" rtl="0" eaLnBrk="1" fontAlgn="auto" latinLnBrk="0" hangingPunct="1">
              <a:lnSpc>
                <a:spcPct val="100000"/>
              </a:lnSpc>
              <a:spcBef>
                <a:spcPts val="600"/>
              </a:spcBef>
              <a:spcAft>
                <a:spcPts val="0"/>
              </a:spcAft>
              <a:buClr>
                <a:srgbClr val="007FA3"/>
              </a:buClr>
              <a:buSzPct val="100000"/>
              <a:buFont typeface="Noto Sans Symbols"/>
              <a:buChar char="▪"/>
              <a:tabLst/>
              <a:defRPr/>
            </a:pPr>
            <a:r>
              <a:rPr kumimoji="0" lang="en-US" sz="2400" b="0" i="0" u="none" strike="noStrike" kern="0" cap="none" spc="0" normalizeH="0" baseline="0" noProof="0">
                <a:ln>
                  <a:noFill/>
                </a:ln>
                <a:solidFill>
                  <a:srgbClr val="000000"/>
                </a:solidFill>
                <a:effectLst/>
                <a:uLnTx/>
                <a:uFillTx/>
                <a:latin typeface="Arial"/>
                <a:cs typeface="Arial"/>
                <a:sym typeface="Arial"/>
              </a:rPr>
              <a:t>By development group or senior I</a:t>
            </a:r>
            <a:r>
              <a:rPr kumimoji="0" lang="en-US" sz="100" b="0" i="0" u="none" strike="noStrike" kern="0" cap="none" spc="0" normalizeH="0" baseline="0" noProof="0">
                <a:ln>
                  <a:noFill/>
                </a:ln>
                <a:solidFill>
                  <a:srgbClr val="000000"/>
                </a:solidFill>
                <a:effectLst/>
                <a:uLnTx/>
                <a:uFillTx/>
                <a:latin typeface="Arial"/>
                <a:cs typeface="Arial"/>
                <a:sym typeface="Arial"/>
              </a:rPr>
              <a:t> </a:t>
            </a:r>
            <a:r>
              <a:rPr kumimoji="0" lang="en-US" sz="2400" b="0" i="0" u="none" strike="noStrike" kern="0" cap="none" spc="0" normalizeH="0" baseline="0" noProof="0">
                <a:ln>
                  <a:noFill/>
                </a:ln>
                <a:solidFill>
                  <a:srgbClr val="000000"/>
                </a:solidFill>
                <a:effectLst/>
                <a:uLnTx/>
                <a:uFillTx/>
                <a:latin typeface="Arial"/>
                <a:cs typeface="Arial"/>
                <a:sym typeface="Arial"/>
              </a:rPr>
              <a:t>S manager</a:t>
            </a:r>
            <a:endParaRPr kumimoji="0" lang="en-US" sz="2400" b="0" i="0" u="none" strike="noStrike" kern="0" cap="none" spc="0" normalizeH="0" baseline="0" noProof="0" dirty="0">
              <a:ln>
                <a:noFill/>
              </a:ln>
              <a:solidFill>
                <a:srgbClr val="000000"/>
              </a:solidFill>
              <a:effectLst/>
              <a:uLnTx/>
              <a:uFillTx/>
              <a:latin typeface="Arial"/>
              <a:cs typeface="Arial"/>
              <a:sym typeface="Arial"/>
            </a:endParaRPr>
          </a:p>
        </p:txBody>
      </p:sp>
      <p:sp>
        <p:nvSpPr>
          <p:cNvPr id="7" name="Title 1">
            <a:extLst>
              <a:ext uri="{FF2B5EF4-FFF2-40B4-BE49-F238E27FC236}">
                <a16:creationId xmlns:a16="http://schemas.microsoft.com/office/drawing/2014/main" id="{F3481D68-529A-4229-BBD1-889B970FF4E3}"/>
              </a:ext>
            </a:extLst>
          </p:cNvPr>
          <p:cNvSpPr txBox="1">
            <a:spLocks/>
          </p:cNvSpPr>
          <p:nvPr/>
        </p:nvSpPr>
        <p:spPr>
          <a:xfrm>
            <a:off x="457200" y="215371"/>
            <a:ext cx="8382000" cy="1097279"/>
          </a:xfrm>
          <a:prstGeom prst="rect">
            <a:avLst/>
          </a:prstGeom>
          <a:noFill/>
          <a:ln>
            <a:noFill/>
          </a:ln>
        </p:spPr>
        <p:txBody>
          <a:bodyPr lIns="0" tIns="0" rIns="0" bIns="0" anchor="b"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marL="0" marR="0" lvl="0" indent="0" algn="l" defTabSz="914400" rtl="0" eaLnBrk="1" fontAlgn="auto" latinLnBrk="0" hangingPunct="1">
              <a:lnSpc>
                <a:spcPct val="100000"/>
              </a:lnSpc>
              <a:spcBef>
                <a:spcPts val="0"/>
              </a:spcBef>
              <a:spcAft>
                <a:spcPts val="0"/>
              </a:spcAft>
              <a:buClr>
                <a:srgbClr val="007FA3"/>
              </a:buClr>
              <a:buSzTx/>
              <a:buFont typeface="Times New Roman"/>
              <a:buNone/>
              <a:tabLst/>
              <a:defRPr/>
            </a:pPr>
            <a:r>
              <a:rPr kumimoji="0" lang="en-US" sz="3600" b="1" i="0" u="none" strike="noStrike" kern="0" cap="none" spc="0" normalizeH="0" baseline="0" noProof="0">
                <a:ln>
                  <a:noFill/>
                </a:ln>
                <a:solidFill>
                  <a:srgbClr val="007FA3"/>
                </a:solidFill>
                <a:effectLst/>
                <a:uLnTx/>
                <a:uFillTx/>
                <a:latin typeface="Arial"/>
                <a:cs typeface="Times New Roman"/>
                <a:sym typeface="Times New Roman"/>
              </a:rPr>
              <a:t>Identifying and Selecting Projects </a:t>
            </a:r>
            <a:r>
              <a:rPr kumimoji="0" lang="en-US" sz="2000" b="0" i="0" u="none" strike="noStrike" kern="0" cap="none" spc="0" normalizeH="0" baseline="0" noProof="0">
                <a:ln>
                  <a:noFill/>
                </a:ln>
                <a:solidFill>
                  <a:srgbClr val="007FA3"/>
                </a:solidFill>
                <a:effectLst/>
                <a:uLnTx/>
                <a:uFillTx/>
                <a:latin typeface="Arial"/>
                <a:cs typeface="Times New Roman"/>
                <a:sym typeface="Times New Roman"/>
              </a:rPr>
              <a:t>(1 of 3)</a:t>
            </a:r>
            <a:endParaRPr kumimoji="0" lang="en-US" sz="2000" b="0" i="0" u="none" strike="noStrike" kern="0" cap="none" spc="0" normalizeH="0" baseline="0" noProof="0" dirty="0">
              <a:ln>
                <a:noFill/>
              </a:ln>
              <a:solidFill>
                <a:srgbClr val="007FA3"/>
              </a:solidFill>
              <a:effectLst/>
              <a:uLnTx/>
              <a:uFillTx/>
              <a:latin typeface="Arial"/>
              <a:cs typeface="Times New Roman"/>
              <a:sym typeface="Times New Roman"/>
            </a:endParaRPr>
          </a:p>
        </p:txBody>
      </p:sp>
    </p:spTree>
    <p:extLst>
      <p:ext uri="{BB962C8B-B14F-4D97-AF65-F5344CB8AC3E}">
        <p14:creationId xmlns:p14="http://schemas.microsoft.com/office/powerpoint/2010/main" val="1413271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E2498-4D5F-4ACC-BA46-2F9BAE331E18}"/>
              </a:ext>
            </a:extLst>
          </p:cNvPr>
          <p:cNvSpPr>
            <a:spLocks noGrp="1"/>
          </p:cNvSpPr>
          <p:nvPr>
            <p:ph type="title"/>
          </p:nvPr>
        </p:nvSpPr>
        <p:spPr>
          <a:xfrm>
            <a:off x="457199" y="215371"/>
            <a:ext cx="8395855" cy="1097279"/>
          </a:xfrm>
        </p:spPr>
        <p:txBody>
          <a:bodyPr/>
          <a:lstStyle/>
          <a:p>
            <a:r>
              <a:rPr lang="en-US" dirty="0"/>
              <a:t>Identifying and Selecting Projects </a:t>
            </a:r>
            <a:r>
              <a:rPr lang="en-US" sz="2000" b="0" dirty="0"/>
              <a:t>(2 of 3)</a:t>
            </a:r>
          </a:p>
        </p:txBody>
      </p:sp>
      <p:sp>
        <p:nvSpPr>
          <p:cNvPr id="4" name="Content Placeholder 3">
            <a:extLst>
              <a:ext uri="{FF2B5EF4-FFF2-40B4-BE49-F238E27FC236}">
                <a16:creationId xmlns:a16="http://schemas.microsoft.com/office/drawing/2014/main" id="{FE87CA9B-B6CE-4381-9B20-E04DA6B9CBA2}"/>
              </a:ext>
            </a:extLst>
          </p:cNvPr>
          <p:cNvSpPr>
            <a:spLocks noGrp="1"/>
          </p:cNvSpPr>
          <p:nvPr>
            <p:ph sz="quarter" idx="14"/>
          </p:nvPr>
        </p:nvSpPr>
        <p:spPr>
          <a:xfrm>
            <a:off x="457200" y="2059316"/>
            <a:ext cx="8229600" cy="380960"/>
          </a:xfrm>
        </p:spPr>
        <p:txBody>
          <a:bodyPr/>
          <a:lstStyle/>
          <a:p>
            <a:pPr marL="741600" lvl="1" indent="-429768">
              <a:buFont typeface="+mj-lt"/>
              <a:buAutoNum type="arabicPeriod" startAt="2"/>
            </a:pPr>
            <a:r>
              <a:rPr lang="en-US" sz="2800" dirty="0">
                <a:solidFill>
                  <a:srgbClr val="FF0000"/>
                </a:solidFill>
              </a:rPr>
              <a:t>Classifying and ranking IS development projects</a:t>
            </a:r>
          </a:p>
        </p:txBody>
      </p:sp>
      <p:sp>
        <p:nvSpPr>
          <p:cNvPr id="5" name="Content Placeholder 4">
            <a:extLst>
              <a:ext uri="{FF2B5EF4-FFF2-40B4-BE49-F238E27FC236}">
                <a16:creationId xmlns:a16="http://schemas.microsoft.com/office/drawing/2014/main" id="{2C4C53AE-650E-4F0C-9AC9-57711348FE81}"/>
              </a:ext>
            </a:extLst>
          </p:cNvPr>
          <p:cNvSpPr>
            <a:spLocks noGrp="1"/>
          </p:cNvSpPr>
          <p:nvPr>
            <p:ph sz="quarter" idx="15"/>
          </p:nvPr>
        </p:nvSpPr>
        <p:spPr>
          <a:xfrm>
            <a:off x="457200" y="2534595"/>
            <a:ext cx="8229600" cy="3840326"/>
          </a:xfrm>
        </p:spPr>
        <p:txBody>
          <a:bodyPr/>
          <a:lstStyle/>
          <a:p>
            <a:pPr lvl="2" indent="-228600"/>
            <a:r>
              <a:rPr lang="en-US" sz="2800" dirty="0"/>
              <a:t>Using value chain analysis or other evaluation criteria</a:t>
            </a:r>
          </a:p>
          <a:p>
            <a:pPr lvl="3"/>
            <a:r>
              <a:rPr lang="en-US" sz="2800" b="1" dirty="0"/>
              <a:t>Value chain analysis</a:t>
            </a:r>
            <a:r>
              <a:rPr lang="en-US" sz="2800" b="1" dirty="0">
                <a:solidFill>
                  <a:srgbClr val="007FA3"/>
                </a:solidFill>
              </a:rPr>
              <a:t> </a:t>
            </a:r>
            <a:r>
              <a:rPr lang="en-US" sz="2800" dirty="0"/>
              <a:t>– used in </a:t>
            </a:r>
            <a:r>
              <a:rPr lang="en-US" sz="2800" dirty="0">
                <a:solidFill>
                  <a:srgbClr val="FF0000"/>
                </a:solidFill>
              </a:rPr>
              <a:t>analyzing an organization’s activities to determine where value is added to products and/or services </a:t>
            </a:r>
            <a:r>
              <a:rPr lang="en-US" sz="2800" dirty="0"/>
              <a:t>and the costs incurred for doing so; it usually also includes a comparison with the activities, added value, and costs of other organizations for the purpose of making improvements in the organization’s operations and performance</a:t>
            </a:r>
          </a:p>
        </p:txBody>
      </p:sp>
    </p:spTree>
    <p:extLst>
      <p:ext uri="{BB962C8B-B14F-4D97-AF65-F5344CB8AC3E}">
        <p14:creationId xmlns:p14="http://schemas.microsoft.com/office/powerpoint/2010/main" val="652562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E2498-4D5F-4ACC-BA46-2F9BAE331E18}"/>
              </a:ext>
            </a:extLst>
          </p:cNvPr>
          <p:cNvSpPr>
            <a:spLocks noGrp="1"/>
          </p:cNvSpPr>
          <p:nvPr>
            <p:ph type="title"/>
          </p:nvPr>
        </p:nvSpPr>
        <p:spPr>
          <a:xfrm>
            <a:off x="457199" y="215371"/>
            <a:ext cx="8368145" cy="886919"/>
          </a:xfrm>
        </p:spPr>
        <p:txBody>
          <a:bodyPr/>
          <a:lstStyle/>
          <a:p>
            <a:r>
              <a:rPr lang="en-US" dirty="0"/>
              <a:t>Identifying and Selecting Projects </a:t>
            </a:r>
            <a:r>
              <a:rPr lang="en-US" sz="2000" b="0" dirty="0"/>
              <a:t>(3 of 3)</a:t>
            </a:r>
          </a:p>
        </p:txBody>
      </p:sp>
      <p:sp>
        <p:nvSpPr>
          <p:cNvPr id="4" name="Content Placeholder 3">
            <a:extLst>
              <a:ext uri="{FF2B5EF4-FFF2-40B4-BE49-F238E27FC236}">
                <a16:creationId xmlns:a16="http://schemas.microsoft.com/office/drawing/2014/main" id="{FE87CA9B-B6CE-4381-9B20-E04DA6B9CBA2}"/>
              </a:ext>
            </a:extLst>
          </p:cNvPr>
          <p:cNvSpPr>
            <a:spLocks noGrp="1"/>
          </p:cNvSpPr>
          <p:nvPr>
            <p:ph sz="quarter" idx="14"/>
          </p:nvPr>
        </p:nvSpPr>
        <p:spPr>
          <a:xfrm>
            <a:off x="318656" y="1387924"/>
            <a:ext cx="8229600" cy="380960"/>
          </a:xfrm>
        </p:spPr>
        <p:txBody>
          <a:bodyPr/>
          <a:lstStyle/>
          <a:p>
            <a:pPr marL="741600" lvl="1" indent="-429768">
              <a:buFont typeface="+mj-lt"/>
              <a:buAutoNum type="arabicPeriod" startAt="3"/>
            </a:pPr>
            <a:r>
              <a:rPr lang="en-US" dirty="0">
                <a:solidFill>
                  <a:srgbClr val="FF0000"/>
                </a:solidFill>
              </a:rPr>
              <a:t>Selecting I</a:t>
            </a:r>
            <a:r>
              <a:rPr lang="en-US" sz="100" dirty="0">
                <a:solidFill>
                  <a:srgbClr val="FF0000"/>
                </a:solidFill>
              </a:rPr>
              <a:t> </a:t>
            </a:r>
            <a:r>
              <a:rPr lang="en-US" dirty="0">
                <a:solidFill>
                  <a:srgbClr val="FF0000"/>
                </a:solidFill>
              </a:rPr>
              <a:t>S development projects</a:t>
            </a:r>
          </a:p>
        </p:txBody>
      </p:sp>
      <p:graphicFrame>
        <p:nvGraphicFramePr>
          <p:cNvPr id="8" name="Table 7">
            <a:extLst>
              <a:ext uri="{FF2B5EF4-FFF2-40B4-BE49-F238E27FC236}">
                <a16:creationId xmlns:a16="http://schemas.microsoft.com/office/drawing/2014/main" id="{2F5BBAE2-433C-4DC5-B90E-DFF195B8A74E}"/>
              </a:ext>
            </a:extLst>
          </p:cNvPr>
          <p:cNvGraphicFramePr>
            <a:graphicFrameLocks noGrp="1"/>
          </p:cNvGraphicFramePr>
          <p:nvPr>
            <p:extLst>
              <p:ext uri="{D42A27DB-BD31-4B8C-83A1-F6EECF244321}">
                <p14:modId xmlns:p14="http://schemas.microsoft.com/office/powerpoint/2010/main" val="3149827624"/>
              </p:ext>
            </p:extLst>
          </p:nvPr>
        </p:nvGraphicFramePr>
        <p:xfrm>
          <a:off x="526472" y="1765931"/>
          <a:ext cx="8229598" cy="4150360"/>
        </p:xfrm>
        <a:graphic>
          <a:graphicData uri="http://schemas.openxmlformats.org/drawingml/2006/table">
            <a:tbl>
              <a:tblPr firstRow="1" bandRow="1">
                <a:tableStyleId>{2D5ABB26-0587-4C30-8999-92F81FD0307C}</a:tableStyleId>
              </a:tblPr>
              <a:tblGrid>
                <a:gridCol w="2007032">
                  <a:extLst>
                    <a:ext uri="{9D8B030D-6E8A-4147-A177-3AD203B41FA5}">
                      <a16:colId xmlns:a16="http://schemas.microsoft.com/office/drawing/2014/main" val="4167016767"/>
                    </a:ext>
                  </a:extLst>
                </a:gridCol>
                <a:gridCol w="6222566">
                  <a:extLst>
                    <a:ext uri="{9D8B030D-6E8A-4147-A177-3AD203B41FA5}">
                      <a16:colId xmlns:a16="http://schemas.microsoft.com/office/drawing/2014/main" val="1309979307"/>
                    </a:ext>
                  </a:extLst>
                </a:gridCol>
              </a:tblGrid>
              <a:tr h="370840">
                <a:tc>
                  <a:txBody>
                    <a:bodyPr/>
                    <a:lstStyle/>
                    <a:p>
                      <a:r>
                        <a:rPr lang="en-US" sz="1600" b="1" dirty="0"/>
                        <a:t>Selection Method</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t>Characteristics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8179145"/>
                  </a:ext>
                </a:extLst>
              </a:tr>
              <a:tr h="370840">
                <a:tc>
                  <a:txBody>
                    <a:bodyPr/>
                    <a:lstStyle/>
                    <a:p>
                      <a:r>
                        <a:rPr lang="en-US" sz="1600" dirty="0"/>
                        <a:t>Top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Greater strategic focus</a:t>
                      </a:r>
                    </a:p>
                    <a:p>
                      <a:r>
                        <a:rPr lang="en-US" sz="1600" dirty="0"/>
                        <a:t>Largest project size</a:t>
                      </a:r>
                    </a:p>
                    <a:p>
                      <a:r>
                        <a:rPr lang="en-US" sz="1600" dirty="0"/>
                        <a:t>Longest project duration</a:t>
                      </a:r>
                    </a:p>
                    <a:p>
                      <a:r>
                        <a:rPr lang="en-US" sz="1600" dirty="0"/>
                        <a:t>Enterprise-wise consideration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24290"/>
                  </a:ext>
                </a:extLst>
              </a:tr>
              <a:tr h="370840">
                <a:tc>
                  <a:txBody>
                    <a:bodyPr/>
                    <a:lstStyle/>
                    <a:p>
                      <a:r>
                        <a:rPr lang="en-US" sz="1600" dirty="0"/>
                        <a:t>Steering Committee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Cross-functional focus</a:t>
                      </a:r>
                    </a:p>
                    <a:p>
                      <a:r>
                        <a:rPr lang="en-US" sz="1600" dirty="0"/>
                        <a:t>Greater organizational change</a:t>
                      </a:r>
                    </a:p>
                    <a:p>
                      <a:r>
                        <a:rPr lang="en-US" sz="1600" dirty="0"/>
                        <a:t>Formal cost-benefit analysis</a:t>
                      </a:r>
                    </a:p>
                    <a:p>
                      <a:r>
                        <a:rPr lang="en-US" sz="1600" dirty="0"/>
                        <a:t>Larger and riskier projects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9022081"/>
                  </a:ext>
                </a:extLst>
              </a:tr>
              <a:tr h="370840">
                <a:tc>
                  <a:txBody>
                    <a:bodyPr/>
                    <a:lstStyle/>
                    <a:p>
                      <a:r>
                        <a:rPr lang="en-US" sz="1600" dirty="0"/>
                        <a:t>Functional Area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Narrow, nonstrategic focus</a:t>
                      </a:r>
                    </a:p>
                    <a:p>
                      <a:r>
                        <a:rPr lang="en-US" sz="1600" dirty="0"/>
                        <a:t>Faster development</a:t>
                      </a:r>
                    </a:p>
                    <a:p>
                      <a:r>
                        <a:rPr lang="en-US" sz="1600" dirty="0"/>
                        <a:t>Fewer users, management layers, and business functions involved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7319625"/>
                  </a:ext>
                </a:extLst>
              </a:tr>
              <a:tr h="370840">
                <a:tc>
                  <a:txBody>
                    <a:bodyPr/>
                    <a:lstStyle/>
                    <a:p>
                      <a:r>
                        <a:rPr lang="en-US" sz="1600" dirty="0"/>
                        <a:t>Development Group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Integration with existing systems focus</a:t>
                      </a:r>
                    </a:p>
                    <a:p>
                      <a:r>
                        <a:rPr lang="en-US" sz="1600" dirty="0"/>
                        <a:t>Fewer development delays</a:t>
                      </a:r>
                    </a:p>
                    <a:p>
                      <a:r>
                        <a:rPr lang="en-US" sz="1600" dirty="0"/>
                        <a:t>Less concern with cost-benefit 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9024548"/>
                  </a:ext>
                </a:extLst>
              </a:tr>
            </a:tbl>
          </a:graphicData>
        </a:graphic>
      </p:graphicFrame>
      <p:sp>
        <p:nvSpPr>
          <p:cNvPr id="9" name="Title 1">
            <a:extLst>
              <a:ext uri="{FF2B5EF4-FFF2-40B4-BE49-F238E27FC236}">
                <a16:creationId xmlns:a16="http://schemas.microsoft.com/office/drawing/2014/main" id="{4BAA7868-F456-44B3-9691-510393F46D3C}"/>
              </a:ext>
            </a:extLst>
          </p:cNvPr>
          <p:cNvSpPr txBox="1">
            <a:spLocks/>
          </p:cNvSpPr>
          <p:nvPr/>
        </p:nvSpPr>
        <p:spPr bwMode="auto">
          <a:xfrm>
            <a:off x="526472" y="6019173"/>
            <a:ext cx="8229600" cy="638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marL="0" marR="0" lvl="0" indent="0" algn="l" defTabSz="685800" rtl="0" eaLnBrk="0" fontAlgn="base" hangingPunct="0">
              <a:lnSpc>
                <a:spcPct val="100000"/>
              </a:lnSpc>
              <a:spcBef>
                <a:spcPts val="0"/>
              </a:spcBef>
              <a:spcAft>
                <a:spcPct val="0"/>
              </a:spcAft>
              <a:buClr>
                <a:srgbClr val="007FA3"/>
              </a:buClr>
              <a:buFont typeface="Times New Roman"/>
              <a:buNone/>
              <a:defRPr sz="3600" b="1" i="0" u="none" strike="noStrike" kern="1200" cap="none">
                <a:solidFill>
                  <a:srgbClr val="007FA3"/>
                </a:solidFill>
                <a:latin typeface="+mj-lt"/>
                <a:ea typeface="Times New Roman"/>
                <a:cs typeface="Times New Roman"/>
                <a:sym typeface="Times New Roman"/>
              </a:defRPr>
            </a:lvl1pPr>
            <a:lvl2pPr lvl="1" indent="0" algn="l" defTabSz="685800" rtl="0" eaLnBrk="0" fontAlgn="base" hangingPunct="0">
              <a:lnSpc>
                <a:spcPct val="90000"/>
              </a:lnSpc>
              <a:spcBef>
                <a:spcPts val="0"/>
              </a:spcBef>
              <a:spcAft>
                <a:spcPct val="0"/>
              </a:spcAft>
              <a:buNone/>
              <a:defRPr sz="1800">
                <a:solidFill>
                  <a:schemeClr val="tx1"/>
                </a:solidFill>
                <a:latin typeface="Calibri Light" panose="020F0302020204030204" pitchFamily="34" charset="0"/>
              </a:defRPr>
            </a:lvl2pPr>
            <a:lvl3pPr lvl="2" indent="0" algn="l" defTabSz="685800" rtl="0" eaLnBrk="0" fontAlgn="base" hangingPunct="0">
              <a:lnSpc>
                <a:spcPct val="90000"/>
              </a:lnSpc>
              <a:spcBef>
                <a:spcPts val="0"/>
              </a:spcBef>
              <a:spcAft>
                <a:spcPct val="0"/>
              </a:spcAft>
              <a:buNone/>
              <a:defRPr sz="1800">
                <a:solidFill>
                  <a:schemeClr val="tx1"/>
                </a:solidFill>
                <a:latin typeface="Calibri Light" panose="020F0302020204030204" pitchFamily="34" charset="0"/>
              </a:defRPr>
            </a:lvl3pPr>
            <a:lvl4pPr lvl="3" indent="0" algn="l" defTabSz="685800" rtl="0" eaLnBrk="0" fontAlgn="base" hangingPunct="0">
              <a:lnSpc>
                <a:spcPct val="90000"/>
              </a:lnSpc>
              <a:spcBef>
                <a:spcPts val="0"/>
              </a:spcBef>
              <a:spcAft>
                <a:spcPct val="0"/>
              </a:spcAft>
              <a:buNone/>
              <a:defRPr sz="1800">
                <a:solidFill>
                  <a:schemeClr val="tx1"/>
                </a:solidFill>
                <a:latin typeface="Calibri Light" panose="020F0302020204030204" pitchFamily="34" charset="0"/>
              </a:defRPr>
            </a:lvl4pPr>
            <a:lvl5pPr lvl="4" indent="0" algn="l" defTabSz="685800" rtl="0" eaLnBrk="0" fontAlgn="base" hangingPunct="0">
              <a:lnSpc>
                <a:spcPct val="90000"/>
              </a:lnSpc>
              <a:spcBef>
                <a:spcPts val="0"/>
              </a:spcBef>
              <a:spcAft>
                <a:spcPct val="0"/>
              </a:spcAft>
              <a:buNone/>
              <a:defRPr sz="1800">
                <a:solidFill>
                  <a:schemeClr val="tx1"/>
                </a:solidFill>
                <a:latin typeface="Calibri Light" panose="020F0302020204030204" pitchFamily="34" charset="0"/>
              </a:defRPr>
            </a:lvl5pPr>
            <a:lvl6pPr marL="457200" lvl="5" indent="0" algn="l" defTabSz="685800" rtl="0" fontAlgn="base">
              <a:lnSpc>
                <a:spcPct val="90000"/>
              </a:lnSpc>
              <a:spcBef>
                <a:spcPts val="0"/>
              </a:spcBef>
              <a:spcAft>
                <a:spcPct val="0"/>
              </a:spcAft>
              <a:buNone/>
              <a:defRPr sz="1800">
                <a:solidFill>
                  <a:schemeClr val="tx1"/>
                </a:solidFill>
                <a:latin typeface="Calibri Light" panose="020F0302020204030204" pitchFamily="34" charset="0"/>
              </a:defRPr>
            </a:lvl6pPr>
            <a:lvl7pPr marL="914400" lvl="6" indent="0" algn="l" defTabSz="685800" rtl="0" fontAlgn="base">
              <a:lnSpc>
                <a:spcPct val="90000"/>
              </a:lnSpc>
              <a:spcBef>
                <a:spcPts val="0"/>
              </a:spcBef>
              <a:spcAft>
                <a:spcPct val="0"/>
              </a:spcAft>
              <a:buNone/>
              <a:defRPr sz="1800">
                <a:solidFill>
                  <a:schemeClr val="tx1"/>
                </a:solidFill>
                <a:latin typeface="Calibri Light" panose="020F0302020204030204" pitchFamily="34" charset="0"/>
              </a:defRPr>
            </a:lvl7pPr>
            <a:lvl8pPr marL="1371600" lvl="7" indent="0" algn="l" defTabSz="685800" rtl="0" fontAlgn="base">
              <a:lnSpc>
                <a:spcPct val="90000"/>
              </a:lnSpc>
              <a:spcBef>
                <a:spcPts val="0"/>
              </a:spcBef>
              <a:spcAft>
                <a:spcPct val="0"/>
              </a:spcAft>
              <a:buNone/>
              <a:defRPr sz="1800">
                <a:solidFill>
                  <a:schemeClr val="tx1"/>
                </a:solidFill>
                <a:latin typeface="Calibri Light" panose="020F0302020204030204" pitchFamily="34" charset="0"/>
              </a:defRPr>
            </a:lvl8pPr>
            <a:lvl9pPr marL="1828800" lvl="8" indent="0" algn="l" defTabSz="685800" rtl="0" fontAlgn="base">
              <a:lnSpc>
                <a:spcPct val="90000"/>
              </a:lnSpc>
              <a:spcBef>
                <a:spcPts val="0"/>
              </a:spcBef>
              <a:spcAft>
                <a:spcPct val="0"/>
              </a:spcAft>
              <a:buNone/>
              <a:defRPr sz="1800">
                <a:solidFill>
                  <a:schemeClr val="tx1"/>
                </a:solidFill>
                <a:latin typeface="Calibri Light" panose="020F0302020204030204" pitchFamily="34" charset="0"/>
              </a:defRPr>
            </a:lvl9pPr>
          </a:lstStyle>
          <a:p>
            <a:r>
              <a:rPr lang="en-US" sz="1800" dirty="0"/>
              <a:t>Table 4-1: Characteristics of Alternative Methods for Making Information Systems Identification and Selection Decisions</a:t>
            </a:r>
          </a:p>
        </p:txBody>
      </p:sp>
    </p:spTree>
    <p:extLst>
      <p:ext uri="{BB962C8B-B14F-4D97-AF65-F5344CB8AC3E}">
        <p14:creationId xmlns:p14="http://schemas.microsoft.com/office/powerpoint/2010/main" val="231120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2351C-B3FD-4C06-AFE9-B95AFD13A199}"/>
              </a:ext>
            </a:extLst>
          </p:cNvPr>
          <p:cNvSpPr>
            <a:spLocks noGrp="1"/>
          </p:cNvSpPr>
          <p:nvPr>
            <p:ph type="title"/>
          </p:nvPr>
        </p:nvSpPr>
        <p:spPr/>
        <p:txBody>
          <a:bodyPr/>
          <a:lstStyle/>
          <a:p>
            <a:r>
              <a:rPr lang="en-US" sz="3200" dirty="0"/>
              <a:t>Table 4-2: </a:t>
            </a:r>
            <a:r>
              <a:rPr lang="en-US" sz="3200" dirty="0">
                <a:solidFill>
                  <a:srgbClr val="FF0000"/>
                </a:solidFill>
              </a:rPr>
              <a:t>Possible Evaluation Criteria </a:t>
            </a:r>
            <a:r>
              <a:rPr lang="en-US" sz="3200" dirty="0"/>
              <a:t>When Classifying and Ranking Projects</a:t>
            </a:r>
          </a:p>
        </p:txBody>
      </p:sp>
      <p:graphicFrame>
        <p:nvGraphicFramePr>
          <p:cNvPr id="4" name="Table 3">
            <a:extLst>
              <a:ext uri="{FF2B5EF4-FFF2-40B4-BE49-F238E27FC236}">
                <a16:creationId xmlns:a16="http://schemas.microsoft.com/office/drawing/2014/main" id="{E302DD62-BFA8-4D7B-B792-F20763A7C611}"/>
              </a:ext>
            </a:extLst>
          </p:cNvPr>
          <p:cNvGraphicFramePr>
            <a:graphicFrameLocks noGrp="1"/>
          </p:cNvGraphicFramePr>
          <p:nvPr/>
        </p:nvGraphicFramePr>
        <p:xfrm>
          <a:off x="457199" y="1673817"/>
          <a:ext cx="8229598" cy="4129211"/>
        </p:xfrm>
        <a:graphic>
          <a:graphicData uri="http://schemas.openxmlformats.org/drawingml/2006/table">
            <a:tbl>
              <a:tblPr firstRow="1" bandRow="1">
                <a:tableStyleId>{2D5ABB26-0587-4C30-8999-92F81FD0307C}</a:tableStyleId>
              </a:tblPr>
              <a:tblGrid>
                <a:gridCol w="2316998">
                  <a:extLst>
                    <a:ext uri="{9D8B030D-6E8A-4147-A177-3AD203B41FA5}">
                      <a16:colId xmlns:a16="http://schemas.microsoft.com/office/drawing/2014/main" val="3417875632"/>
                    </a:ext>
                  </a:extLst>
                </a:gridCol>
                <a:gridCol w="5912600">
                  <a:extLst>
                    <a:ext uri="{9D8B030D-6E8A-4147-A177-3AD203B41FA5}">
                      <a16:colId xmlns:a16="http://schemas.microsoft.com/office/drawing/2014/main" val="4008971907"/>
                    </a:ext>
                  </a:extLst>
                </a:gridCol>
              </a:tblGrid>
              <a:tr h="402956">
                <a:tc>
                  <a:txBody>
                    <a:bodyPr/>
                    <a:lstStyle/>
                    <a:p>
                      <a:r>
                        <a:rPr lang="en-US" sz="1600" b="1" dirty="0"/>
                        <a:t>Evaluation Criteria</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t>Description</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4706814"/>
                  </a:ext>
                </a:extLst>
              </a:tr>
              <a:tr h="583637">
                <a:tc>
                  <a:txBody>
                    <a:bodyPr/>
                    <a:lstStyle/>
                    <a:p>
                      <a:r>
                        <a:rPr lang="en-US" sz="1600" dirty="0"/>
                        <a:t>Value Chain 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Extent to which activities add value and costs when developing products and/or services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5937315"/>
                  </a:ext>
                </a:extLst>
              </a:tr>
              <a:tr h="658448">
                <a:tc>
                  <a:txBody>
                    <a:bodyPr/>
                    <a:lstStyle/>
                    <a:p>
                      <a:r>
                        <a:rPr lang="en-US" sz="1600" dirty="0"/>
                        <a:t>Strategic Alignment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Extent to which the project is viewed as helping the organization achieve its strategic objectives and long-term goals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1211805"/>
                  </a:ext>
                </a:extLst>
              </a:tr>
              <a:tr h="658448">
                <a:tc>
                  <a:txBody>
                    <a:bodyPr/>
                    <a:lstStyle/>
                    <a:p>
                      <a:r>
                        <a:rPr lang="en-US" sz="1600" dirty="0"/>
                        <a:t>Potential Benefits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Extent to which the project is viewed as improving profits, customer service, and so forth, and the duration of these benefits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6264922"/>
                  </a:ext>
                </a:extLst>
              </a:tr>
              <a:tr h="583637">
                <a:tc>
                  <a:txBody>
                    <a:bodyPr/>
                    <a:lstStyle/>
                    <a:p>
                      <a:r>
                        <a:rPr lang="en-US" sz="1600" dirty="0"/>
                        <a:t>Resource 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Amount and type of resources the project requires and their 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5874925"/>
                  </a:ext>
                </a:extLst>
              </a:tr>
              <a:tr h="583637">
                <a:tc>
                  <a:txBody>
                    <a:bodyPr/>
                    <a:lstStyle/>
                    <a:p>
                      <a:r>
                        <a:rPr lang="en-US" sz="1600" dirty="0"/>
                        <a:t>Project Size/Duration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Number of individuals and the length of time needed to complete the project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6098234"/>
                  </a:ext>
                </a:extLst>
              </a:tr>
              <a:tr h="658448">
                <a:tc>
                  <a:txBody>
                    <a:bodyPr/>
                    <a:lstStyle/>
                    <a:p>
                      <a:r>
                        <a:rPr lang="en-US" sz="1600" dirty="0"/>
                        <a:t>Technical Difficulty/Risks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Level of technical difficulty to successfully complete the project within given time and resource constraints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6484242"/>
                  </a:ext>
                </a:extLst>
              </a:tr>
            </a:tbl>
          </a:graphicData>
        </a:graphic>
      </p:graphicFrame>
    </p:spTree>
    <p:extLst>
      <p:ext uri="{BB962C8B-B14F-4D97-AF65-F5344CB8AC3E}">
        <p14:creationId xmlns:p14="http://schemas.microsoft.com/office/powerpoint/2010/main" val="2189354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E6204-5A75-40BC-A5CC-CDAB971B3725}"/>
              </a:ext>
            </a:extLst>
          </p:cNvPr>
          <p:cNvSpPr>
            <a:spLocks noGrp="1"/>
          </p:cNvSpPr>
          <p:nvPr>
            <p:ph type="title"/>
          </p:nvPr>
        </p:nvSpPr>
        <p:spPr>
          <a:xfrm>
            <a:off x="457200" y="215371"/>
            <a:ext cx="8229600" cy="1380954"/>
          </a:xfrm>
        </p:spPr>
        <p:txBody>
          <a:bodyPr/>
          <a:lstStyle/>
          <a:p>
            <a:r>
              <a:rPr lang="en-US" sz="2800" dirty="0"/>
              <a:t>Figure 4-1: Organizations Can Be Thought of as a </a:t>
            </a:r>
            <a:r>
              <a:rPr lang="en-US" sz="2800" dirty="0">
                <a:solidFill>
                  <a:srgbClr val="FF0000"/>
                </a:solidFill>
              </a:rPr>
              <a:t>Value Chain</a:t>
            </a:r>
            <a:r>
              <a:rPr lang="en-US" sz="2800" dirty="0"/>
              <a:t>, Transforming Raw Materials into Products for Customers</a:t>
            </a:r>
          </a:p>
        </p:txBody>
      </p:sp>
      <p:pic>
        <p:nvPicPr>
          <p:cNvPr id="4" name="Picture 3" descr="The organizations representation diagram shows the following four stages. First photograph shows smoke released into an atmosphere by a large factory. Second photograph shows a large indoor facility for product assembly. Third photograph shows large trucks preparing to load the products from the storage area. Fourth photograph shows a store customer talking with a store salesman. The arrow between first and second stages represents transformation of raw materials into products. The arrow between second and third stages represents storage and distribution of products. The arrow between third and fourth stages represents marketing, sales, and customer support.">
            <a:extLst>
              <a:ext uri="{FF2B5EF4-FFF2-40B4-BE49-F238E27FC236}">
                <a16:creationId xmlns:a16="http://schemas.microsoft.com/office/drawing/2014/main" id="{D1475CE9-4D56-463F-B90B-4310D8F9CFF9}"/>
              </a:ext>
            </a:extLst>
          </p:cNvPr>
          <p:cNvPicPr>
            <a:picLocks noChangeAspect="1"/>
          </p:cNvPicPr>
          <p:nvPr/>
        </p:nvPicPr>
        <p:blipFill>
          <a:blip r:embed="rId2"/>
          <a:stretch>
            <a:fillRect/>
          </a:stretch>
        </p:blipFill>
        <p:spPr>
          <a:xfrm>
            <a:off x="577869" y="2485201"/>
            <a:ext cx="8108931" cy="2161955"/>
          </a:xfrm>
          <a:prstGeom prst="rect">
            <a:avLst/>
          </a:prstGeom>
        </p:spPr>
      </p:pic>
      <p:sp>
        <p:nvSpPr>
          <p:cNvPr id="3" name="Content Placeholder 2">
            <a:extLst>
              <a:ext uri="{FF2B5EF4-FFF2-40B4-BE49-F238E27FC236}">
                <a16:creationId xmlns:a16="http://schemas.microsoft.com/office/drawing/2014/main" id="{63DFC191-78AC-438E-B014-D529DF03E74B}"/>
              </a:ext>
            </a:extLst>
          </p:cNvPr>
          <p:cNvSpPr>
            <a:spLocks noGrp="1"/>
          </p:cNvSpPr>
          <p:nvPr>
            <p:ph sz="quarter" idx="13"/>
          </p:nvPr>
        </p:nvSpPr>
        <p:spPr>
          <a:xfrm>
            <a:off x="457200" y="5920350"/>
            <a:ext cx="8229600" cy="380215"/>
          </a:xfrm>
        </p:spPr>
        <p:txBody>
          <a:bodyPr/>
          <a:lstStyle/>
          <a:p>
            <a:pPr marL="432" indent="0">
              <a:buNone/>
            </a:pPr>
            <a:r>
              <a:rPr lang="en-US" sz="1200" dirty="0"/>
              <a:t>(</a:t>
            </a:r>
            <a:r>
              <a:rPr lang="en-US" sz="1200" b="1" dirty="0"/>
              <a:t>Sources:</a:t>
            </a:r>
            <a:r>
              <a:rPr lang="en-US" sz="1200" i="1" dirty="0"/>
              <a:t> </a:t>
            </a:r>
            <a:r>
              <a:rPr lang="en-US" sz="1200" dirty="0"/>
              <a:t>Left to right: Bram van </a:t>
            </a:r>
            <a:r>
              <a:rPr lang="en-US" sz="1200" dirty="0" err="1"/>
              <a:t>Broekhoven</a:t>
            </a:r>
            <a:r>
              <a:rPr lang="en-US" sz="1200" dirty="0"/>
              <a:t>/Shutterstock; Alexey </a:t>
            </a:r>
            <a:r>
              <a:rPr lang="en-US" sz="1200" dirty="0" err="1"/>
              <a:t>Fursov</a:t>
            </a:r>
            <a:r>
              <a:rPr lang="en-US" sz="1200" dirty="0"/>
              <a:t>/Shutterstock; </a:t>
            </a:r>
            <a:r>
              <a:rPr lang="en-US" sz="1200" dirty="0" err="1"/>
              <a:t>Hacohob</a:t>
            </a:r>
            <a:r>
              <a:rPr lang="en-US" sz="1200" dirty="0"/>
              <a:t>/Shutterstock; </a:t>
            </a:r>
            <a:r>
              <a:rPr lang="en-US" sz="1200" dirty="0" err="1"/>
              <a:t>Syda</a:t>
            </a:r>
            <a:r>
              <a:rPr lang="en-US" sz="1200" dirty="0"/>
              <a:t> Productions/Shutterstock)</a:t>
            </a:r>
          </a:p>
        </p:txBody>
      </p:sp>
    </p:spTree>
    <p:extLst>
      <p:ext uri="{BB962C8B-B14F-4D97-AF65-F5344CB8AC3E}">
        <p14:creationId xmlns:p14="http://schemas.microsoft.com/office/powerpoint/2010/main" val="2518907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E16B8-A46E-4DE0-A71D-DA86984884B2}"/>
              </a:ext>
            </a:extLst>
          </p:cNvPr>
          <p:cNvSpPr>
            <a:spLocks noGrp="1"/>
          </p:cNvSpPr>
          <p:nvPr>
            <p:ph type="title"/>
          </p:nvPr>
        </p:nvSpPr>
        <p:spPr>
          <a:xfrm>
            <a:off x="457200" y="215371"/>
            <a:ext cx="8229600" cy="1318961"/>
          </a:xfrm>
        </p:spPr>
        <p:txBody>
          <a:bodyPr/>
          <a:lstStyle/>
          <a:p>
            <a:r>
              <a:rPr lang="en-US" sz="2800" dirty="0"/>
              <a:t>Figure 4-2: Project Selection Decisions Must Consider Numerous Factors and Can Have Numerous Outcomes</a:t>
            </a:r>
          </a:p>
        </p:txBody>
      </p:sp>
      <p:pic>
        <p:nvPicPr>
          <p:cNvPr id="4" name="Picture 3" descr="The diagram shows the following five project selection factors.  &#10;Existing and available resources, Perceived and real needs, List of potential and ongoing projects, Current organizational environment, Evaluation criteria.&#10;The following six decision outcomes are possible. Accept project, Reject project, Delay project, Refocus project, End user development, Proof of concept.&#10;">
            <a:extLst>
              <a:ext uri="{FF2B5EF4-FFF2-40B4-BE49-F238E27FC236}">
                <a16:creationId xmlns:a16="http://schemas.microsoft.com/office/drawing/2014/main" id="{3401117F-3568-46CE-8A27-B776A622B215}"/>
              </a:ext>
            </a:extLst>
          </p:cNvPr>
          <p:cNvPicPr>
            <a:picLocks noChangeAspect="1"/>
          </p:cNvPicPr>
          <p:nvPr/>
        </p:nvPicPr>
        <p:blipFill>
          <a:blip r:embed="rId2"/>
          <a:stretch>
            <a:fillRect/>
          </a:stretch>
        </p:blipFill>
        <p:spPr>
          <a:xfrm>
            <a:off x="841743" y="1793559"/>
            <a:ext cx="7460515" cy="4396621"/>
          </a:xfrm>
          <a:prstGeom prst="rect">
            <a:avLst/>
          </a:prstGeom>
        </p:spPr>
      </p:pic>
    </p:spTree>
    <p:extLst>
      <p:ext uri="{BB962C8B-B14F-4D97-AF65-F5344CB8AC3E}">
        <p14:creationId xmlns:p14="http://schemas.microsoft.com/office/powerpoint/2010/main" val="3100937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FDFE7-35BF-4143-A599-307BFBC8A4CF}"/>
              </a:ext>
            </a:extLst>
          </p:cNvPr>
          <p:cNvSpPr>
            <a:spLocks noGrp="1"/>
          </p:cNvSpPr>
          <p:nvPr>
            <p:ph type="title"/>
          </p:nvPr>
        </p:nvSpPr>
        <p:spPr>
          <a:xfrm>
            <a:off x="457199" y="215371"/>
            <a:ext cx="8583561" cy="1097279"/>
          </a:xfrm>
        </p:spPr>
        <p:txBody>
          <a:bodyPr/>
          <a:lstStyle/>
          <a:p>
            <a:r>
              <a:rPr lang="en-US" sz="3400" dirty="0"/>
              <a:t>Table 4-3: Elements of Project Initiation</a:t>
            </a:r>
          </a:p>
        </p:txBody>
      </p:sp>
      <p:graphicFrame>
        <p:nvGraphicFramePr>
          <p:cNvPr id="4" name="Table 3">
            <a:extLst>
              <a:ext uri="{FF2B5EF4-FFF2-40B4-BE49-F238E27FC236}">
                <a16:creationId xmlns:a16="http://schemas.microsoft.com/office/drawing/2014/main" id="{74781C36-8E9D-45E1-BDDE-25EEE49ED718}"/>
              </a:ext>
            </a:extLst>
          </p:cNvPr>
          <p:cNvGraphicFramePr>
            <a:graphicFrameLocks noGrp="1"/>
          </p:cNvGraphicFramePr>
          <p:nvPr>
            <p:extLst>
              <p:ext uri="{D42A27DB-BD31-4B8C-83A1-F6EECF244321}">
                <p14:modId xmlns:p14="http://schemas.microsoft.com/office/powerpoint/2010/main" val="362890741"/>
              </p:ext>
            </p:extLst>
          </p:nvPr>
        </p:nvGraphicFramePr>
        <p:xfrm>
          <a:off x="539749" y="1765709"/>
          <a:ext cx="7113653" cy="4082220"/>
        </p:xfrm>
        <a:graphic>
          <a:graphicData uri="http://schemas.openxmlformats.org/drawingml/2006/table">
            <a:tbl>
              <a:tblPr firstRow="1" bandRow="1">
                <a:tableStyleId>{2D5ABB26-0587-4C30-8999-92F81FD0307C}</a:tableStyleId>
              </a:tblPr>
              <a:tblGrid>
                <a:gridCol w="7113653">
                  <a:extLst>
                    <a:ext uri="{9D8B030D-6E8A-4147-A177-3AD203B41FA5}">
                      <a16:colId xmlns:a16="http://schemas.microsoft.com/office/drawing/2014/main" val="1436363892"/>
                    </a:ext>
                  </a:extLst>
                </a:gridCol>
              </a:tblGrid>
              <a:tr h="543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t>Elements of Project Initiation</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7015367"/>
                  </a:ext>
                </a:extLst>
              </a:tr>
              <a:tr h="543210">
                <a:tc>
                  <a:txBody>
                    <a:bodyPr/>
                    <a:lstStyle/>
                    <a:p>
                      <a:pPr marL="256032" marR="0" lvl="0" indent="-256032" algn="l" defTabSz="914400" rtl="0" eaLnBrk="1" fontAlgn="auto" latinLnBrk="0" hangingPunct="1">
                        <a:lnSpc>
                          <a:spcPct val="100000"/>
                        </a:lnSpc>
                        <a:spcBef>
                          <a:spcPts val="1500"/>
                        </a:spcBef>
                        <a:spcAft>
                          <a:spcPts val="0"/>
                        </a:spcAft>
                        <a:buClr>
                          <a:srgbClr val="007FA3"/>
                        </a:buClr>
                        <a:buSzTx/>
                        <a:buFont typeface="Arial" panose="020B0604020202020204" pitchFamily="34" charset="0"/>
                        <a:buChar char="•"/>
                        <a:tabLst/>
                        <a:defRPr/>
                      </a:pPr>
                      <a:r>
                        <a:rPr lang="en-US" sz="2400" dirty="0"/>
                        <a:t>Establishing the project initiation 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8478137"/>
                  </a:ext>
                </a:extLst>
              </a:tr>
              <a:tr h="543210">
                <a:tc>
                  <a:txBody>
                    <a:bodyPr/>
                    <a:lstStyle/>
                    <a:p>
                      <a:pPr marL="256032" indent="-256032">
                        <a:spcBef>
                          <a:spcPts val="1500"/>
                        </a:spcBef>
                        <a:buClr>
                          <a:srgbClr val="007FA3"/>
                        </a:buClr>
                        <a:buFont typeface="Arial" panose="020B0604020202020204" pitchFamily="34" charset="0"/>
                        <a:buChar char="•"/>
                      </a:pPr>
                      <a:r>
                        <a:rPr lang="en-US" sz="2400" dirty="0"/>
                        <a:t>Establishing a relationship with the customer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012541"/>
                  </a:ext>
                </a:extLst>
              </a:tr>
              <a:tr h="543210">
                <a:tc>
                  <a:txBody>
                    <a:bodyPr/>
                    <a:lstStyle/>
                    <a:p>
                      <a:pPr marL="256032" indent="-256032">
                        <a:spcBef>
                          <a:spcPts val="1500"/>
                        </a:spcBef>
                        <a:buClr>
                          <a:srgbClr val="007FA3"/>
                        </a:buClr>
                        <a:buFont typeface="Arial" panose="020B0604020202020204" pitchFamily="34" charset="0"/>
                        <a:buChar char="•"/>
                      </a:pPr>
                      <a:r>
                        <a:rPr lang="en-US" sz="2400" dirty="0"/>
                        <a:t>Establishing the project initiation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2646325"/>
                  </a:ext>
                </a:extLst>
              </a:tr>
              <a:tr h="543210">
                <a:tc>
                  <a:txBody>
                    <a:bodyPr/>
                    <a:lstStyle/>
                    <a:p>
                      <a:pPr marL="256032" indent="-256032">
                        <a:spcBef>
                          <a:spcPts val="1500"/>
                        </a:spcBef>
                        <a:buClr>
                          <a:srgbClr val="007FA3"/>
                        </a:buClr>
                        <a:buFont typeface="Arial" panose="020B0604020202020204" pitchFamily="34" charset="0"/>
                        <a:buChar char="•"/>
                      </a:pPr>
                      <a:r>
                        <a:rPr lang="en-US" sz="2400" dirty="0"/>
                        <a:t>Establishing management procedures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6177304"/>
                  </a:ext>
                </a:extLst>
              </a:tr>
              <a:tr h="821197">
                <a:tc>
                  <a:txBody>
                    <a:bodyPr/>
                    <a:lstStyle/>
                    <a:p>
                      <a:pPr marL="256032" indent="-256032">
                        <a:spcBef>
                          <a:spcPts val="1500"/>
                        </a:spcBef>
                        <a:buClr>
                          <a:srgbClr val="007FA3"/>
                        </a:buClr>
                        <a:buFont typeface="Arial" panose="020B0604020202020204" pitchFamily="34" charset="0"/>
                        <a:buChar char="•"/>
                      </a:pPr>
                      <a:r>
                        <a:rPr lang="en-US" sz="2400" dirty="0"/>
                        <a:t>Establishing the project management environment and project workbook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4014522"/>
                  </a:ext>
                </a:extLst>
              </a:tr>
              <a:tr h="543210">
                <a:tc>
                  <a:txBody>
                    <a:bodyPr/>
                    <a:lstStyle/>
                    <a:p>
                      <a:pPr marL="256032" indent="-256032">
                        <a:spcBef>
                          <a:spcPts val="1500"/>
                        </a:spcBef>
                        <a:buClr>
                          <a:srgbClr val="007FA3"/>
                        </a:buClr>
                        <a:buFont typeface="Arial" panose="020B0604020202020204" pitchFamily="34" charset="0"/>
                        <a:buChar char="•"/>
                      </a:pPr>
                      <a:r>
                        <a:rPr lang="en-US" sz="2400" dirty="0"/>
                        <a:t>Developing the project charter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910132"/>
                  </a:ext>
                </a:extLst>
              </a:tr>
            </a:tbl>
          </a:graphicData>
        </a:graphic>
      </p:graphicFrame>
      <p:sp>
        <p:nvSpPr>
          <p:cNvPr id="3" name="TextBox 2">
            <a:extLst>
              <a:ext uri="{FF2B5EF4-FFF2-40B4-BE49-F238E27FC236}">
                <a16:creationId xmlns:a16="http://schemas.microsoft.com/office/drawing/2014/main" id="{87E88331-5A7F-4D8A-808A-32FA171A67AC}"/>
              </a:ext>
            </a:extLst>
          </p:cNvPr>
          <p:cNvSpPr txBox="1"/>
          <p:nvPr/>
        </p:nvSpPr>
        <p:spPr>
          <a:xfrm>
            <a:off x="539750" y="5846164"/>
            <a:ext cx="6985312" cy="307777"/>
          </a:xfrm>
          <a:prstGeom prst="rect">
            <a:avLst/>
          </a:prstGeom>
          <a:noFill/>
        </p:spPr>
        <p:txBody>
          <a:bodyPr wrap="square" rtlCol="0">
            <a:spAutoFit/>
          </a:bodyPr>
          <a:lstStyle/>
          <a:p>
            <a:r>
              <a:rPr lang="en-US" dirty="0"/>
              <a:t>#Refer Topic 3, slide 12</a:t>
            </a:r>
            <a:endParaRPr lang="en-MY" dirty="0"/>
          </a:p>
        </p:txBody>
      </p:sp>
    </p:spTree>
    <p:extLst>
      <p:ext uri="{BB962C8B-B14F-4D97-AF65-F5344CB8AC3E}">
        <p14:creationId xmlns:p14="http://schemas.microsoft.com/office/powerpoint/2010/main" val="3644554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FDFE7-35BF-4143-A599-307BFBC8A4CF}"/>
              </a:ext>
            </a:extLst>
          </p:cNvPr>
          <p:cNvSpPr>
            <a:spLocks noGrp="1"/>
          </p:cNvSpPr>
          <p:nvPr>
            <p:ph type="title"/>
          </p:nvPr>
        </p:nvSpPr>
        <p:spPr>
          <a:xfrm>
            <a:off x="457199" y="215371"/>
            <a:ext cx="8360229" cy="1097279"/>
          </a:xfrm>
        </p:spPr>
        <p:txBody>
          <a:bodyPr/>
          <a:lstStyle/>
          <a:p>
            <a:r>
              <a:rPr lang="en-US" sz="3400" dirty="0"/>
              <a:t>Table 4-4: Elements of Project Planning</a:t>
            </a:r>
          </a:p>
        </p:txBody>
      </p:sp>
      <p:graphicFrame>
        <p:nvGraphicFramePr>
          <p:cNvPr id="4" name="Table 3">
            <a:extLst>
              <a:ext uri="{FF2B5EF4-FFF2-40B4-BE49-F238E27FC236}">
                <a16:creationId xmlns:a16="http://schemas.microsoft.com/office/drawing/2014/main" id="{74781C36-8E9D-45E1-BDDE-25EEE49ED718}"/>
              </a:ext>
            </a:extLst>
          </p:cNvPr>
          <p:cNvGraphicFramePr>
            <a:graphicFrameLocks noGrp="1"/>
          </p:cNvGraphicFramePr>
          <p:nvPr>
            <p:extLst>
              <p:ext uri="{D42A27DB-BD31-4B8C-83A1-F6EECF244321}">
                <p14:modId xmlns:p14="http://schemas.microsoft.com/office/powerpoint/2010/main" val="368360340"/>
              </p:ext>
            </p:extLst>
          </p:nvPr>
        </p:nvGraphicFramePr>
        <p:xfrm>
          <a:off x="457199" y="1314540"/>
          <a:ext cx="7781290" cy="5029200"/>
        </p:xfrm>
        <a:graphic>
          <a:graphicData uri="http://schemas.openxmlformats.org/drawingml/2006/table">
            <a:tbl>
              <a:tblPr firstRow="1" bandRow="1">
                <a:tableStyleId>{2D5ABB26-0587-4C30-8999-92F81FD0307C}</a:tableStyleId>
              </a:tblPr>
              <a:tblGrid>
                <a:gridCol w="7781290">
                  <a:extLst>
                    <a:ext uri="{9D8B030D-6E8A-4147-A177-3AD203B41FA5}">
                      <a16:colId xmlns:a16="http://schemas.microsoft.com/office/drawing/2014/main" val="143636389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t>Elements of Project Planning</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7015367"/>
                  </a:ext>
                </a:extLst>
              </a:tr>
              <a:tr h="370840">
                <a:tc>
                  <a:txBody>
                    <a:bodyPr/>
                    <a:lstStyle/>
                    <a:p>
                      <a:pPr marL="256032" indent="-256032">
                        <a:buClr>
                          <a:srgbClr val="007FA3"/>
                        </a:buClr>
                        <a:buFont typeface="Arial" panose="020B0604020202020204" pitchFamily="34" charset="0"/>
                        <a:buChar char="•"/>
                      </a:pPr>
                      <a:r>
                        <a:rPr lang="en-US" sz="2400" dirty="0"/>
                        <a:t>Describing the project scope, alternatives, and feasibility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8478137"/>
                  </a:ext>
                </a:extLst>
              </a:tr>
              <a:tr h="370840">
                <a:tc>
                  <a:txBody>
                    <a:bodyPr/>
                    <a:lstStyle/>
                    <a:p>
                      <a:pPr marL="256032" indent="-256032">
                        <a:buClr>
                          <a:srgbClr val="007FA3"/>
                        </a:buClr>
                        <a:buFont typeface="Arial" panose="020B0604020202020204" pitchFamily="34" charset="0"/>
                        <a:buChar char="•"/>
                      </a:pPr>
                      <a:r>
                        <a:rPr lang="en-US" sz="2400" dirty="0"/>
                        <a:t>Dividing the project into manageable tasks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012541"/>
                  </a:ext>
                </a:extLst>
              </a:tr>
              <a:tr h="370840">
                <a:tc>
                  <a:txBody>
                    <a:bodyPr/>
                    <a:lstStyle/>
                    <a:p>
                      <a:pPr marL="256032" indent="-256032">
                        <a:buClr>
                          <a:srgbClr val="007FA3"/>
                        </a:buClr>
                        <a:buFont typeface="Arial" panose="020B0604020202020204" pitchFamily="34" charset="0"/>
                        <a:buChar char="•"/>
                      </a:pPr>
                      <a:r>
                        <a:rPr lang="en-US" sz="2400" dirty="0"/>
                        <a:t>Estimating resources and creating a resource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2646325"/>
                  </a:ext>
                </a:extLst>
              </a:tr>
              <a:tr h="370840">
                <a:tc>
                  <a:txBody>
                    <a:bodyPr/>
                    <a:lstStyle/>
                    <a:p>
                      <a:pPr marL="256032" indent="-256032">
                        <a:buClr>
                          <a:srgbClr val="007FA3"/>
                        </a:buClr>
                        <a:buFont typeface="Arial" panose="020B0604020202020204" pitchFamily="34" charset="0"/>
                        <a:buChar char="•"/>
                      </a:pPr>
                      <a:r>
                        <a:rPr lang="en-US" sz="2400" dirty="0"/>
                        <a:t>Developing a preliminary schedule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6177304"/>
                  </a:ext>
                </a:extLst>
              </a:tr>
              <a:tr h="370840">
                <a:tc>
                  <a:txBody>
                    <a:bodyPr/>
                    <a:lstStyle/>
                    <a:p>
                      <a:pPr marL="256032" indent="-256032">
                        <a:buClr>
                          <a:srgbClr val="007FA3"/>
                        </a:buClr>
                        <a:buFont typeface="Arial" panose="020B0604020202020204" pitchFamily="34" charset="0"/>
                        <a:buChar char="•"/>
                      </a:pPr>
                      <a:r>
                        <a:rPr lang="en-US" sz="2400" dirty="0"/>
                        <a:t>Developing a communication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4014522"/>
                  </a:ext>
                </a:extLst>
              </a:tr>
              <a:tr h="370840">
                <a:tc>
                  <a:txBody>
                    <a:bodyPr/>
                    <a:lstStyle/>
                    <a:p>
                      <a:pPr marL="256032" indent="-256032">
                        <a:buClr>
                          <a:srgbClr val="007FA3"/>
                        </a:buClr>
                        <a:buFont typeface="Arial" panose="020B0604020202020204" pitchFamily="34" charset="0"/>
                        <a:buChar char="•"/>
                      </a:pPr>
                      <a:r>
                        <a:rPr lang="en-US" sz="2400" dirty="0"/>
                        <a:t>Determining project standards and procedures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910132"/>
                  </a:ext>
                </a:extLst>
              </a:tr>
              <a:tr h="370840">
                <a:tc>
                  <a:txBody>
                    <a:bodyPr/>
                    <a:lstStyle/>
                    <a:p>
                      <a:pPr marL="256032" indent="-256032">
                        <a:buClr>
                          <a:srgbClr val="007FA3"/>
                        </a:buClr>
                        <a:buFont typeface="Arial" panose="020B0604020202020204" pitchFamily="34" charset="0"/>
                        <a:buChar char="•"/>
                      </a:pPr>
                      <a:r>
                        <a:rPr lang="en-US" sz="2400" dirty="0"/>
                        <a:t>Identifying and assessing 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1836183"/>
                  </a:ext>
                </a:extLst>
              </a:tr>
              <a:tr h="370840">
                <a:tc>
                  <a:txBody>
                    <a:bodyPr/>
                    <a:lstStyle/>
                    <a:p>
                      <a:pPr marL="256032" indent="-256032">
                        <a:buClr>
                          <a:srgbClr val="007FA3"/>
                        </a:buClr>
                        <a:buFont typeface="Arial" panose="020B0604020202020204" pitchFamily="34" charset="0"/>
                        <a:buChar char="•"/>
                      </a:pPr>
                      <a:r>
                        <a:rPr lang="en-US" sz="2400" dirty="0"/>
                        <a:t>Creating a preliminary budget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0618295"/>
                  </a:ext>
                </a:extLst>
              </a:tr>
              <a:tr h="370840">
                <a:tc>
                  <a:txBody>
                    <a:bodyPr/>
                    <a:lstStyle/>
                    <a:p>
                      <a:pPr marL="256032" indent="-256032">
                        <a:buClr>
                          <a:srgbClr val="007FA3"/>
                        </a:buClr>
                        <a:buFont typeface="Arial" panose="020B0604020202020204" pitchFamily="34" charset="0"/>
                        <a:buChar char="•"/>
                      </a:pPr>
                      <a:r>
                        <a:rPr lang="en-US" sz="2400" dirty="0"/>
                        <a:t>Developing the project scope statement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1518863"/>
                  </a:ext>
                </a:extLst>
              </a:tr>
              <a:tr h="370840">
                <a:tc>
                  <a:txBody>
                    <a:bodyPr/>
                    <a:lstStyle/>
                    <a:p>
                      <a:pPr marL="256032" marR="0" lvl="0" indent="-256032" algn="l" defTabSz="914400" rtl="0" eaLnBrk="1" fontAlgn="auto" latinLnBrk="0" hangingPunct="1">
                        <a:lnSpc>
                          <a:spcPct val="100000"/>
                        </a:lnSpc>
                        <a:spcBef>
                          <a:spcPts val="0"/>
                        </a:spcBef>
                        <a:spcAft>
                          <a:spcPts val="0"/>
                        </a:spcAft>
                        <a:buClr>
                          <a:srgbClr val="007FA3"/>
                        </a:buClr>
                        <a:buSzTx/>
                        <a:buFont typeface="Arial" panose="020B0604020202020204" pitchFamily="34" charset="0"/>
                        <a:buChar char="•"/>
                        <a:tabLst/>
                        <a:defRPr/>
                      </a:pPr>
                      <a:r>
                        <a:rPr lang="en-US" sz="2400" dirty="0"/>
                        <a:t>Setting a baseline project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7271600"/>
                  </a:ext>
                </a:extLst>
              </a:tr>
            </a:tbl>
          </a:graphicData>
        </a:graphic>
      </p:graphicFrame>
      <p:sp>
        <p:nvSpPr>
          <p:cNvPr id="5" name="TextBox 4">
            <a:extLst>
              <a:ext uri="{FF2B5EF4-FFF2-40B4-BE49-F238E27FC236}">
                <a16:creationId xmlns:a16="http://schemas.microsoft.com/office/drawing/2014/main" id="{1070F409-2023-48E3-8626-821BC38B096B}"/>
              </a:ext>
            </a:extLst>
          </p:cNvPr>
          <p:cNvSpPr txBox="1"/>
          <p:nvPr/>
        </p:nvSpPr>
        <p:spPr>
          <a:xfrm>
            <a:off x="548796" y="6303509"/>
            <a:ext cx="6985312" cy="307777"/>
          </a:xfrm>
          <a:prstGeom prst="rect">
            <a:avLst/>
          </a:prstGeom>
          <a:noFill/>
        </p:spPr>
        <p:txBody>
          <a:bodyPr wrap="square" rtlCol="0">
            <a:spAutoFit/>
          </a:bodyPr>
          <a:lstStyle/>
          <a:p>
            <a:r>
              <a:rPr lang="en-US" dirty="0"/>
              <a:t>#Refer Topic 3, slide 15</a:t>
            </a:r>
            <a:endParaRPr lang="en-MY" dirty="0"/>
          </a:p>
        </p:txBody>
      </p:sp>
    </p:spTree>
    <p:extLst>
      <p:ext uri="{BB962C8B-B14F-4D97-AF65-F5344CB8AC3E}">
        <p14:creationId xmlns:p14="http://schemas.microsoft.com/office/powerpoint/2010/main" val="1878814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7CC731-AB01-4EDA-93C3-7B9B0CCF3A0A}"/>
              </a:ext>
            </a:extLst>
          </p:cNvPr>
          <p:cNvSpPr>
            <a:spLocks noGrp="1"/>
          </p:cNvSpPr>
          <p:nvPr>
            <p:ph type="title"/>
          </p:nvPr>
        </p:nvSpPr>
        <p:spPr/>
        <p:txBody>
          <a:bodyPr/>
          <a:lstStyle/>
          <a:p>
            <a:r>
              <a:rPr lang="en-US" dirty="0"/>
              <a:t>Deliverables and Outcomes </a:t>
            </a:r>
            <a:r>
              <a:rPr lang="en-US" sz="2000" b="0" dirty="0"/>
              <a:t>(1 of 2)</a:t>
            </a:r>
            <a:endParaRPr lang="en-US" b="0" dirty="0"/>
          </a:p>
        </p:txBody>
      </p:sp>
      <p:sp>
        <p:nvSpPr>
          <p:cNvPr id="6" name="Content Placeholder 5">
            <a:extLst>
              <a:ext uri="{FF2B5EF4-FFF2-40B4-BE49-F238E27FC236}">
                <a16:creationId xmlns:a16="http://schemas.microsoft.com/office/drawing/2014/main" id="{DCA2A433-AFDB-459D-885F-3569B6AFC68A}"/>
              </a:ext>
            </a:extLst>
          </p:cNvPr>
          <p:cNvSpPr>
            <a:spLocks noGrp="1"/>
          </p:cNvSpPr>
          <p:nvPr>
            <p:ph sz="quarter" idx="14"/>
          </p:nvPr>
        </p:nvSpPr>
        <p:spPr>
          <a:xfrm>
            <a:off x="353961" y="1630510"/>
            <a:ext cx="8332839" cy="4005792"/>
          </a:xfrm>
        </p:spPr>
        <p:txBody>
          <a:bodyPr/>
          <a:lstStyle/>
          <a:p>
            <a:pPr indent="-256032"/>
            <a:r>
              <a:rPr lang="en-US" b="1" dirty="0">
                <a:solidFill>
                  <a:srgbClr val="FF0000"/>
                </a:solidFill>
              </a:rPr>
              <a:t>Business case </a:t>
            </a:r>
            <a:r>
              <a:rPr lang="en-US" dirty="0"/>
              <a:t>– justification for an information system, presented in terms of the tangible and intangible economic benefits and costs and the technical and organizational feasibility of the proposed system</a:t>
            </a:r>
          </a:p>
          <a:p>
            <a:pPr indent="-256032"/>
            <a:r>
              <a:rPr lang="en-US" b="1" dirty="0">
                <a:solidFill>
                  <a:srgbClr val="FF0000"/>
                </a:solidFill>
              </a:rPr>
              <a:t>Baseline Project Plan (B</a:t>
            </a:r>
            <a:r>
              <a:rPr lang="en-US" sz="100" b="1" dirty="0">
                <a:solidFill>
                  <a:srgbClr val="FF0000"/>
                </a:solidFill>
              </a:rPr>
              <a:t> </a:t>
            </a:r>
            <a:r>
              <a:rPr lang="en-US" b="1" dirty="0">
                <a:solidFill>
                  <a:srgbClr val="FF0000"/>
                </a:solidFill>
              </a:rPr>
              <a:t>P</a:t>
            </a:r>
            <a:r>
              <a:rPr lang="en-US" sz="100" b="1" dirty="0">
                <a:solidFill>
                  <a:srgbClr val="FF0000"/>
                </a:solidFill>
              </a:rPr>
              <a:t> </a:t>
            </a:r>
            <a:r>
              <a:rPr lang="en-US" b="1" dirty="0">
                <a:solidFill>
                  <a:srgbClr val="FF0000"/>
                </a:solidFill>
              </a:rPr>
              <a:t>P) </a:t>
            </a:r>
            <a:r>
              <a:rPr lang="en-US" dirty="0"/>
              <a:t>– major outcome and deliverable from the project initiation and planning phase that contains the best estimate of a project’s scope, benefits, costs, risks, and resource requirements</a:t>
            </a:r>
          </a:p>
          <a:p>
            <a:pPr indent="-256032"/>
            <a:r>
              <a:rPr lang="en-US" b="1" dirty="0">
                <a:solidFill>
                  <a:srgbClr val="FF0000"/>
                </a:solidFill>
              </a:rPr>
              <a:t>Project Scope Statement (P</a:t>
            </a:r>
            <a:r>
              <a:rPr lang="en-US" sz="100" b="1" dirty="0">
                <a:solidFill>
                  <a:srgbClr val="FF0000"/>
                </a:solidFill>
              </a:rPr>
              <a:t> </a:t>
            </a:r>
            <a:r>
              <a:rPr lang="en-US" b="1" dirty="0">
                <a:solidFill>
                  <a:srgbClr val="FF0000"/>
                </a:solidFill>
              </a:rPr>
              <a:t>S</a:t>
            </a:r>
            <a:r>
              <a:rPr lang="en-US" sz="100" b="1" dirty="0">
                <a:solidFill>
                  <a:srgbClr val="FF0000"/>
                </a:solidFill>
              </a:rPr>
              <a:t> </a:t>
            </a:r>
            <a:r>
              <a:rPr lang="en-US" b="1" dirty="0">
                <a:solidFill>
                  <a:srgbClr val="FF0000"/>
                </a:solidFill>
              </a:rPr>
              <a:t>S) </a:t>
            </a:r>
            <a:r>
              <a:rPr lang="en-US" dirty="0">
                <a:solidFill>
                  <a:schemeClr val="tx1"/>
                </a:solidFill>
              </a:rPr>
              <a:t>– document prepared for the customer that describes what the project will deliver and outlines generally at a high level all work required to complete the project</a:t>
            </a:r>
          </a:p>
          <a:p>
            <a:pPr marL="0" indent="0">
              <a:buNone/>
            </a:pPr>
            <a:endParaRPr lang="en-US" dirty="0"/>
          </a:p>
        </p:txBody>
      </p:sp>
    </p:spTree>
    <p:extLst>
      <p:ext uri="{BB962C8B-B14F-4D97-AF65-F5344CB8AC3E}">
        <p14:creationId xmlns:p14="http://schemas.microsoft.com/office/powerpoint/2010/main" val="1705091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D820CB-354C-4D27-8461-FC49F6FB969F}"/>
              </a:ext>
            </a:extLst>
          </p:cNvPr>
          <p:cNvSpPr>
            <a:spLocks noGrp="1"/>
          </p:cNvSpPr>
          <p:nvPr>
            <p:ph type="title"/>
          </p:nvPr>
        </p:nvSpPr>
        <p:spPr/>
        <p:txBody>
          <a:bodyPr/>
          <a:lstStyle/>
          <a:p>
            <a:r>
              <a:rPr lang="en-US" sz="4000" dirty="0">
                <a:effectLst>
                  <a:outerShdw blurRad="38100" dist="38100" dir="2700000" algn="tl">
                    <a:srgbClr val="000000">
                      <a:alpha val="43137"/>
                    </a:srgbClr>
                  </a:outerShdw>
                </a:effectLst>
              </a:rPr>
              <a:t>2. Initiation and Planning Projects</a:t>
            </a:r>
          </a:p>
        </p:txBody>
      </p:sp>
      <p:sp>
        <p:nvSpPr>
          <p:cNvPr id="6" name="Content Placeholder 5">
            <a:extLst>
              <a:ext uri="{FF2B5EF4-FFF2-40B4-BE49-F238E27FC236}">
                <a16:creationId xmlns:a16="http://schemas.microsoft.com/office/drawing/2014/main" id="{4EE131B3-4593-4834-8F92-56EC2B849EDB}"/>
              </a:ext>
            </a:extLst>
          </p:cNvPr>
          <p:cNvSpPr>
            <a:spLocks noGrp="1"/>
          </p:cNvSpPr>
          <p:nvPr>
            <p:ph sz="quarter" idx="14"/>
          </p:nvPr>
        </p:nvSpPr>
        <p:spPr>
          <a:xfrm>
            <a:off x="457200" y="1638177"/>
            <a:ext cx="8229600" cy="4362573"/>
          </a:xfrm>
        </p:spPr>
        <p:txBody>
          <a:bodyPr/>
          <a:lstStyle/>
          <a:p>
            <a:pPr indent="-256032"/>
            <a:r>
              <a:rPr lang="en-US" sz="2800" dirty="0"/>
              <a:t>When does project initiation and planning (P</a:t>
            </a:r>
            <a:r>
              <a:rPr lang="en-US" sz="300" dirty="0"/>
              <a:t> </a:t>
            </a:r>
            <a:r>
              <a:rPr lang="en-US" sz="2800" dirty="0"/>
              <a:t>I</a:t>
            </a:r>
            <a:r>
              <a:rPr lang="en-US" sz="300" dirty="0"/>
              <a:t> </a:t>
            </a:r>
            <a:r>
              <a:rPr lang="en-US" sz="2800" dirty="0"/>
              <a:t>P) end and execution begin?</a:t>
            </a:r>
          </a:p>
          <a:p>
            <a:pPr indent="-256032"/>
            <a:r>
              <a:rPr lang="en-US" sz="2800" dirty="0"/>
              <a:t>Three important questions must be considered when making this decision:</a:t>
            </a:r>
          </a:p>
          <a:p>
            <a:pPr marL="740664" lvl="1"/>
            <a:r>
              <a:rPr lang="en-US" sz="2800" dirty="0">
                <a:solidFill>
                  <a:srgbClr val="FF0000"/>
                </a:solidFill>
              </a:rPr>
              <a:t>How much effort </a:t>
            </a:r>
            <a:r>
              <a:rPr lang="en-US" sz="2800" dirty="0"/>
              <a:t>should be expended on the project initiation and planning phase?</a:t>
            </a:r>
          </a:p>
          <a:p>
            <a:pPr marL="740664" lvl="1"/>
            <a:r>
              <a:rPr lang="en-US" sz="2800" dirty="0">
                <a:solidFill>
                  <a:srgbClr val="FF0000"/>
                </a:solidFill>
              </a:rPr>
              <a:t>Who is responsible </a:t>
            </a:r>
            <a:r>
              <a:rPr lang="en-US" sz="2800" dirty="0"/>
              <a:t>for performing the project initiation and planning process?</a:t>
            </a:r>
          </a:p>
          <a:p>
            <a:pPr marL="740664" lvl="1"/>
            <a:r>
              <a:rPr lang="en-US" sz="2800" dirty="0">
                <a:solidFill>
                  <a:srgbClr val="FF0000"/>
                </a:solidFill>
              </a:rPr>
              <a:t>Why is </a:t>
            </a:r>
            <a:r>
              <a:rPr lang="en-US" sz="2800" dirty="0"/>
              <a:t>project initiation and planning such a </a:t>
            </a:r>
            <a:r>
              <a:rPr lang="en-US" sz="2800" dirty="0">
                <a:solidFill>
                  <a:srgbClr val="FF0000"/>
                </a:solidFill>
              </a:rPr>
              <a:t>challenging activity</a:t>
            </a:r>
            <a:r>
              <a:rPr lang="en-US" sz="2800" dirty="0"/>
              <a:t>?</a:t>
            </a:r>
          </a:p>
        </p:txBody>
      </p:sp>
    </p:spTree>
    <p:extLst>
      <p:ext uri="{BB962C8B-B14F-4D97-AF65-F5344CB8AC3E}">
        <p14:creationId xmlns:p14="http://schemas.microsoft.com/office/powerpoint/2010/main" val="3242893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7CA91-D3D9-41B6-8B4B-CD9746F28D07}"/>
              </a:ext>
            </a:extLst>
          </p:cNvPr>
          <p:cNvSpPr>
            <a:spLocks noGrp="1"/>
          </p:cNvSpPr>
          <p:nvPr>
            <p:ph type="title"/>
          </p:nvPr>
        </p:nvSpPr>
        <p:spPr/>
        <p:txBody>
          <a:bodyPr/>
          <a:lstStyle/>
          <a:p>
            <a:r>
              <a:rPr lang="en-US" dirty="0"/>
              <a:t>Assessing Project Feasibility</a:t>
            </a:r>
          </a:p>
        </p:txBody>
      </p:sp>
      <p:sp>
        <p:nvSpPr>
          <p:cNvPr id="4" name="Content Placeholder 3">
            <a:extLst>
              <a:ext uri="{FF2B5EF4-FFF2-40B4-BE49-F238E27FC236}">
                <a16:creationId xmlns:a16="http://schemas.microsoft.com/office/drawing/2014/main" id="{101957DF-CCD8-446C-9147-E0390B76A2FD}"/>
              </a:ext>
            </a:extLst>
          </p:cNvPr>
          <p:cNvSpPr>
            <a:spLocks noGrp="1"/>
          </p:cNvSpPr>
          <p:nvPr>
            <p:ph sz="quarter" idx="14"/>
          </p:nvPr>
        </p:nvSpPr>
        <p:spPr>
          <a:xfrm>
            <a:off x="457200" y="1614948"/>
            <a:ext cx="8229600" cy="3628103"/>
          </a:xfrm>
        </p:spPr>
        <p:txBody>
          <a:bodyPr/>
          <a:lstStyle/>
          <a:p>
            <a:pPr indent="-256032"/>
            <a:r>
              <a:rPr lang="en-US" sz="2800" dirty="0">
                <a:solidFill>
                  <a:srgbClr val="FF0000"/>
                </a:solidFill>
              </a:rPr>
              <a:t>Most feasibility factors </a:t>
            </a:r>
            <a:r>
              <a:rPr lang="en-US" sz="2800" dirty="0"/>
              <a:t>are represented by the following categories:</a:t>
            </a:r>
          </a:p>
          <a:p>
            <a:pPr marL="740664" lvl="1" indent="-283464"/>
            <a:r>
              <a:rPr lang="en-US" sz="2800" dirty="0"/>
              <a:t>Economic</a:t>
            </a:r>
          </a:p>
          <a:p>
            <a:pPr marL="740664" lvl="1" indent="-283464"/>
            <a:r>
              <a:rPr lang="en-US" sz="2800" dirty="0"/>
              <a:t>Technical</a:t>
            </a:r>
          </a:p>
          <a:p>
            <a:pPr marL="740664" lvl="1" indent="-283464"/>
            <a:r>
              <a:rPr lang="en-US" sz="2800" dirty="0"/>
              <a:t>Operational</a:t>
            </a:r>
          </a:p>
          <a:p>
            <a:pPr marL="740664" lvl="1" indent="-283464"/>
            <a:r>
              <a:rPr lang="en-US" sz="2800" dirty="0"/>
              <a:t>Scheduling</a:t>
            </a:r>
          </a:p>
          <a:p>
            <a:pPr marL="740664" lvl="1" indent="-283464"/>
            <a:r>
              <a:rPr lang="en-US" sz="2800" dirty="0"/>
              <a:t>Legal and contractual</a:t>
            </a:r>
          </a:p>
          <a:p>
            <a:pPr marL="740664" lvl="1" indent="-283464"/>
            <a:r>
              <a:rPr lang="en-US" sz="2800" dirty="0"/>
              <a:t>Political</a:t>
            </a:r>
          </a:p>
        </p:txBody>
      </p:sp>
    </p:spTree>
    <p:extLst>
      <p:ext uri="{BB962C8B-B14F-4D97-AF65-F5344CB8AC3E}">
        <p14:creationId xmlns:p14="http://schemas.microsoft.com/office/powerpoint/2010/main" val="3066490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E027A9-F845-47E5-8C9F-E3E4E291C1C8}"/>
              </a:ext>
            </a:extLst>
          </p:cNvPr>
          <p:cNvSpPr>
            <a:spLocks noGrp="1"/>
          </p:cNvSpPr>
          <p:nvPr>
            <p:ph type="title"/>
          </p:nvPr>
        </p:nvSpPr>
        <p:spPr>
          <a:xfrm>
            <a:off x="457200" y="215371"/>
            <a:ext cx="8229600" cy="861867"/>
          </a:xfrm>
        </p:spPr>
        <p:txBody>
          <a:bodyPr/>
          <a:lstStyle/>
          <a:p>
            <a:r>
              <a:rPr lang="en-US" dirty="0"/>
              <a:t>Assessing Economic Feasibility </a:t>
            </a:r>
            <a:endParaRPr lang="en-US" b="0" dirty="0"/>
          </a:p>
        </p:txBody>
      </p:sp>
      <p:sp>
        <p:nvSpPr>
          <p:cNvPr id="6" name="Content Placeholder 5">
            <a:extLst>
              <a:ext uri="{FF2B5EF4-FFF2-40B4-BE49-F238E27FC236}">
                <a16:creationId xmlns:a16="http://schemas.microsoft.com/office/drawing/2014/main" id="{F78598E8-CE3A-4507-88BC-B1B242974F72}"/>
              </a:ext>
            </a:extLst>
          </p:cNvPr>
          <p:cNvSpPr>
            <a:spLocks noGrp="1"/>
          </p:cNvSpPr>
          <p:nvPr>
            <p:ph sz="quarter" idx="14"/>
          </p:nvPr>
        </p:nvSpPr>
        <p:spPr>
          <a:xfrm>
            <a:off x="457200" y="1319739"/>
            <a:ext cx="8229600" cy="4218521"/>
          </a:xfrm>
        </p:spPr>
        <p:txBody>
          <a:bodyPr/>
          <a:lstStyle/>
          <a:p>
            <a:r>
              <a:rPr lang="en-US" b="1" dirty="0">
                <a:solidFill>
                  <a:srgbClr val="FF0000"/>
                </a:solidFill>
              </a:rPr>
              <a:t>Economic feasibility </a:t>
            </a:r>
            <a:r>
              <a:rPr lang="en-US" dirty="0"/>
              <a:t>– process of identifying the financial benefits and costs associated with a development project</a:t>
            </a:r>
          </a:p>
          <a:p>
            <a:r>
              <a:rPr lang="en-US" b="1" dirty="0">
                <a:solidFill>
                  <a:srgbClr val="FF0000"/>
                </a:solidFill>
              </a:rPr>
              <a:t>Tangible benefit </a:t>
            </a:r>
            <a:r>
              <a:rPr lang="en-US" dirty="0"/>
              <a:t>– benefit from the creation of an information system that can be measured in dollars and with certainty</a:t>
            </a:r>
          </a:p>
          <a:p>
            <a:pPr lvl="1"/>
            <a:r>
              <a:rPr lang="en-US" dirty="0"/>
              <a:t>Most tangible benefits:</a:t>
            </a:r>
          </a:p>
          <a:p>
            <a:pPr lvl="2"/>
            <a:r>
              <a:rPr lang="en-US" dirty="0"/>
              <a:t>Cost reduction and avoidance</a:t>
            </a:r>
          </a:p>
          <a:p>
            <a:pPr lvl="2"/>
            <a:r>
              <a:rPr lang="en-US" dirty="0"/>
              <a:t>Error reduction</a:t>
            </a:r>
          </a:p>
          <a:p>
            <a:pPr lvl="2"/>
            <a:r>
              <a:rPr lang="en-US" dirty="0"/>
              <a:t>Increased flexibility</a:t>
            </a:r>
          </a:p>
          <a:p>
            <a:pPr lvl="2"/>
            <a:r>
              <a:rPr lang="en-US" dirty="0"/>
              <a:t>Increased speed of activity</a:t>
            </a:r>
          </a:p>
          <a:p>
            <a:pPr lvl="2"/>
            <a:r>
              <a:rPr lang="en-US" dirty="0"/>
              <a:t>Improvement of management planning and control</a:t>
            </a:r>
          </a:p>
          <a:p>
            <a:pPr lvl="2"/>
            <a:r>
              <a:rPr lang="en-US" dirty="0"/>
              <a:t>Opening new markets and increasing sales opportunities</a:t>
            </a:r>
          </a:p>
          <a:p>
            <a:r>
              <a:rPr lang="en-US" b="1" dirty="0">
                <a:solidFill>
                  <a:srgbClr val="FF0000"/>
                </a:solidFill>
              </a:rPr>
              <a:t>Intangible benefit </a:t>
            </a:r>
            <a:r>
              <a:rPr lang="en-US" dirty="0"/>
              <a:t>– benefit derived from the creation of an information system that cannot be easily measured in dollars or with certainty (See Table 4-5)</a:t>
            </a:r>
          </a:p>
          <a:p>
            <a:pPr marL="229950" lvl="1" indent="0">
              <a:buNone/>
            </a:pPr>
            <a:endParaRPr lang="en-US" dirty="0"/>
          </a:p>
        </p:txBody>
      </p:sp>
    </p:spTree>
    <p:extLst>
      <p:ext uri="{BB962C8B-B14F-4D97-AF65-F5344CB8AC3E}">
        <p14:creationId xmlns:p14="http://schemas.microsoft.com/office/powerpoint/2010/main" val="2680321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FC9B02-6F1B-49EE-962F-C3750A9CD719}"/>
              </a:ext>
            </a:extLst>
          </p:cNvPr>
          <p:cNvSpPr>
            <a:spLocks noGrp="1"/>
          </p:cNvSpPr>
          <p:nvPr>
            <p:ph type="title"/>
          </p:nvPr>
        </p:nvSpPr>
        <p:spPr>
          <a:xfrm>
            <a:off x="457200" y="14955"/>
            <a:ext cx="8229600" cy="1097279"/>
          </a:xfrm>
        </p:spPr>
        <p:txBody>
          <a:bodyPr/>
          <a:lstStyle/>
          <a:p>
            <a:r>
              <a:rPr lang="en-US" sz="3400" dirty="0"/>
              <a:t>Table 4-5: Intangible Benefits from the Development of an Information System</a:t>
            </a:r>
          </a:p>
        </p:txBody>
      </p:sp>
      <p:graphicFrame>
        <p:nvGraphicFramePr>
          <p:cNvPr id="7" name="Table 6">
            <a:extLst>
              <a:ext uri="{FF2B5EF4-FFF2-40B4-BE49-F238E27FC236}">
                <a16:creationId xmlns:a16="http://schemas.microsoft.com/office/drawing/2014/main" id="{7DBE8940-EE53-457B-A228-483823A8524D}"/>
              </a:ext>
            </a:extLst>
          </p:cNvPr>
          <p:cNvGraphicFramePr>
            <a:graphicFrameLocks noGrp="1"/>
          </p:cNvGraphicFramePr>
          <p:nvPr>
            <p:extLst>
              <p:ext uri="{D42A27DB-BD31-4B8C-83A1-F6EECF244321}">
                <p14:modId xmlns:p14="http://schemas.microsoft.com/office/powerpoint/2010/main" val="2343222005"/>
              </p:ext>
            </p:extLst>
          </p:nvPr>
        </p:nvGraphicFramePr>
        <p:xfrm>
          <a:off x="483011" y="1146838"/>
          <a:ext cx="8229600" cy="4790440"/>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1860654577"/>
                    </a:ext>
                  </a:extLst>
                </a:gridCol>
                <a:gridCol w="4114800">
                  <a:extLst>
                    <a:ext uri="{9D8B030D-6E8A-4147-A177-3AD203B41FA5}">
                      <a16:colId xmlns:a16="http://schemas.microsoft.com/office/drawing/2014/main" val="2986678034"/>
                    </a:ext>
                  </a:extLst>
                </a:gridCol>
              </a:tblGrid>
              <a:tr h="370840">
                <a:tc>
                  <a:txBody>
                    <a:bodyPr/>
                    <a:lstStyle/>
                    <a:p>
                      <a:r>
                        <a:rPr lang="en-US" sz="1800" b="1" dirty="0"/>
                        <a:t>Intangible Benefits from the Development of an I</a:t>
                      </a:r>
                      <a:r>
                        <a:rPr lang="en-US" sz="400" b="1" baseline="0" dirty="0"/>
                        <a:t> </a:t>
                      </a:r>
                      <a:r>
                        <a:rPr lang="en-US" sz="1800" b="1"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Intangible Benefits from the Development of an I</a:t>
                      </a:r>
                      <a:r>
                        <a:rPr lang="en-US" sz="400" b="1" baseline="0" dirty="0"/>
                        <a:t> </a:t>
                      </a:r>
                      <a:r>
                        <a:rPr lang="en-US" sz="1800" b="1"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1334372"/>
                  </a:ext>
                </a:extLst>
              </a:tr>
              <a:tr h="370840">
                <a:tc>
                  <a:txBody>
                    <a:bodyPr/>
                    <a:lstStyle/>
                    <a:p>
                      <a:pPr marL="256032" indent="-256032">
                        <a:buClr>
                          <a:srgbClr val="007FA3"/>
                        </a:buClr>
                        <a:buFont typeface="Arial" panose="020B0604020202020204" pitchFamily="34" charset="0"/>
                        <a:buChar char="•"/>
                      </a:pPr>
                      <a:r>
                        <a:rPr lang="en-US" sz="1800" dirty="0"/>
                        <a:t>Competitive necessity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6032" indent="-256032">
                        <a:buClr>
                          <a:srgbClr val="007FA3"/>
                        </a:buClr>
                        <a:buFont typeface="Arial" panose="020B0604020202020204" pitchFamily="34" charset="0"/>
                        <a:buChar char="•"/>
                      </a:pPr>
                      <a:r>
                        <a:rPr lang="en-US" sz="1800" dirty="0"/>
                        <a:t>More confidence in decision 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4965616"/>
                  </a:ext>
                </a:extLst>
              </a:tr>
              <a:tr h="370840">
                <a:tc>
                  <a:txBody>
                    <a:bodyPr/>
                    <a:lstStyle/>
                    <a:p>
                      <a:pPr marL="256032" indent="-256032">
                        <a:buClr>
                          <a:srgbClr val="007FA3"/>
                        </a:buClr>
                        <a:buFont typeface="Arial" panose="020B0604020202020204" pitchFamily="34" charset="0"/>
                        <a:buChar char="•"/>
                      </a:pPr>
                      <a:r>
                        <a:rPr lang="en-US" sz="1800" dirty="0"/>
                        <a:t>More timely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6032" indent="-256032">
                        <a:buClr>
                          <a:srgbClr val="007FA3"/>
                        </a:buClr>
                        <a:buFont typeface="Arial" panose="020B0604020202020204" pitchFamily="34" charset="0"/>
                        <a:buChar char="•"/>
                      </a:pPr>
                      <a:r>
                        <a:rPr lang="en-US" sz="1800" dirty="0"/>
                        <a:t>Improved processing efficiency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8190291"/>
                  </a:ext>
                </a:extLst>
              </a:tr>
              <a:tr h="370840">
                <a:tc>
                  <a:txBody>
                    <a:bodyPr/>
                    <a:lstStyle/>
                    <a:p>
                      <a:pPr marL="256032" indent="-256032">
                        <a:buClr>
                          <a:srgbClr val="007FA3"/>
                        </a:buClr>
                        <a:buFont typeface="Arial" panose="020B0604020202020204" pitchFamily="34" charset="0"/>
                        <a:buChar char="•"/>
                      </a:pPr>
                      <a:r>
                        <a:rPr lang="en-US" sz="1800" dirty="0"/>
                        <a:t>Improved organizational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6032" indent="-256032">
                        <a:buClr>
                          <a:srgbClr val="007FA3"/>
                        </a:buClr>
                        <a:buFont typeface="Arial" panose="020B0604020202020204" pitchFamily="34" charset="0"/>
                        <a:buChar char="•"/>
                      </a:pPr>
                      <a:r>
                        <a:rPr lang="en-US" sz="1800" dirty="0"/>
                        <a:t>Improved asset utilization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6368086"/>
                  </a:ext>
                </a:extLst>
              </a:tr>
              <a:tr h="370840">
                <a:tc>
                  <a:txBody>
                    <a:bodyPr/>
                    <a:lstStyle/>
                    <a:p>
                      <a:pPr marL="256032" indent="-256032">
                        <a:buClr>
                          <a:srgbClr val="007FA3"/>
                        </a:buClr>
                        <a:buFont typeface="Arial" panose="020B0604020202020204" pitchFamily="34" charset="0"/>
                        <a:buChar char="•"/>
                      </a:pPr>
                      <a:r>
                        <a:rPr lang="en-US" sz="1800" dirty="0"/>
                        <a:t>Increased organizational flexibility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6032" indent="-256032">
                        <a:buClr>
                          <a:srgbClr val="007FA3"/>
                        </a:buClr>
                        <a:buFont typeface="Arial" panose="020B0604020202020204" pitchFamily="34" charset="0"/>
                        <a:buChar char="•"/>
                      </a:pPr>
                      <a:r>
                        <a:rPr lang="en-US" sz="1800" dirty="0"/>
                        <a:t>Improved resource control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133879"/>
                  </a:ext>
                </a:extLst>
              </a:tr>
              <a:tr h="370840">
                <a:tc>
                  <a:txBody>
                    <a:bodyPr/>
                    <a:lstStyle/>
                    <a:p>
                      <a:pPr marL="256032" indent="-256032">
                        <a:buClr>
                          <a:srgbClr val="007FA3"/>
                        </a:buClr>
                        <a:buFont typeface="Arial" panose="020B0604020202020204" pitchFamily="34" charset="0"/>
                        <a:buChar char="•"/>
                      </a:pPr>
                      <a:r>
                        <a:rPr lang="en-US" sz="1800" dirty="0"/>
                        <a:t>Promotion of organizational learning and understanding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6032" indent="-256032">
                        <a:buClr>
                          <a:srgbClr val="007FA3"/>
                        </a:buClr>
                        <a:buFont typeface="Arial" panose="020B0604020202020204" pitchFamily="34" charset="0"/>
                        <a:buChar char="•"/>
                      </a:pPr>
                      <a:r>
                        <a:rPr lang="en-US" sz="1800" dirty="0"/>
                        <a:t>Increased accuracy in clerical operations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0397044"/>
                  </a:ext>
                </a:extLst>
              </a:tr>
              <a:tr h="370840">
                <a:tc>
                  <a:txBody>
                    <a:bodyPr/>
                    <a:lstStyle/>
                    <a:p>
                      <a:pPr marL="256032" indent="-256032">
                        <a:buClr>
                          <a:srgbClr val="007FA3"/>
                        </a:buClr>
                        <a:buFont typeface="Arial" panose="020B0604020202020204" pitchFamily="34" charset="0"/>
                        <a:buChar char="•"/>
                      </a:pPr>
                      <a:r>
                        <a:rPr lang="en-US" sz="1800" dirty="0"/>
                        <a:t>Availability of new, better, or more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6032" indent="-256032">
                        <a:buClr>
                          <a:srgbClr val="007FA3"/>
                        </a:buClr>
                        <a:buFont typeface="Arial" panose="020B0604020202020204" pitchFamily="34" charset="0"/>
                        <a:buChar char="•"/>
                      </a:pPr>
                      <a:r>
                        <a:rPr lang="en-US" sz="1800" dirty="0"/>
                        <a:t>Improved work process that can improve employee moral or customer satisfaction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2829866"/>
                  </a:ext>
                </a:extLst>
              </a:tr>
              <a:tr h="370840">
                <a:tc>
                  <a:txBody>
                    <a:bodyPr/>
                    <a:lstStyle/>
                    <a:p>
                      <a:pPr marL="256032" indent="-256032">
                        <a:buClr>
                          <a:srgbClr val="007FA3"/>
                        </a:buClr>
                        <a:buFont typeface="Arial" panose="020B0604020202020204" pitchFamily="34" charset="0"/>
                        <a:buChar char="•"/>
                      </a:pPr>
                      <a:r>
                        <a:rPr lang="en-US" sz="1800" dirty="0"/>
                        <a:t>Ability to investigate more alternatives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6032" indent="-256032">
                        <a:buClr>
                          <a:srgbClr val="007FA3"/>
                        </a:buClr>
                        <a:buFont typeface="Arial" panose="020B0604020202020204" pitchFamily="34" charset="0"/>
                        <a:buChar char="•"/>
                      </a:pPr>
                      <a:r>
                        <a:rPr lang="en-US" sz="1800" dirty="0"/>
                        <a:t>Positive impacts on society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4774717"/>
                  </a:ext>
                </a:extLst>
              </a:tr>
              <a:tr h="370840">
                <a:tc>
                  <a:txBody>
                    <a:bodyPr/>
                    <a:lstStyle/>
                    <a:p>
                      <a:pPr marL="256032" indent="-256032">
                        <a:buClr>
                          <a:srgbClr val="007FA3"/>
                        </a:buClr>
                        <a:buFont typeface="Arial" panose="020B0604020202020204" pitchFamily="34" charset="0"/>
                        <a:buChar char="•"/>
                      </a:pPr>
                      <a:r>
                        <a:rPr lang="en-US" sz="1800" dirty="0"/>
                        <a:t>Faster decision making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6032" indent="-256032">
                        <a:buClr>
                          <a:srgbClr val="007FA3"/>
                        </a:buClr>
                        <a:buFont typeface="Arial" panose="020B0604020202020204" pitchFamily="34" charset="0"/>
                        <a:buChar char="•"/>
                      </a:pPr>
                      <a:r>
                        <a:rPr lang="en-US" sz="1800" dirty="0"/>
                        <a:t>Improved social responsibility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2047294"/>
                  </a:ext>
                </a:extLst>
              </a:tr>
              <a:tr h="370840">
                <a:tc>
                  <a:txBody>
                    <a:bodyPr/>
                    <a:lstStyle/>
                    <a:p>
                      <a:pPr marL="256032" indent="-256032">
                        <a:buClr>
                          <a:srgbClr val="007FA3"/>
                        </a:buClr>
                        <a:buFont typeface="Arial" panose="020B0604020202020204" pitchFamily="34" charset="0"/>
                        <a:buChar char="•"/>
                      </a:pPr>
                      <a:r>
                        <a:rPr lang="en-US" sz="1800" dirty="0"/>
                        <a:t>Better usage of resources (“greener”)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Clr>
                          <a:srgbClr val="007FA3"/>
                        </a:buClr>
                        <a:buFont typeface="Arial" panose="020B0604020202020204" pitchFamily="34" charset="0"/>
                        <a:buNone/>
                      </a:pPr>
                      <a:r>
                        <a:rPr lang="en-US" sz="1800"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5224395"/>
                  </a:ext>
                </a:extLst>
              </a:tr>
            </a:tbl>
          </a:graphicData>
        </a:graphic>
      </p:graphicFrame>
      <p:sp>
        <p:nvSpPr>
          <p:cNvPr id="6" name="Content Placeholder 5">
            <a:extLst>
              <a:ext uri="{FF2B5EF4-FFF2-40B4-BE49-F238E27FC236}">
                <a16:creationId xmlns:a16="http://schemas.microsoft.com/office/drawing/2014/main" id="{2D8EC746-71B0-4836-B5D1-5F1874046E33}"/>
              </a:ext>
            </a:extLst>
          </p:cNvPr>
          <p:cNvSpPr>
            <a:spLocks noGrp="1"/>
          </p:cNvSpPr>
          <p:nvPr>
            <p:ph sz="quarter" idx="13"/>
          </p:nvPr>
        </p:nvSpPr>
        <p:spPr>
          <a:xfrm>
            <a:off x="457200" y="6314240"/>
            <a:ext cx="8229600" cy="203350"/>
          </a:xfrm>
        </p:spPr>
        <p:txBody>
          <a:bodyPr/>
          <a:lstStyle/>
          <a:p>
            <a:pPr marL="432" indent="0">
              <a:buNone/>
            </a:pPr>
            <a:r>
              <a:rPr lang="en-US" sz="1200" dirty="0"/>
              <a:t>(</a:t>
            </a:r>
            <a:r>
              <a:rPr lang="en-US" sz="1200" b="1" dirty="0"/>
              <a:t>Source:</a:t>
            </a:r>
            <a:r>
              <a:rPr lang="en-US" sz="1200" dirty="0"/>
              <a:t> Based on Parker &amp; Benson, 1988; Brynjolfsson &amp; Yang, 1997; Keen, 2003; </a:t>
            </a:r>
            <a:r>
              <a:rPr lang="en-US" sz="1200" dirty="0" err="1"/>
              <a:t>Cresswell</a:t>
            </a:r>
            <a:r>
              <a:rPr lang="en-US" sz="1200" dirty="0"/>
              <a:t>, 2004)</a:t>
            </a:r>
          </a:p>
        </p:txBody>
      </p:sp>
    </p:spTree>
    <p:extLst>
      <p:ext uri="{BB962C8B-B14F-4D97-AF65-F5344CB8AC3E}">
        <p14:creationId xmlns:p14="http://schemas.microsoft.com/office/powerpoint/2010/main" val="1035873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F7F4D0-3222-4169-9340-8239BCF0F7CB}"/>
              </a:ext>
            </a:extLst>
          </p:cNvPr>
          <p:cNvSpPr>
            <a:spLocks noGrp="1"/>
          </p:cNvSpPr>
          <p:nvPr>
            <p:ph type="title"/>
          </p:nvPr>
        </p:nvSpPr>
        <p:spPr/>
        <p:txBody>
          <a:bodyPr/>
          <a:lstStyle/>
          <a:p>
            <a:r>
              <a:rPr lang="en-US" dirty="0"/>
              <a:t>Assessing Technical Feasibility</a:t>
            </a:r>
          </a:p>
        </p:txBody>
      </p:sp>
      <p:sp>
        <p:nvSpPr>
          <p:cNvPr id="6" name="Content Placeholder 5">
            <a:extLst>
              <a:ext uri="{FF2B5EF4-FFF2-40B4-BE49-F238E27FC236}">
                <a16:creationId xmlns:a16="http://schemas.microsoft.com/office/drawing/2014/main" id="{CA47C01F-260B-40B4-9F09-418EC70D7919}"/>
              </a:ext>
            </a:extLst>
          </p:cNvPr>
          <p:cNvSpPr>
            <a:spLocks noGrp="1"/>
          </p:cNvSpPr>
          <p:nvPr>
            <p:ph sz="quarter" idx="14"/>
          </p:nvPr>
        </p:nvSpPr>
        <p:spPr>
          <a:xfrm>
            <a:off x="457200" y="1706287"/>
            <a:ext cx="8509819" cy="4010989"/>
          </a:xfrm>
        </p:spPr>
        <p:txBody>
          <a:bodyPr/>
          <a:lstStyle/>
          <a:p>
            <a:r>
              <a:rPr lang="en-US" b="1" dirty="0">
                <a:solidFill>
                  <a:srgbClr val="FF0000"/>
                </a:solidFill>
              </a:rPr>
              <a:t>Technical feasibility </a:t>
            </a:r>
            <a:r>
              <a:rPr lang="en-US" dirty="0"/>
              <a:t>– process of assessing the development organization’s ability to construct a proposed system</a:t>
            </a:r>
          </a:p>
          <a:p>
            <a:r>
              <a:rPr lang="en-US" dirty="0"/>
              <a:t>Potential consequences of not accessing and managing risks can include the following:</a:t>
            </a:r>
          </a:p>
          <a:p>
            <a:pPr lvl="1"/>
            <a:r>
              <a:rPr lang="en-US" dirty="0"/>
              <a:t>Failure to attain expected benefits from the project</a:t>
            </a:r>
          </a:p>
          <a:p>
            <a:pPr lvl="1"/>
            <a:r>
              <a:rPr lang="en-US" dirty="0"/>
              <a:t>Inaccurate project cost estimates</a:t>
            </a:r>
          </a:p>
          <a:p>
            <a:pPr lvl="1"/>
            <a:r>
              <a:rPr lang="en-US" dirty="0"/>
              <a:t>Inaccurate project duration estimates</a:t>
            </a:r>
          </a:p>
          <a:p>
            <a:pPr lvl="1"/>
            <a:r>
              <a:rPr lang="en-US" dirty="0"/>
              <a:t>Failure to achieve adequate system performance levels</a:t>
            </a:r>
          </a:p>
          <a:p>
            <a:pPr lvl="1"/>
            <a:r>
              <a:rPr lang="en-US" dirty="0"/>
              <a:t>Failure to adequately integrate the new system with existing hardware, software, organizational procedures</a:t>
            </a:r>
          </a:p>
        </p:txBody>
      </p:sp>
    </p:spTree>
    <p:extLst>
      <p:ext uri="{BB962C8B-B14F-4D97-AF65-F5344CB8AC3E}">
        <p14:creationId xmlns:p14="http://schemas.microsoft.com/office/powerpoint/2010/main" val="2404512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20721-C580-45D0-A479-4E3FF43737F3}"/>
              </a:ext>
            </a:extLst>
          </p:cNvPr>
          <p:cNvSpPr>
            <a:spLocks noGrp="1"/>
          </p:cNvSpPr>
          <p:nvPr>
            <p:ph type="title"/>
          </p:nvPr>
        </p:nvSpPr>
        <p:spPr>
          <a:xfrm>
            <a:off x="457199" y="215371"/>
            <a:ext cx="8436077" cy="1097279"/>
          </a:xfrm>
        </p:spPr>
        <p:txBody>
          <a:bodyPr/>
          <a:lstStyle/>
          <a:p>
            <a:r>
              <a:rPr lang="en-US" dirty="0"/>
              <a:t>Assessing Other Feasibility Concerns</a:t>
            </a:r>
          </a:p>
        </p:txBody>
      </p:sp>
      <p:sp>
        <p:nvSpPr>
          <p:cNvPr id="5" name="Content Placeholder 4">
            <a:extLst>
              <a:ext uri="{FF2B5EF4-FFF2-40B4-BE49-F238E27FC236}">
                <a16:creationId xmlns:a16="http://schemas.microsoft.com/office/drawing/2014/main" id="{42EC48E7-ADFB-4622-9E2E-C73C70F17ED3}"/>
              </a:ext>
            </a:extLst>
          </p:cNvPr>
          <p:cNvSpPr>
            <a:spLocks noGrp="1"/>
          </p:cNvSpPr>
          <p:nvPr>
            <p:ph sz="quarter" idx="14"/>
          </p:nvPr>
        </p:nvSpPr>
        <p:spPr>
          <a:xfrm>
            <a:off x="457200" y="1652130"/>
            <a:ext cx="8229600" cy="3988420"/>
          </a:xfrm>
        </p:spPr>
        <p:txBody>
          <a:bodyPr/>
          <a:lstStyle/>
          <a:p>
            <a:r>
              <a:rPr lang="en-US" b="1" dirty="0">
                <a:solidFill>
                  <a:srgbClr val="FF0000"/>
                </a:solidFill>
              </a:rPr>
              <a:t>Operational feasibility </a:t>
            </a:r>
            <a:r>
              <a:rPr lang="en-US" dirty="0"/>
              <a:t>– process of assessing the degree to which a proposed system solves business problems or takes advantage of business opportunities</a:t>
            </a:r>
          </a:p>
          <a:p>
            <a:r>
              <a:rPr lang="en-US" b="1" dirty="0">
                <a:solidFill>
                  <a:srgbClr val="FF0000"/>
                </a:solidFill>
              </a:rPr>
              <a:t>Schedule feasibility </a:t>
            </a:r>
            <a:r>
              <a:rPr lang="en-US" dirty="0"/>
              <a:t>– process of assessing the degree to which the potential time frame and completion dates for all major activities within a project meet organizational deadlines and constraints for affecting change</a:t>
            </a:r>
          </a:p>
          <a:p>
            <a:r>
              <a:rPr lang="en-US" b="1" dirty="0">
                <a:solidFill>
                  <a:srgbClr val="FF0000"/>
                </a:solidFill>
              </a:rPr>
              <a:t>Legal and contractual feasibility </a:t>
            </a:r>
            <a:r>
              <a:rPr lang="en-US" dirty="0"/>
              <a:t>– process of assessing potential legal and contractual ramifications due to the construction of a system</a:t>
            </a:r>
          </a:p>
          <a:p>
            <a:r>
              <a:rPr lang="en-US" b="1" dirty="0">
                <a:solidFill>
                  <a:srgbClr val="FF0000"/>
                </a:solidFill>
              </a:rPr>
              <a:t>Political feasibility </a:t>
            </a:r>
            <a:r>
              <a:rPr lang="en-US" dirty="0"/>
              <a:t>– process of evaluating how key stakeholders within the organization view the proposed system</a:t>
            </a:r>
          </a:p>
        </p:txBody>
      </p:sp>
    </p:spTree>
    <p:extLst>
      <p:ext uri="{BB962C8B-B14F-4D97-AF65-F5344CB8AC3E}">
        <p14:creationId xmlns:p14="http://schemas.microsoft.com/office/powerpoint/2010/main" val="4130882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630DE-4F8B-4E6F-85F3-7FAB32419898}"/>
              </a:ext>
            </a:extLst>
          </p:cNvPr>
          <p:cNvSpPr>
            <a:spLocks noGrp="1"/>
          </p:cNvSpPr>
          <p:nvPr>
            <p:ph type="title"/>
          </p:nvPr>
        </p:nvSpPr>
        <p:spPr>
          <a:xfrm>
            <a:off x="428625" y="365125"/>
            <a:ext cx="8286750" cy="1569183"/>
          </a:xfrm>
        </p:spPr>
        <p:txBody>
          <a:bodyPr/>
          <a:lstStyle/>
          <a:p>
            <a:r>
              <a:rPr lang="en-MY" sz="2800" b="1" i="0" u="none" strike="noStrike" baseline="0" dirty="0">
                <a:solidFill>
                  <a:srgbClr val="00009A"/>
                </a:solidFill>
                <a:latin typeface="AvenirLTPro-Medium"/>
              </a:rPr>
              <a:t>ELECTRONIC COMMERCE APPLICATIONS: </a:t>
            </a:r>
            <a:br>
              <a:rPr lang="en-MY" sz="2800" b="1" i="0" u="none" strike="noStrike" baseline="0" dirty="0">
                <a:solidFill>
                  <a:srgbClr val="00009A"/>
                </a:solidFill>
                <a:latin typeface="AvenirLTPro-Medium"/>
              </a:rPr>
            </a:br>
            <a:r>
              <a:rPr lang="en-MY" sz="2800" b="1" i="0" u="none" strike="noStrike" baseline="0" dirty="0">
                <a:solidFill>
                  <a:srgbClr val="00009A"/>
                </a:solidFill>
                <a:latin typeface="AvenirLTPro-Medium"/>
              </a:rPr>
              <a:t>IDENTIFYING </a:t>
            </a:r>
            <a:r>
              <a:rPr lang="en-US" sz="2800" b="1" i="0" u="none" strike="noStrike" baseline="0" dirty="0">
                <a:solidFill>
                  <a:srgbClr val="00009A"/>
                </a:solidFill>
                <a:latin typeface="AvenirLTPro-Medium"/>
              </a:rPr>
              <a:t>AND SELECTING SYSTEMS DEVELOPMENT PROJECTS</a:t>
            </a:r>
            <a:br>
              <a:rPr lang="en-US" sz="2800" b="1" i="0" u="none" strike="noStrike" baseline="0" dirty="0">
                <a:solidFill>
                  <a:srgbClr val="00009A"/>
                </a:solidFill>
                <a:latin typeface="AvenirLTPro-Medium"/>
              </a:rPr>
            </a:br>
            <a:endParaRPr lang="en-MY" sz="2800" b="1" dirty="0"/>
          </a:p>
        </p:txBody>
      </p:sp>
      <p:sp>
        <p:nvSpPr>
          <p:cNvPr id="3" name="Content Placeholder 2">
            <a:extLst>
              <a:ext uri="{FF2B5EF4-FFF2-40B4-BE49-F238E27FC236}">
                <a16:creationId xmlns:a16="http://schemas.microsoft.com/office/drawing/2014/main" id="{CAA008EA-DA18-4B77-AF8B-C1690D1C3CA5}"/>
              </a:ext>
            </a:extLst>
          </p:cNvPr>
          <p:cNvSpPr>
            <a:spLocks noGrp="1"/>
          </p:cNvSpPr>
          <p:nvPr>
            <p:ph idx="1"/>
          </p:nvPr>
        </p:nvSpPr>
        <p:spPr>
          <a:xfrm>
            <a:off x="428625" y="1805939"/>
            <a:ext cx="8086725" cy="4222433"/>
          </a:xfrm>
        </p:spPr>
        <p:txBody>
          <a:bodyPr/>
          <a:lstStyle/>
          <a:p>
            <a:pPr algn="l"/>
            <a:r>
              <a:rPr lang="en-US" sz="2800" b="0" i="0" u="none" strike="noStrike" baseline="0" dirty="0">
                <a:solidFill>
                  <a:srgbClr val="000000"/>
                </a:solidFill>
                <a:latin typeface="NewBaskervilleITCPro-Roman"/>
              </a:rPr>
              <a:t>Identifying and selecting systems development projects for an Internet-based electronic commerce application is no different from the process followed for more traditional applications. </a:t>
            </a:r>
          </a:p>
          <a:p>
            <a:pPr algn="l"/>
            <a:r>
              <a:rPr lang="en-US" sz="2800" b="0" i="0" u="none" strike="noStrike" baseline="0" dirty="0">
                <a:solidFill>
                  <a:srgbClr val="000000"/>
                </a:solidFill>
                <a:latin typeface="NewBaskervilleITCPro-Roman"/>
              </a:rPr>
              <a:t>Nonetheless, there are </a:t>
            </a:r>
            <a:r>
              <a:rPr lang="en-US" sz="2800" b="0" i="0" u="none" strike="noStrike" baseline="0" dirty="0">
                <a:solidFill>
                  <a:srgbClr val="FF0000"/>
                </a:solidFill>
                <a:latin typeface="NewBaskervilleITCPro-Roman"/>
              </a:rPr>
              <a:t>some special considerations when developing an Internet-based application</a:t>
            </a:r>
            <a:r>
              <a:rPr lang="en-US" sz="2800" b="0" i="0" u="none" strike="noStrike" baseline="0" dirty="0">
                <a:solidFill>
                  <a:srgbClr val="000000"/>
                </a:solidFill>
                <a:latin typeface="NewBaskervilleITCPro-Roman"/>
              </a:rPr>
              <a:t>. </a:t>
            </a:r>
          </a:p>
          <a:p>
            <a:pPr algn="l"/>
            <a:r>
              <a:rPr lang="en-US" sz="2800" b="0" i="0" u="none" strike="noStrike" baseline="0" dirty="0">
                <a:solidFill>
                  <a:srgbClr val="000000"/>
                </a:solidFill>
                <a:latin typeface="NewBaskervilleITCPro-Roman"/>
              </a:rPr>
              <a:t>In this section, we highlight some of those issues that relate directly to the process of identifying and selecting Internet-related </a:t>
            </a:r>
            <a:r>
              <a:rPr lang="en-MY" sz="2800" b="0" i="0" u="none" strike="noStrike" baseline="0" dirty="0">
                <a:solidFill>
                  <a:srgbClr val="000000"/>
                </a:solidFill>
                <a:latin typeface="NewBaskervilleITCPro-Roman"/>
              </a:rPr>
              <a:t>systems development projects.</a:t>
            </a:r>
            <a:endParaRPr lang="en-MY" sz="2400" dirty="0"/>
          </a:p>
          <a:p>
            <a:endParaRPr lang="en-MY" sz="2400" dirty="0"/>
          </a:p>
        </p:txBody>
      </p:sp>
    </p:spTree>
    <p:extLst>
      <p:ext uri="{BB962C8B-B14F-4D97-AF65-F5344CB8AC3E}">
        <p14:creationId xmlns:p14="http://schemas.microsoft.com/office/powerpoint/2010/main" val="3617408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C303C-7BCC-46F7-9519-B1171B2EC88B}"/>
              </a:ext>
            </a:extLst>
          </p:cNvPr>
          <p:cNvSpPr>
            <a:spLocks noGrp="1"/>
          </p:cNvSpPr>
          <p:nvPr>
            <p:ph type="title"/>
          </p:nvPr>
        </p:nvSpPr>
        <p:spPr/>
        <p:txBody>
          <a:bodyPr/>
          <a:lstStyle/>
          <a:p>
            <a:r>
              <a:rPr lang="en-US" sz="4400" dirty="0"/>
              <a:t>Internet Basics</a:t>
            </a:r>
          </a:p>
        </p:txBody>
      </p:sp>
      <p:sp>
        <p:nvSpPr>
          <p:cNvPr id="4" name="Content Placeholder 3">
            <a:extLst>
              <a:ext uri="{FF2B5EF4-FFF2-40B4-BE49-F238E27FC236}">
                <a16:creationId xmlns:a16="http://schemas.microsoft.com/office/drawing/2014/main" id="{BD2BDC2B-4361-4535-9047-E7FB42D161AD}"/>
              </a:ext>
            </a:extLst>
          </p:cNvPr>
          <p:cNvSpPr>
            <a:spLocks noGrp="1"/>
          </p:cNvSpPr>
          <p:nvPr>
            <p:ph sz="quarter" idx="14"/>
          </p:nvPr>
        </p:nvSpPr>
        <p:spPr>
          <a:xfrm>
            <a:off x="457200" y="2024498"/>
            <a:ext cx="8229600" cy="3516067"/>
          </a:xfrm>
        </p:spPr>
        <p:txBody>
          <a:bodyPr/>
          <a:lstStyle/>
          <a:p>
            <a:r>
              <a:rPr lang="en-US" b="1" dirty="0">
                <a:solidFill>
                  <a:srgbClr val="FF0000"/>
                </a:solidFill>
              </a:rPr>
              <a:t>Internet</a:t>
            </a:r>
            <a:r>
              <a:rPr lang="en-US" dirty="0">
                <a:solidFill>
                  <a:srgbClr val="FF0000"/>
                </a:solidFill>
              </a:rPr>
              <a:t> </a:t>
            </a:r>
            <a:r>
              <a:rPr lang="en-US" dirty="0"/>
              <a:t>– large, worldwide network of networks that use a common protocol to communicate with each other</a:t>
            </a:r>
          </a:p>
          <a:p>
            <a:r>
              <a:rPr lang="en-US" b="1" dirty="0">
                <a:solidFill>
                  <a:srgbClr val="FF0000"/>
                </a:solidFill>
              </a:rPr>
              <a:t>Internet of Things (I</a:t>
            </a:r>
            <a:r>
              <a:rPr lang="en-US" sz="200" b="1" dirty="0">
                <a:solidFill>
                  <a:srgbClr val="FF0000"/>
                </a:solidFill>
              </a:rPr>
              <a:t> </a:t>
            </a:r>
            <a:r>
              <a:rPr lang="en-US" b="1" dirty="0">
                <a:solidFill>
                  <a:srgbClr val="FF0000"/>
                </a:solidFill>
              </a:rPr>
              <a:t>o</a:t>
            </a:r>
            <a:r>
              <a:rPr lang="en-US" sz="200" b="1" dirty="0">
                <a:solidFill>
                  <a:srgbClr val="FF0000"/>
                </a:solidFill>
              </a:rPr>
              <a:t> </a:t>
            </a:r>
            <a:r>
              <a:rPr lang="en-US" b="1" dirty="0">
                <a:solidFill>
                  <a:srgbClr val="FF0000"/>
                </a:solidFill>
              </a:rPr>
              <a:t>T) </a:t>
            </a:r>
            <a:r>
              <a:rPr lang="en-US" dirty="0"/>
              <a:t>– broad class of physical objects that feature an Internet address and connectivity that communicate between these objects and other Internet enabled devices and systems</a:t>
            </a:r>
          </a:p>
          <a:p>
            <a:r>
              <a:rPr lang="en-US" b="1" dirty="0">
                <a:solidFill>
                  <a:srgbClr val="FF0000"/>
                </a:solidFill>
              </a:rPr>
              <a:t>Electronic commerce (E</a:t>
            </a:r>
            <a:r>
              <a:rPr lang="en-US" sz="200" b="1" dirty="0">
                <a:solidFill>
                  <a:srgbClr val="FF0000"/>
                </a:solidFill>
              </a:rPr>
              <a:t> </a:t>
            </a:r>
            <a:r>
              <a:rPr lang="en-US" b="1" dirty="0">
                <a:solidFill>
                  <a:srgbClr val="FF0000"/>
                </a:solidFill>
              </a:rPr>
              <a:t>C) </a:t>
            </a:r>
            <a:r>
              <a:rPr lang="en-US" dirty="0"/>
              <a:t>– Internet-based communication to support day-to-day government, business, and consumer activities</a:t>
            </a:r>
          </a:p>
        </p:txBody>
      </p:sp>
    </p:spTree>
    <p:extLst>
      <p:ext uri="{BB962C8B-B14F-4D97-AF65-F5344CB8AC3E}">
        <p14:creationId xmlns:p14="http://schemas.microsoft.com/office/powerpoint/2010/main" val="3361522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F8B6C-D10B-47B3-BD59-571F1CEA3C0F}"/>
              </a:ext>
            </a:extLst>
          </p:cNvPr>
          <p:cNvSpPr>
            <a:spLocks noGrp="1"/>
          </p:cNvSpPr>
          <p:nvPr>
            <p:ph type="title"/>
          </p:nvPr>
        </p:nvSpPr>
        <p:spPr/>
        <p:txBody>
          <a:bodyPr/>
          <a:lstStyle/>
          <a:p>
            <a:r>
              <a:rPr lang="en-US" dirty="0"/>
              <a:t>E</a:t>
            </a:r>
            <a:r>
              <a:rPr lang="en-US" sz="100" dirty="0"/>
              <a:t> </a:t>
            </a:r>
            <a:r>
              <a:rPr lang="en-US" dirty="0"/>
              <a:t>C Business Models</a:t>
            </a:r>
          </a:p>
        </p:txBody>
      </p:sp>
      <p:sp>
        <p:nvSpPr>
          <p:cNvPr id="4" name="Content Placeholder 3">
            <a:extLst>
              <a:ext uri="{FF2B5EF4-FFF2-40B4-BE49-F238E27FC236}">
                <a16:creationId xmlns:a16="http://schemas.microsoft.com/office/drawing/2014/main" id="{D6EB504E-EE10-4F41-97E2-CFFB9DE616C8}"/>
              </a:ext>
            </a:extLst>
          </p:cNvPr>
          <p:cNvSpPr>
            <a:spLocks noGrp="1"/>
          </p:cNvSpPr>
          <p:nvPr>
            <p:ph sz="quarter" idx="14"/>
          </p:nvPr>
        </p:nvSpPr>
        <p:spPr>
          <a:xfrm>
            <a:off x="457200" y="1828800"/>
            <a:ext cx="7747348" cy="4559474"/>
          </a:xfrm>
        </p:spPr>
        <p:txBody>
          <a:bodyPr/>
          <a:lstStyle/>
          <a:p>
            <a:r>
              <a:rPr lang="en-US" sz="2800" dirty="0"/>
              <a:t>A broad range of </a:t>
            </a:r>
            <a:r>
              <a:rPr lang="en-US" sz="2800" dirty="0">
                <a:solidFill>
                  <a:srgbClr val="FF0000"/>
                </a:solidFill>
              </a:rPr>
              <a:t>business models </a:t>
            </a:r>
            <a:r>
              <a:rPr lang="en-US" sz="2800" dirty="0"/>
              <a:t>include:</a:t>
            </a:r>
          </a:p>
          <a:p>
            <a:pPr lvl="1"/>
            <a:r>
              <a:rPr lang="en-US" sz="2800" dirty="0"/>
              <a:t>Business-to-Business (B</a:t>
            </a:r>
            <a:r>
              <a:rPr lang="en-US" sz="300" dirty="0"/>
              <a:t> </a:t>
            </a:r>
            <a:r>
              <a:rPr lang="en-US" sz="2800" dirty="0"/>
              <a:t>2</a:t>
            </a:r>
            <a:r>
              <a:rPr lang="en-US" sz="300" dirty="0"/>
              <a:t> </a:t>
            </a:r>
            <a:r>
              <a:rPr lang="en-US" sz="2800" dirty="0"/>
              <a:t>B)</a:t>
            </a:r>
          </a:p>
          <a:p>
            <a:pPr lvl="1"/>
            <a:r>
              <a:rPr lang="en-US" sz="2800" dirty="0"/>
              <a:t>Business-to-Consumer (B</a:t>
            </a:r>
            <a:r>
              <a:rPr lang="en-US" sz="300" dirty="0"/>
              <a:t> </a:t>
            </a:r>
            <a:r>
              <a:rPr lang="en-US" sz="2800" dirty="0"/>
              <a:t>2</a:t>
            </a:r>
            <a:r>
              <a:rPr lang="en-US" sz="300" dirty="0"/>
              <a:t> </a:t>
            </a:r>
            <a:r>
              <a:rPr lang="en-US" sz="2800" dirty="0"/>
              <a:t>C)</a:t>
            </a:r>
          </a:p>
          <a:p>
            <a:pPr lvl="1"/>
            <a:r>
              <a:rPr lang="en-US" sz="2800" dirty="0"/>
              <a:t>Consumer-to-Consumer (C</a:t>
            </a:r>
            <a:r>
              <a:rPr lang="en-US" sz="300" dirty="0"/>
              <a:t> </a:t>
            </a:r>
            <a:r>
              <a:rPr lang="en-US" sz="2800" dirty="0"/>
              <a:t>2</a:t>
            </a:r>
            <a:r>
              <a:rPr lang="en-US" sz="300" dirty="0"/>
              <a:t> </a:t>
            </a:r>
            <a:r>
              <a:rPr lang="en-US" sz="2800" dirty="0"/>
              <a:t>C)</a:t>
            </a:r>
          </a:p>
          <a:p>
            <a:pPr lvl="1"/>
            <a:r>
              <a:rPr lang="en-US" sz="2800" dirty="0"/>
              <a:t>Consumer-to-Business (C</a:t>
            </a:r>
            <a:r>
              <a:rPr lang="en-US" sz="300" dirty="0"/>
              <a:t> </a:t>
            </a:r>
            <a:r>
              <a:rPr lang="en-US" sz="2800" dirty="0"/>
              <a:t>2</a:t>
            </a:r>
            <a:r>
              <a:rPr lang="en-US" sz="300" dirty="0"/>
              <a:t> </a:t>
            </a:r>
            <a:r>
              <a:rPr lang="en-US" sz="2800" dirty="0"/>
              <a:t>B)</a:t>
            </a:r>
          </a:p>
          <a:p>
            <a:pPr lvl="1"/>
            <a:r>
              <a:rPr lang="en-US" sz="2800" dirty="0"/>
              <a:t>Business-to-Government (B</a:t>
            </a:r>
            <a:r>
              <a:rPr lang="en-US" sz="300" dirty="0"/>
              <a:t> </a:t>
            </a:r>
            <a:r>
              <a:rPr lang="en-US" sz="2800" dirty="0"/>
              <a:t>2</a:t>
            </a:r>
            <a:r>
              <a:rPr lang="en-US" sz="300" dirty="0"/>
              <a:t> </a:t>
            </a:r>
            <a:r>
              <a:rPr lang="en-US" sz="2800" dirty="0"/>
              <a:t>G)</a:t>
            </a:r>
          </a:p>
          <a:p>
            <a:pPr lvl="1"/>
            <a:r>
              <a:rPr lang="en-US" sz="2800" dirty="0"/>
              <a:t>Government-to-Business (G</a:t>
            </a:r>
            <a:r>
              <a:rPr lang="en-US" sz="300" dirty="0"/>
              <a:t> </a:t>
            </a:r>
            <a:r>
              <a:rPr lang="en-US" sz="2800" dirty="0"/>
              <a:t>2</a:t>
            </a:r>
            <a:r>
              <a:rPr lang="en-US" sz="300" dirty="0"/>
              <a:t> </a:t>
            </a:r>
            <a:r>
              <a:rPr lang="en-US" sz="2800" dirty="0"/>
              <a:t>B)</a:t>
            </a:r>
          </a:p>
          <a:p>
            <a:pPr lvl="1"/>
            <a:r>
              <a:rPr lang="en-US" sz="2800" dirty="0"/>
              <a:t>Government-to-Citizen (G</a:t>
            </a:r>
            <a:r>
              <a:rPr lang="en-US" sz="300" dirty="0"/>
              <a:t> </a:t>
            </a:r>
            <a:r>
              <a:rPr lang="en-US" sz="2800" dirty="0"/>
              <a:t>2</a:t>
            </a:r>
            <a:r>
              <a:rPr lang="en-US" sz="300" dirty="0"/>
              <a:t> </a:t>
            </a:r>
            <a:r>
              <a:rPr lang="en-US" sz="2800" dirty="0"/>
              <a:t>C)</a:t>
            </a:r>
          </a:p>
          <a:p>
            <a:pPr lvl="1"/>
            <a:r>
              <a:rPr lang="en-US" sz="2800" dirty="0"/>
              <a:t>Thing-to-Thing (T</a:t>
            </a:r>
            <a:r>
              <a:rPr lang="en-US" sz="300" dirty="0"/>
              <a:t> </a:t>
            </a:r>
            <a:r>
              <a:rPr lang="en-US" sz="2800" dirty="0"/>
              <a:t>2</a:t>
            </a:r>
            <a:r>
              <a:rPr lang="en-US" sz="300" dirty="0"/>
              <a:t> </a:t>
            </a:r>
            <a:r>
              <a:rPr lang="en-US" sz="2800" dirty="0"/>
              <a:t>T)</a:t>
            </a:r>
          </a:p>
        </p:txBody>
      </p:sp>
    </p:spTree>
    <p:extLst>
      <p:ext uri="{BB962C8B-B14F-4D97-AF65-F5344CB8AC3E}">
        <p14:creationId xmlns:p14="http://schemas.microsoft.com/office/powerpoint/2010/main" val="3701138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FCD61-5655-4AB7-A2F7-2A764E902FF3}"/>
              </a:ext>
            </a:extLst>
          </p:cNvPr>
          <p:cNvSpPr>
            <a:spLocks noGrp="1"/>
          </p:cNvSpPr>
          <p:nvPr>
            <p:ph type="title"/>
          </p:nvPr>
        </p:nvSpPr>
        <p:spPr/>
        <p:txBody>
          <a:bodyPr/>
          <a:lstStyle/>
          <a:p>
            <a:r>
              <a:rPr lang="en-US" sz="3400" dirty="0"/>
              <a:t>Figure 4-3: The Internet of Everything</a:t>
            </a:r>
          </a:p>
        </p:txBody>
      </p:sp>
      <p:pic>
        <p:nvPicPr>
          <p:cNvPr id="4" name="Picture 3" descr="A diagram with an inner and outer triangle represents the Internet of Everything.  Government, Business, and Consumers are vertices of the outer triangle. Government is at the top, Business is on the bottom left, and Consumers are on bottom right. Each outer triangle side is represented by a bidirectional arrow. The inner triangle represents Internet of Things. Its vertices connect to the corresponding vertices of the outer triangle via bidirectional arrows. ">
            <a:extLst>
              <a:ext uri="{FF2B5EF4-FFF2-40B4-BE49-F238E27FC236}">
                <a16:creationId xmlns:a16="http://schemas.microsoft.com/office/drawing/2014/main" id="{C0B0DED3-A6FD-410F-8B8A-66ED2B3C24E8}"/>
              </a:ext>
            </a:extLst>
          </p:cNvPr>
          <p:cNvPicPr>
            <a:picLocks noChangeAspect="1"/>
          </p:cNvPicPr>
          <p:nvPr/>
        </p:nvPicPr>
        <p:blipFill>
          <a:blip r:embed="rId2"/>
          <a:stretch>
            <a:fillRect/>
          </a:stretch>
        </p:blipFill>
        <p:spPr>
          <a:xfrm>
            <a:off x="1248498" y="1820823"/>
            <a:ext cx="6647004" cy="4156112"/>
          </a:xfrm>
          <a:prstGeom prst="rect">
            <a:avLst/>
          </a:prstGeom>
        </p:spPr>
      </p:pic>
    </p:spTree>
    <p:extLst>
      <p:ext uri="{BB962C8B-B14F-4D97-AF65-F5344CB8AC3E}">
        <p14:creationId xmlns:p14="http://schemas.microsoft.com/office/powerpoint/2010/main" val="18015812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A03DC-37B5-41AE-BED1-3ABD5FEA8B26}"/>
              </a:ext>
            </a:extLst>
          </p:cNvPr>
          <p:cNvSpPr>
            <a:spLocks noGrp="1"/>
          </p:cNvSpPr>
          <p:nvPr>
            <p:ph type="title"/>
          </p:nvPr>
        </p:nvSpPr>
        <p:spPr>
          <a:xfrm>
            <a:off x="457200" y="215371"/>
            <a:ext cx="8229600" cy="1334460"/>
          </a:xfrm>
        </p:spPr>
        <p:txBody>
          <a:bodyPr/>
          <a:lstStyle/>
          <a:p>
            <a:r>
              <a:rPr lang="en-US" sz="2800" dirty="0"/>
              <a:t>Table 4-6: Unknowns That Must Be Dealt with When Designing and Building Internet Applications</a:t>
            </a:r>
          </a:p>
        </p:txBody>
      </p:sp>
      <p:graphicFrame>
        <p:nvGraphicFramePr>
          <p:cNvPr id="4" name="Table 3">
            <a:extLst>
              <a:ext uri="{FF2B5EF4-FFF2-40B4-BE49-F238E27FC236}">
                <a16:creationId xmlns:a16="http://schemas.microsoft.com/office/drawing/2014/main" id="{4613CC2C-01BF-41A4-96E1-CA7A71D866CB}"/>
              </a:ext>
            </a:extLst>
          </p:cNvPr>
          <p:cNvGraphicFramePr>
            <a:graphicFrameLocks noGrp="1"/>
          </p:cNvGraphicFramePr>
          <p:nvPr>
            <p:extLst>
              <p:ext uri="{D42A27DB-BD31-4B8C-83A1-F6EECF244321}">
                <p14:modId xmlns:p14="http://schemas.microsoft.com/office/powerpoint/2010/main" val="1908247535"/>
              </p:ext>
            </p:extLst>
          </p:nvPr>
        </p:nvGraphicFramePr>
        <p:xfrm>
          <a:off x="457198" y="1846450"/>
          <a:ext cx="8321041" cy="4074712"/>
        </p:xfrm>
        <a:graphic>
          <a:graphicData uri="http://schemas.openxmlformats.org/drawingml/2006/table">
            <a:tbl>
              <a:tblPr firstRow="1" bandRow="1">
                <a:tableStyleId>{2D5ABB26-0587-4C30-8999-92F81FD0307C}</a:tableStyleId>
              </a:tblPr>
              <a:tblGrid>
                <a:gridCol w="2139027">
                  <a:extLst>
                    <a:ext uri="{9D8B030D-6E8A-4147-A177-3AD203B41FA5}">
                      <a16:colId xmlns:a16="http://schemas.microsoft.com/office/drawing/2014/main" val="1330404305"/>
                    </a:ext>
                  </a:extLst>
                </a:gridCol>
                <a:gridCol w="6182014">
                  <a:extLst>
                    <a:ext uri="{9D8B030D-6E8A-4147-A177-3AD203B41FA5}">
                      <a16:colId xmlns:a16="http://schemas.microsoft.com/office/drawing/2014/main" val="2864850159"/>
                    </a:ext>
                  </a:extLst>
                </a:gridCol>
              </a:tblGrid>
              <a:tr h="468903">
                <a:tc>
                  <a:txBody>
                    <a:bodyPr/>
                    <a:lstStyle/>
                    <a:p>
                      <a:r>
                        <a:rPr lang="en-US" sz="2000" b="1" dirty="0"/>
                        <a:t>Factor</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Unknowns That Must Be Dealt With</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2623487"/>
                  </a:ext>
                </a:extLst>
              </a:tr>
              <a:tr h="1136929">
                <a:tc>
                  <a:txBody>
                    <a:bodyPr/>
                    <a:lstStyle/>
                    <a:p>
                      <a:r>
                        <a:rPr lang="en-US" sz="2000" dirty="0"/>
                        <a:t>User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6032" indent="-256032">
                        <a:spcBef>
                          <a:spcPts val="600"/>
                        </a:spcBef>
                        <a:buClr>
                          <a:schemeClr val="tx2"/>
                        </a:buClr>
                        <a:buFont typeface="Arial" panose="020B0604020202020204" pitchFamily="34" charset="0"/>
                        <a:buChar char="•"/>
                      </a:pPr>
                      <a:r>
                        <a:rPr lang="en-US" sz="2000" dirty="0"/>
                        <a:t>Concern: Who is the user?</a:t>
                      </a:r>
                    </a:p>
                    <a:p>
                      <a:pPr marL="256032" indent="-256032">
                        <a:spcBef>
                          <a:spcPts val="600"/>
                        </a:spcBef>
                        <a:buClr>
                          <a:schemeClr val="tx2"/>
                        </a:buClr>
                        <a:buFont typeface="Arial" panose="020B0604020202020204" pitchFamily="34" charset="0"/>
                        <a:buChar char="•"/>
                      </a:pPr>
                      <a:r>
                        <a:rPr lang="en-US" sz="2000" dirty="0"/>
                        <a:t>Example: Where is the user located? What is the user’s expertise or education? What are the user’s expectations?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0242229"/>
                  </a:ext>
                </a:extLst>
              </a:tr>
              <a:tr h="1136929">
                <a:tc>
                  <a:txBody>
                    <a:bodyPr/>
                    <a:lstStyle/>
                    <a:p>
                      <a:r>
                        <a:rPr lang="en-US" sz="2000" dirty="0"/>
                        <a:t>Connection Speed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6032" indent="-256032">
                        <a:spcBef>
                          <a:spcPts val="600"/>
                        </a:spcBef>
                        <a:buClr>
                          <a:schemeClr val="tx2"/>
                        </a:buClr>
                        <a:buFont typeface="Arial" panose="020B0604020202020204" pitchFamily="34" charset="0"/>
                        <a:buChar char="•"/>
                      </a:pPr>
                      <a:r>
                        <a:rPr lang="en-US" sz="2000" dirty="0"/>
                        <a:t>Concern: What is the speed of the connection and what information can be effectively transported?</a:t>
                      </a:r>
                    </a:p>
                    <a:p>
                      <a:pPr marL="256032" indent="-256032">
                        <a:spcBef>
                          <a:spcPts val="600"/>
                        </a:spcBef>
                        <a:buClr>
                          <a:schemeClr val="tx2"/>
                        </a:buClr>
                        <a:buFont typeface="Arial" panose="020B0604020202020204" pitchFamily="34" charset="0"/>
                        <a:buChar char="•"/>
                      </a:pPr>
                      <a:r>
                        <a:rPr lang="en-US" sz="2000" dirty="0"/>
                        <a:t>Example: </a:t>
                      </a:r>
                      <a:r>
                        <a:rPr lang="en-US" sz="2000" dirty="0" err="1"/>
                        <a:t>WiFi</a:t>
                      </a:r>
                      <a:r>
                        <a:rPr lang="en-US" sz="2000" dirty="0"/>
                        <a:t>, cellular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5735633"/>
                  </a:ext>
                </a:extLst>
              </a:tr>
              <a:tr h="828609">
                <a:tc>
                  <a:txBody>
                    <a:bodyPr/>
                    <a:lstStyle/>
                    <a:p>
                      <a:r>
                        <a:rPr lang="en-US" sz="2000" dirty="0"/>
                        <a:t>Access 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6032" indent="-256032">
                        <a:spcBef>
                          <a:spcPts val="600"/>
                        </a:spcBef>
                        <a:buClr>
                          <a:schemeClr val="tx2"/>
                        </a:buClr>
                        <a:buFont typeface="Arial" panose="020B0604020202020204" pitchFamily="34" charset="0"/>
                        <a:buChar char="•"/>
                      </a:pPr>
                      <a:r>
                        <a:rPr lang="en-US" sz="2000" dirty="0"/>
                        <a:t>Concern: What is the connection device?</a:t>
                      </a:r>
                    </a:p>
                    <a:p>
                      <a:pPr marL="256032" indent="-256032">
                        <a:spcBef>
                          <a:spcPts val="600"/>
                        </a:spcBef>
                        <a:buClr>
                          <a:schemeClr val="tx2"/>
                        </a:buClr>
                        <a:buFont typeface="Arial" panose="020B0604020202020204" pitchFamily="34" charset="0"/>
                        <a:buChar char="•"/>
                      </a:pPr>
                      <a:r>
                        <a:rPr lang="en-US" sz="2000" dirty="0"/>
                        <a:t>Example: Web browser, tablet, smartphone, smart watch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7686717"/>
                  </a:ext>
                </a:extLst>
              </a:tr>
            </a:tbl>
          </a:graphicData>
        </a:graphic>
      </p:graphicFrame>
    </p:spTree>
    <p:extLst>
      <p:ext uri="{BB962C8B-B14F-4D97-AF65-F5344CB8AC3E}">
        <p14:creationId xmlns:p14="http://schemas.microsoft.com/office/powerpoint/2010/main" val="1738127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CCC3C6-DA1A-D261-5741-F95ED1FF2B2C}"/>
              </a:ext>
            </a:extLst>
          </p:cNvPr>
          <p:cNvPicPr>
            <a:picLocks noChangeAspect="1"/>
          </p:cNvPicPr>
          <p:nvPr/>
        </p:nvPicPr>
        <p:blipFill>
          <a:blip r:embed="rId2"/>
          <a:stretch>
            <a:fillRect/>
          </a:stretch>
        </p:blipFill>
        <p:spPr>
          <a:xfrm>
            <a:off x="1779485" y="643466"/>
            <a:ext cx="5585029" cy="5571067"/>
          </a:xfrm>
          <a:prstGeom prst="rect">
            <a:avLst/>
          </a:prstGeom>
        </p:spPr>
      </p:pic>
      <p:sp>
        <p:nvSpPr>
          <p:cNvPr id="4" name="AutoShape 4">
            <a:extLst>
              <a:ext uri="{FF2B5EF4-FFF2-40B4-BE49-F238E27FC236}">
                <a16:creationId xmlns:a16="http://schemas.microsoft.com/office/drawing/2014/main" id="{77342156-B9D7-CFBF-A278-A1F47830D3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Tree>
    <p:extLst>
      <p:ext uri="{BB962C8B-B14F-4D97-AF65-F5344CB8AC3E}">
        <p14:creationId xmlns:p14="http://schemas.microsoft.com/office/powerpoint/2010/main" val="2197660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D63AB4-EDFE-452D-AB06-16569CEB286B}"/>
              </a:ext>
            </a:extLst>
          </p:cNvPr>
          <p:cNvSpPr txBox="1">
            <a:spLocks/>
          </p:cNvSpPr>
          <p:nvPr/>
        </p:nvSpPr>
        <p:spPr>
          <a:xfrm>
            <a:off x="457200" y="2356011"/>
            <a:ext cx="8367486" cy="4434275"/>
          </a:xfrm>
          <a:prstGeom prst="rect">
            <a:avLst/>
          </a:prstGeom>
          <a:noFill/>
          <a:ln>
            <a:noFill/>
          </a:ln>
        </p:spPr>
        <p:txBody>
          <a:bodyPr lIns="0" tIns="0" rIns="0" bIns="0" anchor="t" anchorCtr="0"/>
          <a:lstStyle>
            <a:defPPr marR="0" lvl="0" algn="l" rtl="0">
              <a:lnSpc>
                <a:spcPct val="100000"/>
              </a:lnSpc>
              <a:spcBef>
                <a:spcPts val="0"/>
              </a:spcBef>
              <a:spcAft>
                <a:spcPts val="0"/>
              </a:spcAft>
            </a:defPPr>
            <a:lvl1pPr marL="256032" marR="0" lvl="0" indent="-255600" algn="l" rtl="0">
              <a:lnSpc>
                <a:spcPct val="100000"/>
              </a:lnSpc>
              <a:spcBef>
                <a:spcPts val="15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2950" marR="0" lvl="1" indent="-284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230400" algn="l" rtl="0">
              <a:lnSpc>
                <a:spcPct val="100000"/>
              </a:lnSpc>
              <a:spcBef>
                <a:spcPts val="600"/>
              </a:spcBef>
              <a:spcAft>
                <a:spcPts val="0"/>
              </a:spcAft>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230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4pPr>
            <a:lvl5pPr marL="2057400" marR="0" lvl="4" indent="-2304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256032" marR="0" lvl="0" indent="-255600"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In this chapter you learned to:</a:t>
            </a:r>
          </a:p>
          <a:p>
            <a:pPr>
              <a:buFont typeface="Wingdings" panose="05000000000000000000" pitchFamily="2" charset="2"/>
              <a:buChar char="ü"/>
            </a:pPr>
            <a:r>
              <a:rPr lang="en-US" sz="2400" dirty="0"/>
              <a:t>Describe the project identification and selection process</a:t>
            </a:r>
          </a:p>
          <a:p>
            <a:pPr>
              <a:buFont typeface="Wingdings" panose="05000000000000000000" pitchFamily="2" charset="2"/>
              <a:buChar char="ü"/>
            </a:pPr>
            <a:r>
              <a:rPr lang="en-US" sz="2400" dirty="0"/>
              <a:t>Describe the steps involved in the project initiation and planning process</a:t>
            </a:r>
          </a:p>
          <a:p>
            <a:pPr>
              <a:buFont typeface="Wingdings" panose="05000000000000000000" pitchFamily="2" charset="2"/>
              <a:buChar char="ü"/>
            </a:pPr>
            <a:r>
              <a:rPr lang="en-US" sz="2400" dirty="0">
                <a:solidFill>
                  <a:schemeClr val="tx1"/>
                </a:solidFill>
              </a:rPr>
              <a:t>List and describe various methods for assessing project feasibility</a:t>
            </a:r>
          </a:p>
          <a:p>
            <a:pPr>
              <a:buFont typeface="Wingdings" panose="05000000000000000000" pitchFamily="2" charset="2"/>
              <a:buChar char="ü"/>
            </a:pPr>
            <a:r>
              <a:rPr lang="en-US" sz="2400" dirty="0"/>
              <a:t>Describe </a:t>
            </a:r>
            <a:r>
              <a:rPr lang="en-US" sz="2400"/>
              <a:t>the classes </a:t>
            </a:r>
            <a:r>
              <a:rPr lang="en-US" sz="2400" dirty="0"/>
              <a:t>of Internet electronic commerce applications: business-to-consumer, business-to-employee, and business-to-business</a:t>
            </a:r>
          </a:p>
          <a:p>
            <a:pPr marL="432" marR="0" lvl="0" indent="0" algn="l" defTabSz="914400" rtl="0" eaLnBrk="1" fontAlgn="auto" latinLnBrk="0" hangingPunct="1">
              <a:lnSpc>
                <a:spcPct val="100000"/>
              </a:lnSpc>
              <a:spcBef>
                <a:spcPts val="1500"/>
              </a:spcBef>
              <a:spcAft>
                <a:spcPts val="0"/>
              </a:spcAft>
              <a:buClr>
                <a:srgbClr val="007FA3"/>
              </a:buClr>
              <a:buSzPct val="100000"/>
              <a:buNone/>
              <a:tabLst/>
              <a:defRPr/>
            </a:pPr>
            <a:endParaRPr kumimoji="0" lang="en-US" sz="2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2" name="Picture 1">
            <a:extLst>
              <a:ext uri="{FF2B5EF4-FFF2-40B4-BE49-F238E27FC236}">
                <a16:creationId xmlns:a16="http://schemas.microsoft.com/office/drawing/2014/main" id="{DABDA1BC-1D0C-4E5C-9ED6-B7CD84F241C6}"/>
              </a:ext>
            </a:extLst>
          </p:cNvPr>
          <p:cNvPicPr>
            <a:picLocks noChangeAspect="1"/>
          </p:cNvPicPr>
          <p:nvPr/>
        </p:nvPicPr>
        <p:blipFill>
          <a:blip r:embed="rId2"/>
          <a:stretch>
            <a:fillRect/>
          </a:stretch>
        </p:blipFill>
        <p:spPr>
          <a:xfrm>
            <a:off x="3492914" y="210033"/>
            <a:ext cx="2158171" cy="2145978"/>
          </a:xfrm>
          <a:prstGeom prst="rect">
            <a:avLst/>
          </a:prstGeom>
        </p:spPr>
      </p:pic>
    </p:spTree>
    <p:extLst>
      <p:ext uri="{BB962C8B-B14F-4D97-AF65-F5344CB8AC3E}">
        <p14:creationId xmlns:p14="http://schemas.microsoft.com/office/powerpoint/2010/main" val="1538995620"/>
      </p:ext>
    </p:extLst>
  </p:cSld>
  <p:clrMapOvr>
    <a:masterClrMapping/>
  </p:clrMapOvr>
</p:sld>
</file>

<file path=ppt/theme/theme1.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BA1030BB8DA842A1A6EF47C837AC3C" ma:contentTypeVersion="3" ma:contentTypeDescription="Create a new document." ma:contentTypeScope="" ma:versionID="79f43c9b2765b59ecbb9ea6e38107db2">
  <xsd:schema xmlns:xsd="http://www.w3.org/2001/XMLSchema" xmlns:xs="http://www.w3.org/2001/XMLSchema" xmlns:p="http://schemas.microsoft.com/office/2006/metadata/properties" xmlns:ns2="b7c65582-7211-4a32-bcd8-a5eda553f8d9" targetNamespace="http://schemas.microsoft.com/office/2006/metadata/properties" ma:root="true" ma:fieldsID="b0f4179d87694b6bf5c570e4a3686a38" ns2:_="">
    <xsd:import namespace="b7c65582-7211-4a32-bcd8-a5eda553f8d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c65582-7211-4a32-bcd8-a5eda553f8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B6EF78E-78C5-4E36-BA14-C0D1D59F4B17}"/>
</file>

<file path=customXml/itemProps2.xml><?xml version="1.0" encoding="utf-8"?>
<ds:datastoreItem xmlns:ds="http://schemas.openxmlformats.org/officeDocument/2006/customXml" ds:itemID="{98D4E715-B503-4342-9C85-44773FE3EF1F}"/>
</file>

<file path=customXml/itemProps3.xml><?xml version="1.0" encoding="utf-8"?>
<ds:datastoreItem xmlns:ds="http://schemas.openxmlformats.org/officeDocument/2006/customXml" ds:itemID="{00A6C13A-35FC-4AF4-9BAA-6F72CF03A84C}"/>
</file>

<file path=docProps/app.xml><?xml version="1.0" encoding="utf-8"?>
<Properties xmlns="http://schemas.openxmlformats.org/officeDocument/2006/extended-properties" xmlns:vt="http://schemas.openxmlformats.org/officeDocument/2006/docPropsVTypes">
  <TotalTime>11898</TotalTime>
  <Words>1704</Words>
  <Application>Microsoft Macintosh PowerPoint</Application>
  <PresentationFormat>On-screen Show (4:3)</PresentationFormat>
  <Paragraphs>197</Paragraphs>
  <Slides>28</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28</vt:i4>
      </vt:variant>
    </vt:vector>
  </HeadingPairs>
  <TitlesOfParts>
    <vt:vector size="39" baseType="lpstr">
      <vt:lpstr>Arial</vt:lpstr>
      <vt:lpstr>Arial Rounded MT Bold</vt:lpstr>
      <vt:lpstr>AvenirLTPro-Medium</vt:lpstr>
      <vt:lpstr>Calibri</vt:lpstr>
      <vt:lpstr>Calibri Light</vt:lpstr>
      <vt:lpstr>NewBaskervilleITCPro-Roman</vt:lpstr>
      <vt:lpstr>Noto Sans Symbols</vt:lpstr>
      <vt:lpstr>Times New Roman</vt:lpstr>
      <vt:lpstr>Wingdings</vt:lpstr>
      <vt:lpstr>1_508 Lecture</vt:lpstr>
      <vt:lpstr>Office Theme</vt:lpstr>
      <vt:lpstr>ISP550 INFORMATION SYSTEMS ENGINEERING</vt:lpstr>
      <vt:lpstr>PowerPoint Presentation</vt:lpstr>
      <vt:lpstr>Figure 3.6 – The Project Life Cycle (PLC) and the Systems Development Life Cycle (SDLC)</vt:lpstr>
      <vt:lpstr>PowerPoint Presentation</vt:lpstr>
      <vt:lpstr>Figure 4-1: Systems Development Life Cycle with Project Identification and Selection Highlighted</vt:lpstr>
      <vt:lpstr>PowerPoint Presentation</vt:lpstr>
      <vt:lpstr>PowerPoint Presentation</vt:lpstr>
      <vt:lpstr>Identifying and Selecting Projects (2 of 3)</vt:lpstr>
      <vt:lpstr>Identifying and Selecting Projects (3 of 3)</vt:lpstr>
      <vt:lpstr>Table 4-2: Possible Evaluation Criteria When Classifying and Ranking Projects</vt:lpstr>
      <vt:lpstr>Figure 4-1: Organizations Can Be Thought of as a Value Chain, Transforming Raw Materials into Products for Customers</vt:lpstr>
      <vt:lpstr>Figure 4-2: Project Selection Decisions Must Consider Numerous Factors and Can Have Numerous Outcomes</vt:lpstr>
      <vt:lpstr>Table 4-3: Elements of Project Initiation</vt:lpstr>
      <vt:lpstr>Table 4-4: Elements of Project Planning</vt:lpstr>
      <vt:lpstr>Deliverables and Outcomes (1 of 2)</vt:lpstr>
      <vt:lpstr>2. Initiation and Planning Projects</vt:lpstr>
      <vt:lpstr>Assessing Project Feasibility</vt:lpstr>
      <vt:lpstr>Assessing Economic Feasibility </vt:lpstr>
      <vt:lpstr>Table 4-5: Intangible Benefits from the Development of an Information System</vt:lpstr>
      <vt:lpstr>Assessing Technical Feasibility</vt:lpstr>
      <vt:lpstr>Assessing Other Feasibility Concerns</vt:lpstr>
      <vt:lpstr>ELECTRONIC COMMERCE APPLICATIONS:  IDENTIFYING AND SELECTING SYSTEMS DEVELOPMENT PROJECTS </vt:lpstr>
      <vt:lpstr>Internet Basics</vt:lpstr>
      <vt:lpstr>E C Business Models</vt:lpstr>
      <vt:lpstr>Figure 4-3: The Internet of Everything</vt:lpstr>
      <vt:lpstr>Table 4-6: Unknowns That Must Be Dealt with When Designing and Building Internet Applications</vt:lpstr>
      <vt:lpstr>PowerPoint Presentation</vt:lpstr>
      <vt:lpstr>PowerPoint Presentation</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Systems Analysis and Design, Ninth Edition, Chapter 3, Managing the Information Systems Project</dc:title>
  <dc:subject>MIS/IT</dc:subject>
  <dc:creator>Suriyati Razali</dc:creator>
  <cp:keywords>Modern Systems Analysis and Design</cp:keywords>
  <cp:lastModifiedBy>Nadhratunnaim Nasarudin</cp:lastModifiedBy>
  <cp:revision>1404</cp:revision>
  <dcterms:modified xsi:type="dcterms:W3CDTF">2025-10-27T01:37:38Z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0x01010020BA1030BB8DA842A1A6EF47C837AC3C</vt:lpwstr>
  </property>
</Properties>
</file>